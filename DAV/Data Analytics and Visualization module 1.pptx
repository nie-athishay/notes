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2" r:id="rId56"/>
    <p:sldId id="311"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BA6E37-3F0B-4B98-AE06-4BCBE2F09A27}" type="datetimeFigureOut">
              <a:rPr lang="en-IN" smtClean="0"/>
              <a:t>04-09-2026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733C1E-BD01-42D4-A6B9-E332AFF0EA01}" type="slidenum">
              <a:rPr lang="en-IN" smtClean="0"/>
              <a:t>‹#›</a:t>
            </a:fld>
            <a:endParaRPr lang="en-IN"/>
          </a:p>
        </p:txBody>
      </p:sp>
    </p:spTree>
    <p:extLst>
      <p:ext uri="{BB962C8B-B14F-4D97-AF65-F5344CB8AC3E}">
        <p14:creationId xmlns:p14="http://schemas.microsoft.com/office/powerpoint/2010/main" val="2752663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733C1E-BD01-42D4-A6B9-E332AFF0EA01}" type="slidenum">
              <a:rPr lang="en-IN" smtClean="0"/>
              <a:t>17</a:t>
            </a:fld>
            <a:endParaRPr lang="en-IN"/>
          </a:p>
        </p:txBody>
      </p:sp>
    </p:spTree>
    <p:extLst>
      <p:ext uri="{BB962C8B-B14F-4D97-AF65-F5344CB8AC3E}">
        <p14:creationId xmlns:p14="http://schemas.microsoft.com/office/powerpoint/2010/main" val="2034387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733C1E-BD01-42D4-A6B9-E332AFF0EA01}" type="slidenum">
              <a:rPr lang="en-IN" smtClean="0"/>
              <a:t>47</a:t>
            </a:fld>
            <a:endParaRPr lang="en-IN"/>
          </a:p>
        </p:txBody>
      </p:sp>
    </p:spTree>
    <p:extLst>
      <p:ext uri="{BB962C8B-B14F-4D97-AF65-F5344CB8AC3E}">
        <p14:creationId xmlns:p14="http://schemas.microsoft.com/office/powerpoint/2010/main" val="415307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74FB2-F024-344D-6F69-3FA9C88A4C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CF7FB8-972D-94E5-260D-BD14765ED6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526018-7292-AF3D-C469-E432C601321D}"/>
              </a:ext>
            </a:extLst>
          </p:cNvPr>
          <p:cNvSpPr>
            <a:spLocks noGrp="1"/>
          </p:cNvSpPr>
          <p:nvPr>
            <p:ph type="dt" sz="half" idx="10"/>
          </p:nvPr>
        </p:nvSpPr>
        <p:spPr/>
        <p:txBody>
          <a:bodyPr/>
          <a:lstStyle/>
          <a:p>
            <a:fld id="{42AC608F-FB64-4FDF-8FDC-0BA1C138527D}" type="datetimeFigureOut">
              <a:rPr lang="en-IN" smtClean="0"/>
              <a:t>04-09-2026</a:t>
            </a:fld>
            <a:endParaRPr lang="en-IN"/>
          </a:p>
        </p:txBody>
      </p:sp>
      <p:sp>
        <p:nvSpPr>
          <p:cNvPr id="5" name="Footer Placeholder 4">
            <a:extLst>
              <a:ext uri="{FF2B5EF4-FFF2-40B4-BE49-F238E27FC236}">
                <a16:creationId xmlns:a16="http://schemas.microsoft.com/office/drawing/2014/main" id="{B5EFADDB-644D-7235-BEC8-0DE98EA259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CF4DB4-B20F-468C-59FF-AD578B607595}"/>
              </a:ext>
            </a:extLst>
          </p:cNvPr>
          <p:cNvSpPr>
            <a:spLocks noGrp="1"/>
          </p:cNvSpPr>
          <p:nvPr>
            <p:ph type="sldNum" sz="quarter" idx="12"/>
          </p:nvPr>
        </p:nvSpPr>
        <p:spPr/>
        <p:txBody>
          <a:bodyPr/>
          <a:lstStyle/>
          <a:p>
            <a:fld id="{4A42E451-DAD8-49BB-AE02-BFE8E08E6B70}" type="slidenum">
              <a:rPr lang="en-IN" smtClean="0"/>
              <a:t>‹#›</a:t>
            </a:fld>
            <a:endParaRPr lang="en-IN"/>
          </a:p>
        </p:txBody>
      </p:sp>
    </p:spTree>
    <p:extLst>
      <p:ext uri="{BB962C8B-B14F-4D97-AF65-F5344CB8AC3E}">
        <p14:creationId xmlns:p14="http://schemas.microsoft.com/office/powerpoint/2010/main" val="4033282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08FBC-B95D-0633-A4E7-AFE7825E25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BD0E73-03D1-8645-651D-6FDC13E31E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263D8D-9337-3D74-0D89-35A4DE5DB4C3}"/>
              </a:ext>
            </a:extLst>
          </p:cNvPr>
          <p:cNvSpPr>
            <a:spLocks noGrp="1"/>
          </p:cNvSpPr>
          <p:nvPr>
            <p:ph type="dt" sz="half" idx="10"/>
          </p:nvPr>
        </p:nvSpPr>
        <p:spPr/>
        <p:txBody>
          <a:bodyPr/>
          <a:lstStyle/>
          <a:p>
            <a:fld id="{42AC608F-FB64-4FDF-8FDC-0BA1C138527D}" type="datetimeFigureOut">
              <a:rPr lang="en-IN" smtClean="0"/>
              <a:t>04-09-2026</a:t>
            </a:fld>
            <a:endParaRPr lang="en-IN"/>
          </a:p>
        </p:txBody>
      </p:sp>
      <p:sp>
        <p:nvSpPr>
          <p:cNvPr id="5" name="Footer Placeholder 4">
            <a:extLst>
              <a:ext uri="{FF2B5EF4-FFF2-40B4-BE49-F238E27FC236}">
                <a16:creationId xmlns:a16="http://schemas.microsoft.com/office/drawing/2014/main" id="{A3E7F365-1284-A763-3F18-96085F0B69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1D13C4-5962-A518-7638-AE828438DB6C}"/>
              </a:ext>
            </a:extLst>
          </p:cNvPr>
          <p:cNvSpPr>
            <a:spLocks noGrp="1"/>
          </p:cNvSpPr>
          <p:nvPr>
            <p:ph type="sldNum" sz="quarter" idx="12"/>
          </p:nvPr>
        </p:nvSpPr>
        <p:spPr/>
        <p:txBody>
          <a:bodyPr/>
          <a:lstStyle/>
          <a:p>
            <a:fld id="{4A42E451-DAD8-49BB-AE02-BFE8E08E6B70}" type="slidenum">
              <a:rPr lang="en-IN" smtClean="0"/>
              <a:t>‹#›</a:t>
            </a:fld>
            <a:endParaRPr lang="en-IN"/>
          </a:p>
        </p:txBody>
      </p:sp>
    </p:spTree>
    <p:extLst>
      <p:ext uri="{BB962C8B-B14F-4D97-AF65-F5344CB8AC3E}">
        <p14:creationId xmlns:p14="http://schemas.microsoft.com/office/powerpoint/2010/main" val="731871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C9017-428D-0621-DAFC-1447402104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DC960C-A18C-5942-A436-E29042D9CF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0788C0-1FE1-1B6D-E6AE-7680D3188F4D}"/>
              </a:ext>
            </a:extLst>
          </p:cNvPr>
          <p:cNvSpPr>
            <a:spLocks noGrp="1"/>
          </p:cNvSpPr>
          <p:nvPr>
            <p:ph type="dt" sz="half" idx="10"/>
          </p:nvPr>
        </p:nvSpPr>
        <p:spPr/>
        <p:txBody>
          <a:bodyPr/>
          <a:lstStyle/>
          <a:p>
            <a:fld id="{42AC608F-FB64-4FDF-8FDC-0BA1C138527D}" type="datetimeFigureOut">
              <a:rPr lang="en-IN" smtClean="0"/>
              <a:t>04-09-2026</a:t>
            </a:fld>
            <a:endParaRPr lang="en-IN"/>
          </a:p>
        </p:txBody>
      </p:sp>
      <p:sp>
        <p:nvSpPr>
          <p:cNvPr id="5" name="Footer Placeholder 4">
            <a:extLst>
              <a:ext uri="{FF2B5EF4-FFF2-40B4-BE49-F238E27FC236}">
                <a16:creationId xmlns:a16="http://schemas.microsoft.com/office/drawing/2014/main" id="{B435B120-E8A0-2890-C905-268B62B1BA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325A35-D1D9-351B-9C83-3C371A023F1C}"/>
              </a:ext>
            </a:extLst>
          </p:cNvPr>
          <p:cNvSpPr>
            <a:spLocks noGrp="1"/>
          </p:cNvSpPr>
          <p:nvPr>
            <p:ph type="sldNum" sz="quarter" idx="12"/>
          </p:nvPr>
        </p:nvSpPr>
        <p:spPr/>
        <p:txBody>
          <a:bodyPr/>
          <a:lstStyle/>
          <a:p>
            <a:fld id="{4A42E451-DAD8-49BB-AE02-BFE8E08E6B70}" type="slidenum">
              <a:rPr lang="en-IN" smtClean="0"/>
              <a:t>‹#›</a:t>
            </a:fld>
            <a:endParaRPr lang="en-IN"/>
          </a:p>
        </p:txBody>
      </p:sp>
    </p:spTree>
    <p:extLst>
      <p:ext uri="{BB962C8B-B14F-4D97-AF65-F5344CB8AC3E}">
        <p14:creationId xmlns:p14="http://schemas.microsoft.com/office/powerpoint/2010/main" val="3591516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6097F-457D-2856-7FB9-E65075F858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9A797E-D912-898B-7F51-0F5BBD6FAC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E2D5D7D-5927-ACF1-764C-478B69059D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AA5E6B-B9CE-0465-41AA-55099BBAD864}"/>
              </a:ext>
            </a:extLst>
          </p:cNvPr>
          <p:cNvSpPr>
            <a:spLocks noGrp="1"/>
          </p:cNvSpPr>
          <p:nvPr>
            <p:ph type="dt" sz="half" idx="10"/>
          </p:nvPr>
        </p:nvSpPr>
        <p:spPr/>
        <p:txBody>
          <a:bodyPr/>
          <a:lstStyle/>
          <a:p>
            <a:fld id="{42AC608F-FB64-4FDF-8FDC-0BA1C138527D}" type="datetimeFigureOut">
              <a:rPr lang="en-IN" smtClean="0"/>
              <a:t>04-09-2026</a:t>
            </a:fld>
            <a:endParaRPr lang="en-IN"/>
          </a:p>
        </p:txBody>
      </p:sp>
      <p:sp>
        <p:nvSpPr>
          <p:cNvPr id="6" name="Footer Placeholder 5">
            <a:extLst>
              <a:ext uri="{FF2B5EF4-FFF2-40B4-BE49-F238E27FC236}">
                <a16:creationId xmlns:a16="http://schemas.microsoft.com/office/drawing/2014/main" id="{30289496-E3F9-F3A5-10E2-6C22125FE1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151BF2-296B-025F-D225-AB9505B5549D}"/>
              </a:ext>
            </a:extLst>
          </p:cNvPr>
          <p:cNvSpPr>
            <a:spLocks noGrp="1"/>
          </p:cNvSpPr>
          <p:nvPr>
            <p:ph type="sldNum" sz="quarter" idx="12"/>
          </p:nvPr>
        </p:nvSpPr>
        <p:spPr/>
        <p:txBody>
          <a:bodyPr/>
          <a:lstStyle/>
          <a:p>
            <a:fld id="{4A42E451-DAD8-49BB-AE02-BFE8E08E6B70}" type="slidenum">
              <a:rPr lang="en-IN" smtClean="0"/>
              <a:t>‹#›</a:t>
            </a:fld>
            <a:endParaRPr lang="en-IN"/>
          </a:p>
        </p:txBody>
      </p:sp>
    </p:spTree>
    <p:extLst>
      <p:ext uri="{BB962C8B-B14F-4D97-AF65-F5344CB8AC3E}">
        <p14:creationId xmlns:p14="http://schemas.microsoft.com/office/powerpoint/2010/main" val="2264308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5939B-0B54-E7C5-BAD2-548CD41B3B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A161EA-737B-D47F-B9D4-773BD89F9F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192CCC-058E-4136-096B-972CE3008A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38D577-A3D1-5F40-BAD1-BF0EFC7750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705E50-EB47-7FFD-36D0-65F9012E59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4C42CBF-1CAE-068E-C186-7F627992A8E7}"/>
              </a:ext>
            </a:extLst>
          </p:cNvPr>
          <p:cNvSpPr>
            <a:spLocks noGrp="1"/>
          </p:cNvSpPr>
          <p:nvPr>
            <p:ph type="dt" sz="half" idx="10"/>
          </p:nvPr>
        </p:nvSpPr>
        <p:spPr/>
        <p:txBody>
          <a:bodyPr/>
          <a:lstStyle/>
          <a:p>
            <a:fld id="{42AC608F-FB64-4FDF-8FDC-0BA1C138527D}" type="datetimeFigureOut">
              <a:rPr lang="en-IN" smtClean="0"/>
              <a:t>04-09-2026</a:t>
            </a:fld>
            <a:endParaRPr lang="en-IN"/>
          </a:p>
        </p:txBody>
      </p:sp>
      <p:sp>
        <p:nvSpPr>
          <p:cNvPr id="8" name="Footer Placeholder 7">
            <a:extLst>
              <a:ext uri="{FF2B5EF4-FFF2-40B4-BE49-F238E27FC236}">
                <a16:creationId xmlns:a16="http://schemas.microsoft.com/office/drawing/2014/main" id="{82E4EEED-F3DD-61F2-51D1-57A24D7F4E3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A58F88D-579B-2295-D539-98FDE88D3B12}"/>
              </a:ext>
            </a:extLst>
          </p:cNvPr>
          <p:cNvSpPr>
            <a:spLocks noGrp="1"/>
          </p:cNvSpPr>
          <p:nvPr>
            <p:ph type="sldNum" sz="quarter" idx="12"/>
          </p:nvPr>
        </p:nvSpPr>
        <p:spPr/>
        <p:txBody>
          <a:bodyPr/>
          <a:lstStyle/>
          <a:p>
            <a:fld id="{4A42E451-DAD8-49BB-AE02-BFE8E08E6B70}" type="slidenum">
              <a:rPr lang="en-IN" smtClean="0"/>
              <a:t>‹#›</a:t>
            </a:fld>
            <a:endParaRPr lang="en-IN"/>
          </a:p>
        </p:txBody>
      </p:sp>
    </p:spTree>
    <p:extLst>
      <p:ext uri="{BB962C8B-B14F-4D97-AF65-F5344CB8AC3E}">
        <p14:creationId xmlns:p14="http://schemas.microsoft.com/office/powerpoint/2010/main" val="2276742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5559A-4C08-E55F-542C-5C32A743BA1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2240B45-AA22-9981-E321-71764455EB35}"/>
              </a:ext>
            </a:extLst>
          </p:cNvPr>
          <p:cNvSpPr>
            <a:spLocks noGrp="1"/>
          </p:cNvSpPr>
          <p:nvPr>
            <p:ph type="dt" sz="half" idx="10"/>
          </p:nvPr>
        </p:nvSpPr>
        <p:spPr/>
        <p:txBody>
          <a:bodyPr/>
          <a:lstStyle/>
          <a:p>
            <a:fld id="{42AC608F-FB64-4FDF-8FDC-0BA1C138527D}" type="datetimeFigureOut">
              <a:rPr lang="en-IN" smtClean="0"/>
              <a:t>04-09-2026</a:t>
            </a:fld>
            <a:endParaRPr lang="en-IN"/>
          </a:p>
        </p:txBody>
      </p:sp>
      <p:sp>
        <p:nvSpPr>
          <p:cNvPr id="4" name="Footer Placeholder 3">
            <a:extLst>
              <a:ext uri="{FF2B5EF4-FFF2-40B4-BE49-F238E27FC236}">
                <a16:creationId xmlns:a16="http://schemas.microsoft.com/office/drawing/2014/main" id="{226B7D89-37F9-D844-EC2E-3FAC46C9BC9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759A4F-829C-B5BF-09C6-87FA89D20810}"/>
              </a:ext>
            </a:extLst>
          </p:cNvPr>
          <p:cNvSpPr>
            <a:spLocks noGrp="1"/>
          </p:cNvSpPr>
          <p:nvPr>
            <p:ph type="sldNum" sz="quarter" idx="12"/>
          </p:nvPr>
        </p:nvSpPr>
        <p:spPr/>
        <p:txBody>
          <a:bodyPr/>
          <a:lstStyle/>
          <a:p>
            <a:fld id="{4A42E451-DAD8-49BB-AE02-BFE8E08E6B70}" type="slidenum">
              <a:rPr lang="en-IN" smtClean="0"/>
              <a:t>‹#›</a:t>
            </a:fld>
            <a:endParaRPr lang="en-IN"/>
          </a:p>
        </p:txBody>
      </p:sp>
    </p:spTree>
    <p:extLst>
      <p:ext uri="{BB962C8B-B14F-4D97-AF65-F5344CB8AC3E}">
        <p14:creationId xmlns:p14="http://schemas.microsoft.com/office/powerpoint/2010/main" val="4094262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44CE37-1333-9B48-81EB-9FCF30E73D62}"/>
              </a:ext>
            </a:extLst>
          </p:cNvPr>
          <p:cNvSpPr>
            <a:spLocks noGrp="1"/>
          </p:cNvSpPr>
          <p:nvPr>
            <p:ph type="dt" sz="half" idx="10"/>
          </p:nvPr>
        </p:nvSpPr>
        <p:spPr/>
        <p:txBody>
          <a:bodyPr/>
          <a:lstStyle/>
          <a:p>
            <a:fld id="{42AC608F-FB64-4FDF-8FDC-0BA1C138527D}" type="datetimeFigureOut">
              <a:rPr lang="en-IN" smtClean="0"/>
              <a:t>04-09-2026</a:t>
            </a:fld>
            <a:endParaRPr lang="en-IN"/>
          </a:p>
        </p:txBody>
      </p:sp>
      <p:sp>
        <p:nvSpPr>
          <p:cNvPr id="3" name="Footer Placeholder 2">
            <a:extLst>
              <a:ext uri="{FF2B5EF4-FFF2-40B4-BE49-F238E27FC236}">
                <a16:creationId xmlns:a16="http://schemas.microsoft.com/office/drawing/2014/main" id="{D8DB51FD-4403-F916-2B90-745CD8DAF8A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170C204-64D8-4AF7-BF70-0E124CC691F2}"/>
              </a:ext>
            </a:extLst>
          </p:cNvPr>
          <p:cNvSpPr>
            <a:spLocks noGrp="1"/>
          </p:cNvSpPr>
          <p:nvPr>
            <p:ph type="sldNum" sz="quarter" idx="12"/>
          </p:nvPr>
        </p:nvSpPr>
        <p:spPr/>
        <p:txBody>
          <a:bodyPr/>
          <a:lstStyle/>
          <a:p>
            <a:fld id="{4A42E451-DAD8-49BB-AE02-BFE8E08E6B70}" type="slidenum">
              <a:rPr lang="en-IN" smtClean="0"/>
              <a:t>‹#›</a:t>
            </a:fld>
            <a:endParaRPr lang="en-IN"/>
          </a:p>
        </p:txBody>
      </p:sp>
    </p:spTree>
    <p:extLst>
      <p:ext uri="{BB962C8B-B14F-4D97-AF65-F5344CB8AC3E}">
        <p14:creationId xmlns:p14="http://schemas.microsoft.com/office/powerpoint/2010/main" val="391912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ECE70-302E-01D1-0B2B-B7127F2F44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89C13F-8D79-EDCB-7290-9DA16ACD7A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87AB399-7090-E07F-CA91-09F85E4B24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C8C1CB-B87C-C312-F4AE-F714A6FFF30B}"/>
              </a:ext>
            </a:extLst>
          </p:cNvPr>
          <p:cNvSpPr>
            <a:spLocks noGrp="1"/>
          </p:cNvSpPr>
          <p:nvPr>
            <p:ph type="dt" sz="half" idx="10"/>
          </p:nvPr>
        </p:nvSpPr>
        <p:spPr/>
        <p:txBody>
          <a:bodyPr/>
          <a:lstStyle/>
          <a:p>
            <a:fld id="{42AC608F-FB64-4FDF-8FDC-0BA1C138527D}" type="datetimeFigureOut">
              <a:rPr lang="en-IN" smtClean="0"/>
              <a:t>04-09-2026</a:t>
            </a:fld>
            <a:endParaRPr lang="en-IN"/>
          </a:p>
        </p:txBody>
      </p:sp>
      <p:sp>
        <p:nvSpPr>
          <p:cNvPr id="6" name="Footer Placeholder 5">
            <a:extLst>
              <a:ext uri="{FF2B5EF4-FFF2-40B4-BE49-F238E27FC236}">
                <a16:creationId xmlns:a16="http://schemas.microsoft.com/office/drawing/2014/main" id="{4142890C-FD2B-0772-F5A8-C70791ECF0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20F423-FC3E-600A-01D2-F2891579A2E7}"/>
              </a:ext>
            </a:extLst>
          </p:cNvPr>
          <p:cNvSpPr>
            <a:spLocks noGrp="1"/>
          </p:cNvSpPr>
          <p:nvPr>
            <p:ph type="sldNum" sz="quarter" idx="12"/>
          </p:nvPr>
        </p:nvSpPr>
        <p:spPr/>
        <p:txBody>
          <a:bodyPr/>
          <a:lstStyle/>
          <a:p>
            <a:fld id="{4A42E451-DAD8-49BB-AE02-BFE8E08E6B70}" type="slidenum">
              <a:rPr lang="en-IN" smtClean="0"/>
              <a:t>‹#›</a:t>
            </a:fld>
            <a:endParaRPr lang="en-IN"/>
          </a:p>
        </p:txBody>
      </p:sp>
    </p:spTree>
    <p:extLst>
      <p:ext uri="{BB962C8B-B14F-4D97-AF65-F5344CB8AC3E}">
        <p14:creationId xmlns:p14="http://schemas.microsoft.com/office/powerpoint/2010/main" val="2388433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42B22-567D-755E-1F1A-04EBB46EA0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5EBB74C-CD55-7B8F-F76F-2C68DD7290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62AF369-E10F-6F63-4FA5-2E4ABBD2F2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440B64-892B-8ABA-DA30-BD18204E3E93}"/>
              </a:ext>
            </a:extLst>
          </p:cNvPr>
          <p:cNvSpPr>
            <a:spLocks noGrp="1"/>
          </p:cNvSpPr>
          <p:nvPr>
            <p:ph type="dt" sz="half" idx="10"/>
          </p:nvPr>
        </p:nvSpPr>
        <p:spPr/>
        <p:txBody>
          <a:bodyPr/>
          <a:lstStyle/>
          <a:p>
            <a:fld id="{42AC608F-FB64-4FDF-8FDC-0BA1C138527D}" type="datetimeFigureOut">
              <a:rPr lang="en-IN" smtClean="0"/>
              <a:t>04-09-2026</a:t>
            </a:fld>
            <a:endParaRPr lang="en-IN"/>
          </a:p>
        </p:txBody>
      </p:sp>
      <p:sp>
        <p:nvSpPr>
          <p:cNvPr id="6" name="Footer Placeholder 5">
            <a:extLst>
              <a:ext uri="{FF2B5EF4-FFF2-40B4-BE49-F238E27FC236}">
                <a16:creationId xmlns:a16="http://schemas.microsoft.com/office/drawing/2014/main" id="{20804257-143D-E541-3F2B-B7A717D676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1E985E-4BBA-8723-1E50-DE21720621CE}"/>
              </a:ext>
            </a:extLst>
          </p:cNvPr>
          <p:cNvSpPr>
            <a:spLocks noGrp="1"/>
          </p:cNvSpPr>
          <p:nvPr>
            <p:ph type="sldNum" sz="quarter" idx="12"/>
          </p:nvPr>
        </p:nvSpPr>
        <p:spPr/>
        <p:txBody>
          <a:bodyPr/>
          <a:lstStyle/>
          <a:p>
            <a:fld id="{4A42E451-DAD8-49BB-AE02-BFE8E08E6B70}" type="slidenum">
              <a:rPr lang="en-IN" smtClean="0"/>
              <a:t>‹#›</a:t>
            </a:fld>
            <a:endParaRPr lang="en-IN"/>
          </a:p>
        </p:txBody>
      </p:sp>
    </p:spTree>
    <p:extLst>
      <p:ext uri="{BB962C8B-B14F-4D97-AF65-F5344CB8AC3E}">
        <p14:creationId xmlns:p14="http://schemas.microsoft.com/office/powerpoint/2010/main" val="2816467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0562-B55C-DE89-B736-BB215BBACEA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67D79F-EA41-0E8F-E69D-1A6735E792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ACFCB6-5C80-D4D3-BC97-37962AE8508D}"/>
              </a:ext>
            </a:extLst>
          </p:cNvPr>
          <p:cNvSpPr>
            <a:spLocks noGrp="1"/>
          </p:cNvSpPr>
          <p:nvPr>
            <p:ph type="dt" sz="half" idx="10"/>
          </p:nvPr>
        </p:nvSpPr>
        <p:spPr/>
        <p:txBody>
          <a:bodyPr/>
          <a:lstStyle/>
          <a:p>
            <a:fld id="{42AC608F-FB64-4FDF-8FDC-0BA1C138527D}" type="datetimeFigureOut">
              <a:rPr lang="en-IN" smtClean="0"/>
              <a:t>04-09-2026</a:t>
            </a:fld>
            <a:endParaRPr lang="en-IN"/>
          </a:p>
        </p:txBody>
      </p:sp>
      <p:sp>
        <p:nvSpPr>
          <p:cNvPr id="5" name="Footer Placeholder 4">
            <a:extLst>
              <a:ext uri="{FF2B5EF4-FFF2-40B4-BE49-F238E27FC236}">
                <a16:creationId xmlns:a16="http://schemas.microsoft.com/office/drawing/2014/main" id="{1FBF95A9-7FF7-8435-A4E6-0A11D2006D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427A21-D60E-4F9F-E6C5-039DAF0F3484}"/>
              </a:ext>
            </a:extLst>
          </p:cNvPr>
          <p:cNvSpPr>
            <a:spLocks noGrp="1"/>
          </p:cNvSpPr>
          <p:nvPr>
            <p:ph type="sldNum" sz="quarter" idx="12"/>
          </p:nvPr>
        </p:nvSpPr>
        <p:spPr/>
        <p:txBody>
          <a:bodyPr/>
          <a:lstStyle/>
          <a:p>
            <a:fld id="{4A42E451-DAD8-49BB-AE02-BFE8E08E6B70}" type="slidenum">
              <a:rPr lang="en-IN" smtClean="0"/>
              <a:t>‹#›</a:t>
            </a:fld>
            <a:endParaRPr lang="en-IN"/>
          </a:p>
        </p:txBody>
      </p:sp>
    </p:spTree>
    <p:extLst>
      <p:ext uri="{BB962C8B-B14F-4D97-AF65-F5344CB8AC3E}">
        <p14:creationId xmlns:p14="http://schemas.microsoft.com/office/powerpoint/2010/main" val="2069322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E2AE79-91C0-DC4A-3FD9-BE69BFDAD7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4F50AB-D519-D404-657A-547A3931FB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84EDF6-A50C-0405-4404-8902A1D0D930}"/>
              </a:ext>
            </a:extLst>
          </p:cNvPr>
          <p:cNvSpPr>
            <a:spLocks noGrp="1"/>
          </p:cNvSpPr>
          <p:nvPr>
            <p:ph type="dt" sz="half" idx="10"/>
          </p:nvPr>
        </p:nvSpPr>
        <p:spPr/>
        <p:txBody>
          <a:bodyPr/>
          <a:lstStyle/>
          <a:p>
            <a:fld id="{42AC608F-FB64-4FDF-8FDC-0BA1C138527D}" type="datetimeFigureOut">
              <a:rPr lang="en-IN" smtClean="0"/>
              <a:t>04-09-2026</a:t>
            </a:fld>
            <a:endParaRPr lang="en-IN"/>
          </a:p>
        </p:txBody>
      </p:sp>
      <p:sp>
        <p:nvSpPr>
          <p:cNvPr id="5" name="Footer Placeholder 4">
            <a:extLst>
              <a:ext uri="{FF2B5EF4-FFF2-40B4-BE49-F238E27FC236}">
                <a16:creationId xmlns:a16="http://schemas.microsoft.com/office/drawing/2014/main" id="{925DF0BD-AD94-0460-3824-03739CA105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9BA456-99F5-4794-A196-CC563360C128}"/>
              </a:ext>
            </a:extLst>
          </p:cNvPr>
          <p:cNvSpPr>
            <a:spLocks noGrp="1"/>
          </p:cNvSpPr>
          <p:nvPr>
            <p:ph type="sldNum" sz="quarter" idx="12"/>
          </p:nvPr>
        </p:nvSpPr>
        <p:spPr/>
        <p:txBody>
          <a:bodyPr/>
          <a:lstStyle/>
          <a:p>
            <a:fld id="{4A42E451-DAD8-49BB-AE02-BFE8E08E6B70}" type="slidenum">
              <a:rPr lang="en-IN" smtClean="0"/>
              <a:t>‹#›</a:t>
            </a:fld>
            <a:endParaRPr lang="en-IN"/>
          </a:p>
        </p:txBody>
      </p:sp>
    </p:spTree>
    <p:extLst>
      <p:ext uri="{BB962C8B-B14F-4D97-AF65-F5344CB8AC3E}">
        <p14:creationId xmlns:p14="http://schemas.microsoft.com/office/powerpoint/2010/main" val="2886619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72EEE4-A5AC-3E9A-8B38-7B2F833F02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168AB3-9528-4292-E62D-FD97A34B75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CBB187-DD5B-7997-92FA-8BB5E66E56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AC608F-FB64-4FDF-8FDC-0BA1C138527D}" type="datetimeFigureOut">
              <a:rPr lang="en-IN" smtClean="0"/>
              <a:t>04-09-2026</a:t>
            </a:fld>
            <a:endParaRPr lang="en-IN"/>
          </a:p>
        </p:txBody>
      </p:sp>
      <p:sp>
        <p:nvSpPr>
          <p:cNvPr id="5" name="Footer Placeholder 4">
            <a:extLst>
              <a:ext uri="{FF2B5EF4-FFF2-40B4-BE49-F238E27FC236}">
                <a16:creationId xmlns:a16="http://schemas.microsoft.com/office/drawing/2014/main" id="{EF6723F1-82C4-7B10-4930-CC38D6BB13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AAE5C6C-DB30-020A-1E66-287468AAB5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42E451-DAD8-49BB-AE02-BFE8E08E6B70}" type="slidenum">
              <a:rPr lang="en-IN" smtClean="0"/>
              <a:t>‹#›</a:t>
            </a:fld>
            <a:endParaRPr lang="en-IN"/>
          </a:p>
        </p:txBody>
      </p:sp>
    </p:spTree>
    <p:extLst>
      <p:ext uri="{BB962C8B-B14F-4D97-AF65-F5344CB8AC3E}">
        <p14:creationId xmlns:p14="http://schemas.microsoft.com/office/powerpoint/2010/main" val="38523244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92EE2-8269-D9BC-B112-A7E04F4B1568}"/>
              </a:ext>
            </a:extLst>
          </p:cNvPr>
          <p:cNvSpPr>
            <a:spLocks noGrp="1"/>
          </p:cNvSpPr>
          <p:nvPr>
            <p:ph type="ctrTitle"/>
          </p:nvPr>
        </p:nvSpPr>
        <p:spPr>
          <a:xfrm>
            <a:off x="1248696" y="227628"/>
            <a:ext cx="9144000" cy="2387600"/>
          </a:xfrm>
        </p:spPr>
        <p:txBody>
          <a:bodyPr>
            <a:normAutofit/>
          </a:bodyPr>
          <a:lstStyle/>
          <a:p>
            <a:r>
              <a:rPr lang="en-US" sz="4200" b="1" dirty="0">
                <a:solidFill>
                  <a:schemeClr val="accent5"/>
                </a:solidFill>
                <a:latin typeface="Times New Roman" panose="02020603050405020304" pitchFamily="18" charset="0"/>
                <a:cs typeface="Times New Roman" panose="02020603050405020304" pitchFamily="18" charset="0"/>
              </a:rPr>
              <a:t>Data Analytics and Visualization</a:t>
            </a:r>
            <a:br>
              <a:rPr lang="en-US" sz="4200" b="1" dirty="0">
                <a:latin typeface="Times New Roman" panose="02020603050405020304" pitchFamily="18" charset="0"/>
                <a:cs typeface="Times New Roman" panose="02020603050405020304" pitchFamily="18" charset="0"/>
              </a:rPr>
            </a:br>
            <a:r>
              <a:rPr lang="en-US" sz="3300" b="1" dirty="0">
                <a:solidFill>
                  <a:srgbClr val="FF0000"/>
                </a:solidFill>
                <a:latin typeface="Times New Roman" panose="02020603050405020304" pitchFamily="18" charset="0"/>
                <a:cs typeface="Times New Roman" panose="02020603050405020304" pitchFamily="18" charset="0"/>
              </a:rPr>
              <a:t>Module - 01</a:t>
            </a:r>
            <a:br>
              <a:rPr lang="en-US" sz="4200" b="1" dirty="0">
                <a:latin typeface="Times New Roman" panose="02020603050405020304" pitchFamily="18" charset="0"/>
                <a:cs typeface="Times New Roman" panose="02020603050405020304" pitchFamily="18" charset="0"/>
              </a:rPr>
            </a:br>
            <a:br>
              <a:rPr lang="en-US" sz="4200" dirty="0">
                <a:latin typeface="Times New Roman" panose="02020603050405020304" pitchFamily="18" charset="0"/>
                <a:cs typeface="Times New Roman" panose="02020603050405020304" pitchFamily="18" charset="0"/>
              </a:rPr>
            </a:br>
            <a:endParaRPr lang="en-IN" sz="4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6BA1ACA-E370-F5AC-36F6-488E46C57934}"/>
              </a:ext>
            </a:extLst>
          </p:cNvPr>
          <p:cNvSpPr txBox="1"/>
          <p:nvPr/>
        </p:nvSpPr>
        <p:spPr>
          <a:xfrm>
            <a:off x="776749" y="1600200"/>
            <a:ext cx="10982632" cy="3586366"/>
          </a:xfrm>
          <a:prstGeom prst="rect">
            <a:avLst/>
          </a:prstGeom>
          <a:noFill/>
        </p:spPr>
        <p:txBody>
          <a:bodyPr wrap="square">
            <a:spAutoFit/>
          </a:bodyPr>
          <a:lstStyle/>
          <a:p>
            <a:pPr algn="just">
              <a:lnSpc>
                <a:spcPct val="150000"/>
              </a:lnSpc>
            </a:pPr>
            <a:r>
              <a:rPr lang="en-US" sz="2200" b="1" dirty="0">
                <a:latin typeface="Times New Roman" panose="02020603050405020304" pitchFamily="18" charset="0"/>
                <a:cs typeface="Times New Roman" panose="02020603050405020304" pitchFamily="18" charset="0"/>
              </a:rPr>
              <a:t>Introduction to Data Analytics: Data Analytics: Definition, importance, and applications in industry; </a:t>
            </a:r>
            <a:r>
              <a:rPr lang="en-IN" sz="2200" b="1" dirty="0">
                <a:latin typeface="Times New Roman" panose="02020603050405020304" pitchFamily="18" charset="0"/>
                <a:cs typeface="Times New Roman" panose="02020603050405020304" pitchFamily="18" charset="0"/>
              </a:rPr>
              <a:t>Types of analytics: descriptive, diagnostic, predictive, prescriptive; Data analytics lifecycle: problem definition, data collection, analysis, deployment; Types of data: structured, semi-structured, unstructured; Time Series Data; Data sources and formats; Python for data analytics: NumPy, Pandas, reading CSV/JSON files, indexing, filtering, grouping and aggregation; Overview of Big Data: characteristics (5Vs), ecosystem and tools.</a:t>
            </a:r>
          </a:p>
        </p:txBody>
      </p:sp>
    </p:spTree>
    <p:extLst>
      <p:ext uri="{BB962C8B-B14F-4D97-AF65-F5344CB8AC3E}">
        <p14:creationId xmlns:p14="http://schemas.microsoft.com/office/powerpoint/2010/main" val="2416340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A244D-4CD8-75D9-0EC4-072AAB065EAA}"/>
              </a:ext>
            </a:extLst>
          </p:cNvPr>
          <p:cNvSpPr>
            <a:spLocks noGrp="1"/>
          </p:cNvSpPr>
          <p:nvPr>
            <p:ph type="title"/>
          </p:nvPr>
        </p:nvSpPr>
        <p:spPr/>
        <p:txBody>
          <a:bodyPr>
            <a:noAutofit/>
          </a:bodyPr>
          <a:lstStyle/>
          <a:p>
            <a:r>
              <a:rPr lang="en-US" sz="2400" b="1" dirty="0">
                <a:solidFill>
                  <a:srgbClr val="FF0000"/>
                </a:solidFill>
                <a:latin typeface="Times New Roman" panose="02020603050405020304" pitchFamily="18" charset="0"/>
                <a:cs typeface="Times New Roman" panose="02020603050405020304" pitchFamily="18" charset="0"/>
              </a:rPr>
              <a:t>Introduction to Data Analytics:</a:t>
            </a:r>
            <a:br>
              <a:rPr lang="en-US" sz="2400" b="1" dirty="0">
                <a:solidFill>
                  <a:srgbClr val="FF0000"/>
                </a:solidFill>
                <a:latin typeface="Times New Roman" panose="02020603050405020304" pitchFamily="18" charset="0"/>
                <a:cs typeface="Times New Roman" panose="02020603050405020304" pitchFamily="18" charset="0"/>
              </a:rPr>
            </a:br>
            <a:br>
              <a:rPr lang="en-US" sz="2400" b="1" dirty="0">
                <a:solidFill>
                  <a:srgbClr val="FF0000"/>
                </a:solidFill>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What is Data Analytics?</a:t>
            </a:r>
            <a:br>
              <a:rPr lang="en-US" sz="2400" b="1" dirty="0">
                <a:solidFill>
                  <a:srgbClr val="FF0000"/>
                </a:solidFill>
                <a:latin typeface="Times New Roman" panose="02020603050405020304" pitchFamily="18" charset="0"/>
                <a:cs typeface="Times New Roman" panose="02020603050405020304" pitchFamily="18" charset="0"/>
              </a:rPr>
            </a:b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DAD2990-FA42-6CF2-7F41-20DCABC433FE}"/>
              </a:ext>
            </a:extLst>
          </p:cNvPr>
          <p:cNvSpPr>
            <a:spLocks noGrp="1"/>
          </p:cNvSpPr>
          <p:nvPr>
            <p:ph idx="1"/>
          </p:nvPr>
        </p:nvSpPr>
        <p:spPr>
          <a:xfrm>
            <a:off x="838200" y="1825624"/>
            <a:ext cx="10606548" cy="5032375"/>
          </a:xfrm>
        </p:spPr>
        <p:txBody>
          <a:bodyPr>
            <a:normAutofit fontScale="92500"/>
          </a:bodyPr>
          <a:lstStyle/>
          <a:p>
            <a:pPr marL="0" indent="0">
              <a:buNone/>
            </a:pPr>
            <a:r>
              <a:rPr lang="en-US" sz="2400" b="1" dirty="0">
                <a:latin typeface="Times New Roman" panose="02020603050405020304" pitchFamily="18" charset="0"/>
                <a:cs typeface="Times New Roman" panose="02020603050405020304" pitchFamily="18" charset="0"/>
              </a:rPr>
              <a:t>“Suppose you are the owner of a supermarket. You have sales data for the last 1 year. What can you do with this data?”</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From the sales data, we can find:</a:t>
            </a:r>
          </a:p>
          <a:p>
            <a:r>
              <a:rPr lang="en-US" sz="2400" dirty="0">
                <a:latin typeface="Times New Roman" panose="02020603050405020304" pitchFamily="18" charset="0"/>
                <a:cs typeface="Times New Roman" panose="02020603050405020304" pitchFamily="18" charset="0"/>
              </a:rPr>
              <a:t>Find which product sells the most </a:t>
            </a:r>
          </a:p>
          <a:p>
            <a:r>
              <a:rPr lang="en-US" sz="2400" dirty="0">
                <a:latin typeface="Times New Roman" panose="02020603050405020304" pitchFamily="18" charset="0"/>
                <a:cs typeface="Times New Roman" panose="02020603050405020304" pitchFamily="18" charset="0"/>
              </a:rPr>
              <a:t>Find which month has more sales </a:t>
            </a:r>
          </a:p>
          <a:p>
            <a:r>
              <a:rPr lang="en-US" sz="2400" dirty="0">
                <a:latin typeface="Times New Roman" panose="02020603050405020304" pitchFamily="18" charset="0"/>
                <a:cs typeface="Times New Roman" panose="02020603050405020304" pitchFamily="18" charset="0"/>
              </a:rPr>
              <a:t>Find which products are not selling </a:t>
            </a:r>
          </a:p>
          <a:p>
            <a:r>
              <a:rPr lang="en-US" sz="2400" dirty="0">
                <a:latin typeface="Times New Roman" panose="02020603050405020304" pitchFamily="18" charset="0"/>
                <a:cs typeface="Times New Roman" panose="02020603050405020304" pitchFamily="18" charset="0"/>
              </a:rPr>
              <a:t>Find which customers buy more </a:t>
            </a:r>
          </a:p>
          <a:p>
            <a:r>
              <a:rPr lang="en-US" sz="2400" dirty="0">
                <a:latin typeface="Times New Roman" panose="02020603050405020304" pitchFamily="18" charset="0"/>
                <a:cs typeface="Times New Roman" panose="02020603050405020304" pitchFamily="18" charset="0"/>
              </a:rPr>
              <a:t>Decide how much stock to purchase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“All these activities involve looking at data, finding useful information from it, and using that information to make better decisions. This process is called Data Analytics.”</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879571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535A03-CD34-0EFE-5159-45DCBC84E82C}"/>
              </a:ext>
            </a:extLst>
          </p:cNvPr>
          <p:cNvSpPr txBox="1"/>
          <p:nvPr/>
        </p:nvSpPr>
        <p:spPr>
          <a:xfrm>
            <a:off x="521110" y="265471"/>
            <a:ext cx="11051458" cy="2345322"/>
          </a:xfrm>
          <a:prstGeom prst="rect">
            <a:avLst/>
          </a:prstGeom>
          <a:noFill/>
        </p:spPr>
        <p:txBody>
          <a:bodyPr wrap="square">
            <a:spAutoFit/>
          </a:bodyPr>
          <a:lstStyle/>
          <a:p>
            <a:pPr>
              <a:lnSpc>
                <a:spcPct val="150000"/>
              </a:lnSpc>
              <a:buNone/>
            </a:pPr>
            <a:r>
              <a:rPr lang="en-US" sz="2000" b="1" dirty="0">
                <a:solidFill>
                  <a:srgbClr val="FF0000"/>
                </a:solidFill>
                <a:latin typeface="Times New Roman" panose="02020603050405020304" pitchFamily="18" charset="0"/>
                <a:cs typeface="Times New Roman" panose="02020603050405020304" pitchFamily="18" charset="0"/>
              </a:rPr>
              <a:t>Definition of Data Analytics:</a:t>
            </a:r>
          </a:p>
          <a:p>
            <a:pPr>
              <a:lnSpc>
                <a:spcPct val="150000"/>
              </a:lnSpc>
              <a:buNone/>
            </a:pPr>
            <a:r>
              <a:rPr lang="en-US" sz="2000" b="1" dirty="0">
                <a:latin typeface="Times New Roman" panose="02020603050405020304" pitchFamily="18" charset="0"/>
                <a:cs typeface="Times New Roman" panose="02020603050405020304" pitchFamily="18" charset="0"/>
              </a:rPr>
              <a:t>Data Analytics is the process of collecting, cleaning, analyzing, and interpreting data to find useful information and support better decision-making.</a:t>
            </a:r>
          </a:p>
          <a:p>
            <a:pPr>
              <a:lnSpc>
                <a:spcPct val="150000"/>
              </a:lnSpc>
              <a:buNone/>
            </a:pPr>
            <a:r>
              <a:rPr lang="en-US" sz="2000" b="1" dirty="0">
                <a:latin typeface="Times New Roman" panose="02020603050405020304" pitchFamily="18" charset="0"/>
                <a:cs typeface="Times New Roman" panose="02020603050405020304" pitchFamily="18" charset="0"/>
              </a:rPr>
              <a:t>(OR)</a:t>
            </a:r>
            <a:endParaRPr lang="en-US" sz="2000" dirty="0">
              <a:latin typeface="Times New Roman" panose="02020603050405020304" pitchFamily="18" charset="0"/>
              <a:cs typeface="Times New Roman" panose="02020603050405020304" pitchFamily="18" charset="0"/>
            </a:endParaRPr>
          </a:p>
          <a:p>
            <a:pPr>
              <a:lnSpc>
                <a:spcPct val="150000"/>
              </a:lnSpc>
              <a:buNone/>
            </a:pPr>
            <a:r>
              <a:rPr lang="en-US" sz="2000" b="1" dirty="0">
                <a:latin typeface="Times New Roman" panose="02020603050405020304" pitchFamily="18" charset="0"/>
                <a:cs typeface="Times New Roman" panose="02020603050405020304" pitchFamily="18" charset="0"/>
              </a:rPr>
              <a:t>Data Analytics = Looking at data to understand what is happening and make better decisions.</a:t>
            </a:r>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6918FC0-0E24-E9BC-D87B-D36C95301F8B}"/>
              </a:ext>
            </a:extLst>
          </p:cNvPr>
          <p:cNvSpPr txBox="1"/>
          <p:nvPr/>
        </p:nvSpPr>
        <p:spPr>
          <a:xfrm>
            <a:off x="521110" y="3075057"/>
            <a:ext cx="8622890" cy="70788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Example:</a:t>
            </a:r>
          </a:p>
          <a:p>
            <a:pPr>
              <a:buNone/>
            </a:pPr>
            <a:r>
              <a:rPr lang="en-US" sz="2000" dirty="0">
                <a:latin typeface="Times New Roman" panose="02020603050405020304" pitchFamily="18" charset="0"/>
                <a:cs typeface="Times New Roman" panose="02020603050405020304" pitchFamily="18" charset="0"/>
              </a:rPr>
              <a:t>Suppose a college has student attendance data:</a:t>
            </a:r>
          </a:p>
        </p:txBody>
      </p:sp>
      <p:graphicFrame>
        <p:nvGraphicFramePr>
          <p:cNvPr id="8" name="Table 7">
            <a:extLst>
              <a:ext uri="{FF2B5EF4-FFF2-40B4-BE49-F238E27FC236}">
                <a16:creationId xmlns:a16="http://schemas.microsoft.com/office/drawing/2014/main" id="{E9AEBFA0-890D-8E0C-143C-30221790FB8F}"/>
              </a:ext>
            </a:extLst>
          </p:cNvPr>
          <p:cNvGraphicFramePr>
            <a:graphicFrameLocks noGrp="1"/>
          </p:cNvGraphicFramePr>
          <p:nvPr>
            <p:extLst>
              <p:ext uri="{D42A27DB-BD31-4B8C-83A1-F6EECF244321}">
                <p14:modId xmlns:p14="http://schemas.microsoft.com/office/powerpoint/2010/main" val="3828786878"/>
              </p:ext>
            </p:extLst>
          </p:nvPr>
        </p:nvGraphicFramePr>
        <p:xfrm>
          <a:off x="521110" y="4034724"/>
          <a:ext cx="10515600" cy="2194560"/>
        </p:xfrm>
        <a:graphic>
          <a:graphicData uri="http://schemas.openxmlformats.org/drawingml/2006/table">
            <a:tbl>
              <a:tblPr/>
              <a:tblGrid>
                <a:gridCol w="5257800">
                  <a:extLst>
                    <a:ext uri="{9D8B030D-6E8A-4147-A177-3AD203B41FA5}">
                      <a16:colId xmlns:a16="http://schemas.microsoft.com/office/drawing/2014/main" val="782617589"/>
                    </a:ext>
                  </a:extLst>
                </a:gridCol>
                <a:gridCol w="5257800">
                  <a:extLst>
                    <a:ext uri="{9D8B030D-6E8A-4147-A177-3AD203B41FA5}">
                      <a16:colId xmlns:a16="http://schemas.microsoft.com/office/drawing/2014/main" val="1384633405"/>
                    </a:ext>
                  </a:extLst>
                </a:gridCol>
              </a:tblGrid>
              <a:tr h="0">
                <a:tc>
                  <a:txBody>
                    <a:bodyPr/>
                    <a:lstStyle/>
                    <a:p>
                      <a:pPr>
                        <a:buNone/>
                      </a:pPr>
                      <a:r>
                        <a:rPr lang="en-IN" b="1" dirty="0"/>
                        <a:t>Student</a:t>
                      </a:r>
                    </a:p>
                  </a:txBody>
                  <a:tcPr anchor="ctr">
                    <a:lnL>
                      <a:noFill/>
                    </a:lnL>
                    <a:lnR>
                      <a:noFill/>
                    </a:lnR>
                    <a:lnT>
                      <a:noFill/>
                    </a:lnT>
                    <a:lnB>
                      <a:noFill/>
                    </a:lnB>
                    <a:noFill/>
                  </a:tcPr>
                </a:tc>
                <a:tc>
                  <a:txBody>
                    <a:bodyPr/>
                    <a:lstStyle/>
                    <a:p>
                      <a:pPr>
                        <a:buNone/>
                      </a:pPr>
                      <a:r>
                        <a:rPr lang="en-IN" b="1" dirty="0"/>
                        <a:t>Attendance</a:t>
                      </a:r>
                    </a:p>
                  </a:txBody>
                  <a:tcPr anchor="ctr">
                    <a:lnL>
                      <a:noFill/>
                    </a:lnL>
                    <a:lnR>
                      <a:noFill/>
                    </a:lnR>
                    <a:lnT>
                      <a:noFill/>
                    </a:lnT>
                    <a:lnB>
                      <a:noFill/>
                    </a:lnB>
                    <a:noFill/>
                  </a:tcPr>
                </a:tc>
                <a:extLst>
                  <a:ext uri="{0D108BD9-81ED-4DB2-BD59-A6C34878D82A}">
                    <a16:rowId xmlns:a16="http://schemas.microsoft.com/office/drawing/2014/main" val="303121638"/>
                  </a:ext>
                </a:extLst>
              </a:tr>
              <a:tr h="0">
                <a:tc>
                  <a:txBody>
                    <a:bodyPr/>
                    <a:lstStyle/>
                    <a:p>
                      <a:pPr>
                        <a:buNone/>
                      </a:pPr>
                      <a:r>
                        <a:rPr lang="en-IN" dirty="0"/>
                        <a:t>A</a:t>
                      </a:r>
                    </a:p>
                  </a:txBody>
                  <a:tcPr anchor="ctr">
                    <a:lnL>
                      <a:noFill/>
                    </a:lnL>
                    <a:lnR>
                      <a:noFill/>
                    </a:lnR>
                    <a:lnT>
                      <a:noFill/>
                    </a:lnT>
                    <a:lnB>
                      <a:noFill/>
                    </a:lnB>
                    <a:noFill/>
                  </a:tcPr>
                </a:tc>
                <a:tc>
                  <a:txBody>
                    <a:bodyPr/>
                    <a:lstStyle/>
                    <a:p>
                      <a:pPr>
                        <a:buNone/>
                      </a:pPr>
                      <a:r>
                        <a:rPr lang="en-IN"/>
                        <a:t>92%</a:t>
                      </a:r>
                    </a:p>
                  </a:txBody>
                  <a:tcPr anchor="ctr">
                    <a:lnL>
                      <a:noFill/>
                    </a:lnL>
                    <a:lnR>
                      <a:noFill/>
                    </a:lnR>
                    <a:lnT>
                      <a:noFill/>
                    </a:lnT>
                    <a:lnB>
                      <a:noFill/>
                    </a:lnB>
                    <a:noFill/>
                  </a:tcPr>
                </a:tc>
                <a:extLst>
                  <a:ext uri="{0D108BD9-81ED-4DB2-BD59-A6C34878D82A}">
                    <a16:rowId xmlns:a16="http://schemas.microsoft.com/office/drawing/2014/main" val="1968745805"/>
                  </a:ext>
                </a:extLst>
              </a:tr>
              <a:tr h="0">
                <a:tc>
                  <a:txBody>
                    <a:bodyPr/>
                    <a:lstStyle/>
                    <a:p>
                      <a:pPr>
                        <a:buNone/>
                      </a:pPr>
                      <a:r>
                        <a:rPr lang="en-IN"/>
                        <a:t>B</a:t>
                      </a:r>
                    </a:p>
                  </a:txBody>
                  <a:tcPr anchor="ctr">
                    <a:lnL>
                      <a:noFill/>
                    </a:lnL>
                    <a:lnR>
                      <a:noFill/>
                    </a:lnR>
                    <a:lnT>
                      <a:noFill/>
                    </a:lnT>
                    <a:lnB>
                      <a:noFill/>
                    </a:lnB>
                    <a:noFill/>
                  </a:tcPr>
                </a:tc>
                <a:tc>
                  <a:txBody>
                    <a:bodyPr/>
                    <a:lstStyle/>
                    <a:p>
                      <a:pPr>
                        <a:buNone/>
                      </a:pPr>
                      <a:r>
                        <a:rPr lang="en-IN"/>
                        <a:t>85%</a:t>
                      </a:r>
                    </a:p>
                  </a:txBody>
                  <a:tcPr anchor="ctr">
                    <a:lnL>
                      <a:noFill/>
                    </a:lnL>
                    <a:lnR>
                      <a:noFill/>
                    </a:lnR>
                    <a:lnT>
                      <a:noFill/>
                    </a:lnT>
                    <a:lnB>
                      <a:noFill/>
                    </a:lnB>
                    <a:noFill/>
                  </a:tcPr>
                </a:tc>
                <a:extLst>
                  <a:ext uri="{0D108BD9-81ED-4DB2-BD59-A6C34878D82A}">
                    <a16:rowId xmlns:a16="http://schemas.microsoft.com/office/drawing/2014/main" val="388103125"/>
                  </a:ext>
                </a:extLst>
              </a:tr>
              <a:tr h="0">
                <a:tc>
                  <a:txBody>
                    <a:bodyPr/>
                    <a:lstStyle/>
                    <a:p>
                      <a:pPr>
                        <a:buNone/>
                      </a:pPr>
                      <a:r>
                        <a:rPr lang="en-IN" dirty="0"/>
                        <a:t>C</a:t>
                      </a:r>
                    </a:p>
                  </a:txBody>
                  <a:tcPr anchor="ctr">
                    <a:lnL>
                      <a:noFill/>
                    </a:lnL>
                    <a:lnR>
                      <a:noFill/>
                    </a:lnR>
                    <a:lnT>
                      <a:noFill/>
                    </a:lnT>
                    <a:lnB>
                      <a:noFill/>
                    </a:lnB>
                    <a:noFill/>
                  </a:tcPr>
                </a:tc>
                <a:tc>
                  <a:txBody>
                    <a:bodyPr/>
                    <a:lstStyle/>
                    <a:p>
                      <a:pPr>
                        <a:buNone/>
                      </a:pPr>
                      <a:r>
                        <a:rPr lang="en-IN"/>
                        <a:t>62%</a:t>
                      </a:r>
                    </a:p>
                  </a:txBody>
                  <a:tcPr anchor="ctr">
                    <a:lnL>
                      <a:noFill/>
                    </a:lnL>
                    <a:lnR>
                      <a:noFill/>
                    </a:lnR>
                    <a:lnT>
                      <a:noFill/>
                    </a:lnT>
                    <a:lnB>
                      <a:noFill/>
                    </a:lnB>
                    <a:noFill/>
                  </a:tcPr>
                </a:tc>
                <a:extLst>
                  <a:ext uri="{0D108BD9-81ED-4DB2-BD59-A6C34878D82A}">
                    <a16:rowId xmlns:a16="http://schemas.microsoft.com/office/drawing/2014/main" val="106314737"/>
                  </a:ext>
                </a:extLst>
              </a:tr>
              <a:tr h="0">
                <a:tc>
                  <a:txBody>
                    <a:bodyPr/>
                    <a:lstStyle/>
                    <a:p>
                      <a:pPr>
                        <a:buNone/>
                      </a:pPr>
                      <a:r>
                        <a:rPr lang="en-IN"/>
                        <a:t>D</a:t>
                      </a:r>
                    </a:p>
                  </a:txBody>
                  <a:tcPr anchor="ctr">
                    <a:lnL>
                      <a:noFill/>
                    </a:lnL>
                    <a:lnR>
                      <a:noFill/>
                    </a:lnR>
                    <a:lnT>
                      <a:noFill/>
                    </a:lnT>
                    <a:lnB>
                      <a:noFill/>
                    </a:lnB>
                    <a:noFill/>
                  </a:tcPr>
                </a:tc>
                <a:tc>
                  <a:txBody>
                    <a:bodyPr/>
                    <a:lstStyle/>
                    <a:p>
                      <a:pPr>
                        <a:buNone/>
                      </a:pPr>
                      <a:r>
                        <a:rPr lang="en-IN"/>
                        <a:t>95%</a:t>
                      </a:r>
                    </a:p>
                  </a:txBody>
                  <a:tcPr anchor="ctr">
                    <a:lnL>
                      <a:noFill/>
                    </a:lnL>
                    <a:lnR>
                      <a:noFill/>
                    </a:lnR>
                    <a:lnT>
                      <a:noFill/>
                    </a:lnT>
                    <a:lnB>
                      <a:noFill/>
                    </a:lnB>
                    <a:noFill/>
                  </a:tcPr>
                </a:tc>
                <a:extLst>
                  <a:ext uri="{0D108BD9-81ED-4DB2-BD59-A6C34878D82A}">
                    <a16:rowId xmlns:a16="http://schemas.microsoft.com/office/drawing/2014/main" val="3448952202"/>
                  </a:ext>
                </a:extLst>
              </a:tr>
              <a:tr h="0">
                <a:tc>
                  <a:txBody>
                    <a:bodyPr/>
                    <a:lstStyle/>
                    <a:p>
                      <a:pPr>
                        <a:buNone/>
                      </a:pPr>
                      <a:r>
                        <a:rPr lang="en-IN"/>
                        <a:t>E</a:t>
                      </a:r>
                    </a:p>
                  </a:txBody>
                  <a:tcPr anchor="ctr">
                    <a:lnL>
                      <a:noFill/>
                    </a:lnL>
                    <a:lnR>
                      <a:noFill/>
                    </a:lnR>
                    <a:lnT>
                      <a:noFill/>
                    </a:lnT>
                    <a:lnB>
                      <a:noFill/>
                    </a:lnB>
                    <a:noFill/>
                  </a:tcPr>
                </a:tc>
                <a:tc>
                  <a:txBody>
                    <a:bodyPr/>
                    <a:lstStyle/>
                    <a:p>
                      <a:pPr>
                        <a:buNone/>
                      </a:pPr>
                      <a:r>
                        <a:rPr lang="en-IN" dirty="0"/>
                        <a:t>58%</a:t>
                      </a:r>
                    </a:p>
                  </a:txBody>
                  <a:tcPr anchor="ctr">
                    <a:lnL>
                      <a:noFill/>
                    </a:lnL>
                    <a:lnR>
                      <a:noFill/>
                    </a:lnR>
                    <a:lnT>
                      <a:noFill/>
                    </a:lnT>
                    <a:lnB>
                      <a:noFill/>
                    </a:lnB>
                    <a:noFill/>
                  </a:tcPr>
                </a:tc>
                <a:extLst>
                  <a:ext uri="{0D108BD9-81ED-4DB2-BD59-A6C34878D82A}">
                    <a16:rowId xmlns:a16="http://schemas.microsoft.com/office/drawing/2014/main" val="3450412784"/>
                  </a:ext>
                </a:extLst>
              </a:tr>
            </a:tbl>
          </a:graphicData>
        </a:graphic>
      </p:graphicFrame>
    </p:spTree>
    <p:extLst>
      <p:ext uri="{BB962C8B-B14F-4D97-AF65-F5344CB8AC3E}">
        <p14:creationId xmlns:p14="http://schemas.microsoft.com/office/powerpoint/2010/main" val="493797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5DC029-A7F1-3A2F-0A55-7ABADB923354}"/>
              </a:ext>
            </a:extLst>
          </p:cNvPr>
          <p:cNvSpPr txBox="1"/>
          <p:nvPr/>
        </p:nvSpPr>
        <p:spPr>
          <a:xfrm>
            <a:off x="629265" y="393290"/>
            <a:ext cx="10687664" cy="347787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We can analyze this data to answer:</a:t>
            </a:r>
          </a:p>
          <a:p>
            <a:pPr>
              <a:buNone/>
            </a:pPr>
            <a:endParaRPr lang="en-US" sz="2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Who has low attendance?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is the average attendance?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 many students have less than 75% attendance?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class has the highest attendance?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Is attendance improving or decreasing? </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 raw attendance numbers themselves are </a:t>
            </a:r>
            <a:r>
              <a:rPr lang="en-US" sz="2000" b="1" dirty="0">
                <a:latin typeface="Times New Roman" panose="02020603050405020304" pitchFamily="18" charset="0"/>
                <a:cs typeface="Times New Roman" panose="02020603050405020304" pitchFamily="18" charset="0"/>
              </a:rPr>
              <a:t>data</a:t>
            </a:r>
            <a:r>
              <a:rPr lang="en-US" sz="2000" dirty="0">
                <a:latin typeface="Times New Roman" panose="02020603050405020304" pitchFamily="18" charset="0"/>
                <a:cs typeface="Times New Roman" panose="02020603050405020304" pitchFamily="18" charset="0"/>
              </a:rPr>
              <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After analyzing them, we obtain </a:t>
            </a:r>
            <a:r>
              <a:rPr lang="en-US" sz="2000" b="1" dirty="0">
                <a:latin typeface="Times New Roman" panose="02020603050405020304" pitchFamily="18" charset="0"/>
                <a:cs typeface="Times New Roman" panose="02020603050405020304" pitchFamily="18" charset="0"/>
              </a:rPr>
              <a:t>useful information</a:t>
            </a:r>
            <a:r>
              <a:rPr lang="en-US" sz="20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797A197A-487D-F222-761E-8A18401692DF}"/>
              </a:ext>
            </a:extLst>
          </p:cNvPr>
          <p:cNvSpPr txBox="1"/>
          <p:nvPr/>
        </p:nvSpPr>
        <p:spPr>
          <a:xfrm>
            <a:off x="707924" y="3913690"/>
            <a:ext cx="11326760" cy="1938992"/>
          </a:xfrm>
          <a:prstGeom prst="rect">
            <a:avLst/>
          </a:prstGeom>
          <a:noFill/>
        </p:spPr>
        <p:txBody>
          <a:bodyPr wrap="square">
            <a:spAutoFit/>
          </a:bodyPr>
          <a:lstStyle/>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 example:</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“30% of students have attendance below 75%.” </a:t>
            </a:r>
            <a:r>
              <a:rPr lang="en-US" sz="2000" b="1" dirty="0">
                <a:latin typeface="Times New Roman" panose="02020603050405020304" pitchFamily="18" charset="0"/>
                <a:cs typeface="Times New Roman" panose="02020603050405020304" pitchFamily="18" charset="0"/>
              </a:rPr>
              <a:t>This statement is no longer just raw data.</a:t>
            </a:r>
          </a:p>
          <a:p>
            <a:pPr>
              <a:buNone/>
            </a:pPr>
            <a:r>
              <a:rPr lang="en-US" sz="2000" dirty="0">
                <a:latin typeface="Times New Roman" panose="02020603050405020304" pitchFamily="18" charset="0"/>
                <a:cs typeface="Times New Roman" panose="02020603050405020304" pitchFamily="18" charset="0"/>
              </a:rPr>
              <a:t>That is an </a:t>
            </a:r>
            <a:r>
              <a:rPr lang="en-US" sz="2000" b="1" dirty="0">
                <a:latin typeface="Times New Roman" panose="02020603050405020304" pitchFamily="18" charset="0"/>
                <a:cs typeface="Times New Roman" panose="02020603050405020304" pitchFamily="18" charset="0"/>
              </a:rPr>
              <a:t>insight</a:t>
            </a:r>
            <a:r>
              <a:rPr lang="en-US" sz="2000" dirty="0">
                <a:latin typeface="Times New Roman" panose="02020603050405020304" pitchFamily="18" charset="0"/>
                <a:cs typeface="Times New Roman" panose="02020603050405020304" pitchFamily="18" charset="0"/>
              </a:rPr>
              <a:t> obtained from data.</a:t>
            </a:r>
          </a:p>
        </p:txBody>
      </p:sp>
    </p:spTree>
    <p:extLst>
      <p:ext uri="{BB962C8B-B14F-4D97-AF65-F5344CB8AC3E}">
        <p14:creationId xmlns:p14="http://schemas.microsoft.com/office/powerpoint/2010/main" val="3290042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6A3F91-C398-7F34-A4D4-49B3DB11493B}"/>
              </a:ext>
            </a:extLst>
          </p:cNvPr>
          <p:cNvSpPr txBox="1"/>
          <p:nvPr/>
        </p:nvSpPr>
        <p:spPr>
          <a:xfrm>
            <a:off x="152400" y="267019"/>
            <a:ext cx="11616813" cy="6309420"/>
          </a:xfrm>
          <a:prstGeom prst="rect">
            <a:avLst/>
          </a:prstGeom>
          <a:noFill/>
        </p:spPr>
        <p:txBody>
          <a:bodyPr wrap="square">
            <a:spAutoFit/>
          </a:bodyPr>
          <a:lstStyle/>
          <a:p>
            <a:pPr>
              <a:buNone/>
            </a:pPr>
            <a:r>
              <a:rPr lang="en-US" sz="2400" b="1" dirty="0">
                <a:solidFill>
                  <a:srgbClr val="FF0000"/>
                </a:solidFill>
                <a:latin typeface="Times New Roman" panose="02020603050405020304" pitchFamily="18" charset="0"/>
                <a:cs typeface="Times New Roman" panose="02020603050405020304" pitchFamily="18" charset="0"/>
              </a:rPr>
              <a:t>Data vs Information vs Insight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This is an important concept :</a:t>
            </a:r>
          </a:p>
          <a:p>
            <a:pPr>
              <a:buNone/>
            </a:pPr>
            <a:r>
              <a:rPr lang="en-US" sz="2000" b="1" dirty="0">
                <a:latin typeface="Times New Roman" panose="02020603050405020304" pitchFamily="18" charset="0"/>
                <a:cs typeface="Times New Roman" panose="02020603050405020304" pitchFamily="18" charset="0"/>
              </a:rPr>
              <a:t>1. Data</a:t>
            </a:r>
          </a:p>
          <a:p>
            <a:pPr>
              <a:buNone/>
            </a:pPr>
            <a:r>
              <a:rPr lang="en-US" sz="2000" b="1" dirty="0">
                <a:latin typeface="Times New Roman" panose="02020603050405020304" pitchFamily="18" charset="0"/>
                <a:cs typeface="Times New Roman" panose="02020603050405020304" pitchFamily="18" charset="0"/>
              </a:rPr>
              <a:t>Data is raw facts and values that are collected.</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Example:</a:t>
            </a:r>
          </a:p>
          <a:p>
            <a:pPr rtl="0">
              <a:buNone/>
            </a:pPr>
            <a:r>
              <a:rPr lang="en-US" sz="2000" dirty="0">
                <a:latin typeface="Times New Roman" panose="02020603050405020304" pitchFamily="18" charset="0"/>
                <a:cs typeface="Times New Roman" panose="02020603050405020304" pitchFamily="18" charset="0"/>
              </a:rPr>
              <a:t>85, 72, 91, 65, 55, 88, 92</a:t>
            </a:r>
          </a:p>
          <a:p>
            <a:pPr>
              <a:buNone/>
            </a:pPr>
            <a:r>
              <a:rPr lang="en-US" sz="2000" dirty="0">
                <a:latin typeface="Times New Roman" panose="02020603050405020304" pitchFamily="18" charset="0"/>
                <a:cs typeface="Times New Roman" panose="02020603050405020304" pitchFamily="18" charset="0"/>
              </a:rPr>
              <a:t>By themselves, these numbers don't tell us much.</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2. Information</a:t>
            </a:r>
          </a:p>
          <a:p>
            <a:pPr>
              <a:buNone/>
            </a:pPr>
            <a:r>
              <a:rPr lang="en-US" sz="2000" dirty="0">
                <a:latin typeface="Times New Roman" panose="02020603050405020304" pitchFamily="18" charset="0"/>
                <a:cs typeface="Times New Roman" panose="02020603050405020304" pitchFamily="18" charset="0"/>
              </a:rPr>
              <a:t>When we organize and process the data, we get information.</a:t>
            </a:r>
          </a:p>
          <a:p>
            <a:pPr>
              <a:buNone/>
            </a:pPr>
            <a:r>
              <a:rPr lang="en-US" sz="2000" dirty="0">
                <a:latin typeface="Times New Roman" panose="02020603050405020304" pitchFamily="18" charset="0"/>
                <a:cs typeface="Times New Roman" panose="02020603050405020304" pitchFamily="18" charset="0"/>
              </a:rPr>
              <a:t>For example:</a:t>
            </a:r>
          </a:p>
          <a:p>
            <a:pPr>
              <a:buNone/>
            </a:pPr>
            <a:r>
              <a:rPr lang="en-US" sz="2000" dirty="0">
                <a:latin typeface="Times New Roman" panose="02020603050405020304" pitchFamily="18" charset="0"/>
                <a:cs typeface="Times New Roman" panose="02020603050405020304" pitchFamily="18" charset="0"/>
              </a:rPr>
              <a:t>Average attendance = 78%</a:t>
            </a:r>
          </a:p>
          <a:p>
            <a:pPr>
              <a:buNone/>
            </a:pPr>
            <a:r>
              <a:rPr lang="en-US" sz="2000" dirty="0">
                <a:latin typeface="Times New Roman" panose="02020603050405020304" pitchFamily="18" charset="0"/>
                <a:cs typeface="Times New Roman" panose="02020603050405020304" pitchFamily="18" charset="0"/>
              </a:rPr>
              <a:t>Now the numbers have meaning.</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3. Insight</a:t>
            </a:r>
          </a:p>
          <a:p>
            <a:pPr>
              <a:buNone/>
            </a:pPr>
            <a:r>
              <a:rPr lang="en-US" sz="2000" dirty="0">
                <a:latin typeface="Times New Roman" panose="02020603050405020304" pitchFamily="18" charset="0"/>
                <a:cs typeface="Times New Roman" panose="02020603050405020304" pitchFamily="18" charset="0"/>
              </a:rPr>
              <a:t>An insight is a useful conclusion obtained from analyzing information.</a:t>
            </a:r>
          </a:p>
          <a:p>
            <a:pPr>
              <a:buNone/>
            </a:pPr>
            <a:r>
              <a:rPr lang="en-US" sz="2000" dirty="0">
                <a:latin typeface="Times New Roman" panose="02020603050405020304" pitchFamily="18" charset="0"/>
                <a:cs typeface="Times New Roman" panose="02020603050405020304" pitchFamily="18" charset="0"/>
              </a:rPr>
              <a:t>For example:</a:t>
            </a:r>
          </a:p>
          <a:p>
            <a:pPr>
              <a:buNone/>
            </a:pPr>
            <a:r>
              <a:rPr lang="en-US" sz="2000" dirty="0">
                <a:latin typeface="Times New Roman" panose="02020603050405020304" pitchFamily="18" charset="0"/>
                <a:cs typeface="Times New Roman" panose="02020603050405020304" pitchFamily="18" charset="0"/>
              </a:rPr>
              <a:t>“Students whose attendance is below 70% are more likely to have difficulty completing laboratory work.”</a:t>
            </a:r>
          </a:p>
          <a:p>
            <a:pPr>
              <a:buNone/>
            </a:pPr>
            <a:r>
              <a:rPr lang="en-US" sz="2000" dirty="0">
                <a:latin typeface="Times New Roman" panose="02020603050405020304" pitchFamily="18" charset="0"/>
                <a:cs typeface="Times New Roman" panose="02020603050405020304" pitchFamily="18" charset="0"/>
              </a:rPr>
              <a:t>This insight can help the college take action.</a:t>
            </a:r>
          </a:p>
        </p:txBody>
      </p:sp>
      <p:sp>
        <p:nvSpPr>
          <p:cNvPr id="4" name="TextBox 3">
            <a:extLst>
              <a:ext uri="{FF2B5EF4-FFF2-40B4-BE49-F238E27FC236}">
                <a16:creationId xmlns:a16="http://schemas.microsoft.com/office/drawing/2014/main" id="{DDA38B5C-89CF-19FB-9092-CDBD0B108A02}"/>
              </a:ext>
            </a:extLst>
          </p:cNvPr>
          <p:cNvSpPr txBox="1"/>
          <p:nvPr/>
        </p:nvSpPr>
        <p:spPr>
          <a:xfrm>
            <a:off x="7207045" y="1799754"/>
            <a:ext cx="6096000" cy="1200329"/>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Note:</a:t>
            </a:r>
          </a:p>
          <a:p>
            <a:pPr>
              <a:buNone/>
            </a:pPr>
            <a:r>
              <a:rPr lang="en-US" b="1" dirty="0">
                <a:latin typeface="Times New Roman" panose="02020603050405020304" pitchFamily="18" charset="0"/>
                <a:cs typeface="Times New Roman" panose="02020603050405020304" pitchFamily="18" charset="0"/>
              </a:rPr>
              <a:t>Data = What we have</a:t>
            </a: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Information = What the data tells us</a:t>
            </a: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Insight = What we understand from it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0799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9F9CC6-131F-6906-24CF-667FEC31323E}"/>
              </a:ext>
            </a:extLst>
          </p:cNvPr>
          <p:cNvSpPr txBox="1"/>
          <p:nvPr/>
        </p:nvSpPr>
        <p:spPr>
          <a:xfrm>
            <a:off x="471948" y="147484"/>
            <a:ext cx="11867536" cy="6247864"/>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Simple flow is :</a:t>
            </a:r>
          </a:p>
          <a:p>
            <a:pPr>
              <a:buNone/>
            </a:pPr>
            <a:r>
              <a:rPr lang="en-US" sz="2000" b="1" dirty="0">
                <a:latin typeface="Times New Roman" panose="02020603050405020304" pitchFamily="18" charset="0"/>
                <a:cs typeface="Times New Roman" panose="02020603050405020304" pitchFamily="18" charset="0"/>
              </a:rPr>
              <a:t>Data → Analysis → Information → Insight → Decision</a:t>
            </a: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 ultimate purpose of Data Analytics is not just to calculate numbers. It is to use those numbers to make better decisions.”</a:t>
            </a:r>
          </a:p>
        </p:txBody>
      </p:sp>
      <p:pic>
        <p:nvPicPr>
          <p:cNvPr id="4" name="Picture 3">
            <a:extLst>
              <a:ext uri="{FF2B5EF4-FFF2-40B4-BE49-F238E27FC236}">
                <a16:creationId xmlns:a16="http://schemas.microsoft.com/office/drawing/2014/main" id="{54A09FD8-FB45-CF8D-66DA-CB1992E6B894}"/>
              </a:ext>
            </a:extLst>
          </p:cNvPr>
          <p:cNvPicPr>
            <a:picLocks noChangeAspect="1"/>
          </p:cNvPicPr>
          <p:nvPr/>
        </p:nvPicPr>
        <p:blipFill>
          <a:blip r:embed="rId2"/>
          <a:stretch>
            <a:fillRect/>
          </a:stretch>
        </p:blipFill>
        <p:spPr>
          <a:xfrm>
            <a:off x="540774" y="885606"/>
            <a:ext cx="2724387" cy="4503174"/>
          </a:xfrm>
          <a:prstGeom prst="rect">
            <a:avLst/>
          </a:prstGeom>
        </p:spPr>
      </p:pic>
      <p:pic>
        <p:nvPicPr>
          <p:cNvPr id="6" name="Picture 5">
            <a:extLst>
              <a:ext uri="{FF2B5EF4-FFF2-40B4-BE49-F238E27FC236}">
                <a16:creationId xmlns:a16="http://schemas.microsoft.com/office/drawing/2014/main" id="{5B9D7736-21C3-D749-0CF6-589A89ADFF00}"/>
              </a:ext>
            </a:extLst>
          </p:cNvPr>
          <p:cNvPicPr>
            <a:picLocks noChangeAspect="1"/>
          </p:cNvPicPr>
          <p:nvPr/>
        </p:nvPicPr>
        <p:blipFill>
          <a:blip r:embed="rId3"/>
          <a:stretch>
            <a:fillRect/>
          </a:stretch>
        </p:blipFill>
        <p:spPr>
          <a:xfrm>
            <a:off x="4943389" y="1067127"/>
            <a:ext cx="3406435" cy="3779848"/>
          </a:xfrm>
          <a:prstGeom prst="rect">
            <a:avLst/>
          </a:prstGeom>
        </p:spPr>
      </p:pic>
    </p:spTree>
    <p:extLst>
      <p:ext uri="{BB962C8B-B14F-4D97-AF65-F5344CB8AC3E}">
        <p14:creationId xmlns:p14="http://schemas.microsoft.com/office/powerpoint/2010/main" val="4280971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B5E59-24C6-7B76-F1B2-AEEB2A825761}"/>
              </a:ext>
            </a:extLst>
          </p:cNvPr>
          <p:cNvSpPr>
            <a:spLocks noGrp="1"/>
          </p:cNvSpPr>
          <p:nvPr>
            <p:ph type="title"/>
          </p:nvPr>
        </p:nvSpPr>
        <p:spPr>
          <a:xfrm>
            <a:off x="218768" y="-254307"/>
            <a:ext cx="10515600" cy="1325563"/>
          </a:xfrm>
        </p:spPr>
        <p:txBody>
          <a:bodyPr>
            <a:normAutofit/>
          </a:bodyPr>
          <a:lstStyle/>
          <a:p>
            <a:br>
              <a:rPr lang="en-US" sz="2400" dirty="0">
                <a:solidFill>
                  <a:srgbClr val="FF0000"/>
                </a:solidFill>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Why Do We Need Data Analytics?</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BAD1EC-D645-9ABF-1C76-B4C82E9F34BA}"/>
              </a:ext>
            </a:extLst>
          </p:cNvPr>
          <p:cNvSpPr>
            <a:spLocks noGrp="1"/>
          </p:cNvSpPr>
          <p:nvPr>
            <p:ph idx="1"/>
          </p:nvPr>
        </p:nvSpPr>
        <p:spPr>
          <a:xfrm>
            <a:off x="334297" y="845574"/>
            <a:ext cx="11019503" cy="5331389"/>
          </a:xfrm>
        </p:spPr>
        <p:txBody>
          <a:bodyPr/>
          <a:lstStyle/>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“Suppose our college has the attendance and marks of 5,000 students. Is simply storing all this data useful?” – </a:t>
            </a:r>
            <a:r>
              <a:rPr lang="en-US" sz="2000" b="1" dirty="0">
                <a:latin typeface="Times New Roman" panose="02020603050405020304" pitchFamily="18" charset="0"/>
                <a:cs typeface="Times New Roman" panose="02020603050405020304" pitchFamily="18" charset="0"/>
              </a:rPr>
              <a:t>Yes</a:t>
            </a:r>
          </a:p>
          <a:p>
            <a:pPr marL="0" indent="0">
              <a:buNone/>
            </a:pPr>
            <a:r>
              <a:rPr lang="en-US" sz="2000" dirty="0">
                <a:latin typeface="Times New Roman" panose="02020603050405020304" pitchFamily="18" charset="0"/>
                <a:cs typeface="Times New Roman" panose="02020603050405020304" pitchFamily="18" charset="0"/>
              </a:rPr>
              <a:t>“Can the college easily look at 5,000 students one by one and identify which students are having attendance problems?” – </a:t>
            </a:r>
            <a:r>
              <a:rPr lang="en-US" sz="2000" b="1" dirty="0">
                <a:latin typeface="Times New Roman" panose="02020603050405020304" pitchFamily="18" charset="0"/>
                <a:cs typeface="Times New Roman" panose="02020603050405020304" pitchFamily="18" charset="0"/>
              </a:rPr>
              <a:t>No</a:t>
            </a:r>
          </a:p>
          <a:p>
            <a:pPr marL="0" indent="0">
              <a:buNone/>
            </a:pPr>
            <a:r>
              <a:rPr lang="en-US" sz="2000" b="1" dirty="0">
                <a:latin typeface="Times New Roman" panose="02020603050405020304" pitchFamily="18" charset="0"/>
                <a:cs typeface="Times New Roman" panose="02020603050405020304" pitchFamily="18" charset="0"/>
              </a:rPr>
              <a:t>“This is where Data Analytics becomes important. We use analytics to examine large amounts of data, find useful patterns, identify problems, and make better decisions.”</a:t>
            </a:r>
          </a:p>
          <a:p>
            <a:pPr marL="0" indent="0">
              <a:buNone/>
            </a:pPr>
            <a:endParaRPr lang="en-IN" dirty="0"/>
          </a:p>
        </p:txBody>
      </p:sp>
      <p:pic>
        <p:nvPicPr>
          <p:cNvPr id="5" name="Picture 4">
            <a:extLst>
              <a:ext uri="{FF2B5EF4-FFF2-40B4-BE49-F238E27FC236}">
                <a16:creationId xmlns:a16="http://schemas.microsoft.com/office/drawing/2014/main" id="{9F57BB8F-2437-0E2D-94AA-1A142363711F}"/>
              </a:ext>
            </a:extLst>
          </p:cNvPr>
          <p:cNvPicPr>
            <a:picLocks noChangeAspect="1"/>
          </p:cNvPicPr>
          <p:nvPr/>
        </p:nvPicPr>
        <p:blipFill>
          <a:blip r:embed="rId2"/>
          <a:stretch>
            <a:fillRect/>
          </a:stretch>
        </p:blipFill>
        <p:spPr>
          <a:xfrm>
            <a:off x="2079401" y="4105590"/>
            <a:ext cx="8654967" cy="795699"/>
          </a:xfrm>
          <a:prstGeom prst="rect">
            <a:avLst/>
          </a:prstGeom>
        </p:spPr>
      </p:pic>
      <p:sp>
        <p:nvSpPr>
          <p:cNvPr id="6" name="TextBox 5">
            <a:extLst>
              <a:ext uri="{FF2B5EF4-FFF2-40B4-BE49-F238E27FC236}">
                <a16:creationId xmlns:a16="http://schemas.microsoft.com/office/drawing/2014/main" id="{F715CFCA-BFD2-56FB-1985-6B9A869E39BD}"/>
              </a:ext>
            </a:extLst>
          </p:cNvPr>
          <p:cNvSpPr txBox="1"/>
          <p:nvPr/>
        </p:nvSpPr>
        <p:spPr>
          <a:xfrm>
            <a:off x="1160206" y="3736258"/>
            <a:ext cx="208443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Main Idea:</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4603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1EB022-DE91-66A9-A5F5-05E03350573A}"/>
              </a:ext>
            </a:extLst>
          </p:cNvPr>
          <p:cNvSpPr txBox="1"/>
          <p:nvPr/>
        </p:nvSpPr>
        <p:spPr>
          <a:xfrm>
            <a:off x="452283" y="403123"/>
            <a:ext cx="11002297" cy="5940088"/>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Organizations Generate Data Every Day</a:t>
            </a:r>
          </a:p>
          <a:p>
            <a:pPr>
              <a:buNone/>
            </a:pPr>
            <a:endParaRPr lang="en-US" sz="2000" dirty="0">
              <a:solidFill>
                <a:srgbClr val="FF0000"/>
              </a:solidFill>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Almost everything we do today creates data.</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 example, when you:</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Google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Make a UPI payment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Order food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Watch YouTube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Buy something online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Instagram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Book a ticket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Attend an online class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a banking application some form of data is generated.</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So, we can say:</a:t>
            </a:r>
          </a:p>
          <a:p>
            <a:pPr>
              <a:buNone/>
            </a:pPr>
            <a:r>
              <a:rPr lang="en-US" sz="2000" b="1" dirty="0">
                <a:latin typeface="Times New Roman" panose="02020603050405020304" pitchFamily="18" charset="0"/>
                <a:cs typeface="Times New Roman" panose="02020603050405020304" pitchFamily="18" charset="0"/>
              </a:rPr>
              <a:t>Modern organizations are data-rich.</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But being </a:t>
            </a:r>
            <a:r>
              <a:rPr lang="en-US" sz="2000" b="1" dirty="0">
                <a:latin typeface="Times New Roman" panose="02020603050405020304" pitchFamily="18" charset="0"/>
                <a:cs typeface="Times New Roman" panose="02020603050405020304" pitchFamily="18" charset="0"/>
              </a:rPr>
              <a:t>data-rich does not automatically mean being information-rich</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They need analytics to convert the data into useful information.</a:t>
            </a:r>
          </a:p>
        </p:txBody>
      </p:sp>
      <p:sp>
        <p:nvSpPr>
          <p:cNvPr id="4" name="TextBox 3">
            <a:extLst>
              <a:ext uri="{FF2B5EF4-FFF2-40B4-BE49-F238E27FC236}">
                <a16:creationId xmlns:a16="http://schemas.microsoft.com/office/drawing/2014/main" id="{3E57579C-A21F-490E-F1CB-B812940D93A3}"/>
              </a:ext>
            </a:extLst>
          </p:cNvPr>
          <p:cNvSpPr txBox="1"/>
          <p:nvPr/>
        </p:nvSpPr>
        <p:spPr>
          <a:xfrm>
            <a:off x="6479459" y="950532"/>
            <a:ext cx="6096000" cy="4524315"/>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For example, when you make a UPI payment:</a:t>
            </a:r>
          </a:p>
          <a:p>
            <a:pPr>
              <a:buNone/>
            </a:pPr>
            <a:r>
              <a:rPr lang="en-US" dirty="0">
                <a:latin typeface="Times New Roman" panose="02020603050405020304" pitchFamily="18" charset="0"/>
                <a:cs typeface="Times New Roman" panose="02020603050405020304" pitchFamily="18" charset="0"/>
              </a:rPr>
              <a:t>The system may record: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Amount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Time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Sender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Receiver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Transaction status </a:t>
            </a:r>
          </a:p>
          <a:p>
            <a:pPr>
              <a:buNone/>
            </a:pPr>
            <a:r>
              <a:rPr lang="en-US" dirty="0">
                <a:latin typeface="Times New Roman" panose="02020603050405020304" pitchFamily="18" charset="0"/>
                <a:cs typeface="Times New Roman" panose="02020603050405020304" pitchFamily="18" charset="0"/>
              </a:rPr>
              <a:t>All this becomes </a:t>
            </a:r>
            <a:r>
              <a:rPr lang="en-US" b="1" dirty="0">
                <a:latin typeface="Times New Roman" panose="02020603050405020304" pitchFamily="18" charset="0"/>
                <a:cs typeface="Times New Roman" panose="02020603050405020304" pitchFamily="18" charset="0"/>
              </a:rPr>
              <a:t>data</a:t>
            </a:r>
            <a:r>
              <a:rPr lang="en-US" dirty="0">
                <a:latin typeface="Times New Roman" panose="02020603050405020304" pitchFamily="18" charset="0"/>
                <a:cs typeface="Times New Roman" panose="02020603050405020304" pitchFamily="18" charset="0"/>
              </a:rPr>
              <a:t>.</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Modern organizations are data-rich, but being data-rich does not automatically mean being information-rich.</a:t>
            </a: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Having 1 crore records doesn't mean we understand those records.</a:t>
            </a:r>
          </a:p>
          <a:p>
            <a:pPr>
              <a:buNone/>
            </a:pPr>
            <a:r>
              <a:rPr lang="en-US" dirty="0">
                <a:latin typeface="Times New Roman" panose="02020603050405020304" pitchFamily="18" charset="0"/>
                <a:cs typeface="Times New Roman" panose="02020603050405020304" pitchFamily="18" charset="0"/>
              </a:rPr>
              <a:t>We need </a:t>
            </a:r>
            <a:r>
              <a:rPr lang="en-US" b="1" dirty="0">
                <a:latin typeface="Times New Roman" panose="02020603050405020304" pitchFamily="18" charset="0"/>
                <a:cs typeface="Times New Roman" panose="02020603050405020304" pitchFamily="18" charset="0"/>
              </a:rPr>
              <a:t>analytics</a:t>
            </a:r>
            <a:r>
              <a:rPr lang="en-US" dirty="0">
                <a:latin typeface="Times New Roman" panose="02020603050405020304" pitchFamily="18" charset="0"/>
                <a:cs typeface="Times New Roman" panose="02020603050405020304" pitchFamily="18" charset="0"/>
              </a:rPr>
              <a:t> to convert data into useful information.</a:t>
            </a:r>
          </a:p>
        </p:txBody>
      </p:sp>
    </p:spTree>
    <p:extLst>
      <p:ext uri="{BB962C8B-B14F-4D97-AF65-F5344CB8AC3E}">
        <p14:creationId xmlns:p14="http://schemas.microsoft.com/office/powerpoint/2010/main" val="2679771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FE21ED-1F48-0E96-6FE9-775C092F6651}"/>
              </a:ext>
            </a:extLst>
          </p:cNvPr>
          <p:cNvSpPr txBox="1"/>
          <p:nvPr/>
        </p:nvSpPr>
        <p:spPr>
          <a:xfrm>
            <a:off x="432619" y="511277"/>
            <a:ext cx="11828207" cy="5324535"/>
          </a:xfrm>
          <a:prstGeom prst="rect">
            <a:avLst/>
          </a:prstGeom>
          <a:noFill/>
        </p:spPr>
        <p:txBody>
          <a:bodyPr wrap="square">
            <a:spAutoFit/>
          </a:bodyPr>
          <a:lstStyle/>
          <a:p>
            <a:pPr marL="457200" indent="-457200">
              <a:buAutoNum type="arabicPeriod"/>
            </a:pPr>
            <a:r>
              <a:rPr lang="en-US" sz="2000" b="1" dirty="0">
                <a:latin typeface="Times New Roman" panose="02020603050405020304" pitchFamily="18" charset="0"/>
                <a:cs typeface="Times New Roman" panose="02020603050405020304" pitchFamily="18" charset="0"/>
              </a:rPr>
              <a:t>College Example</a:t>
            </a:r>
          </a:p>
          <a:p>
            <a:endParaRPr lang="en-US" sz="2000" b="1"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 college may have </a:t>
            </a:r>
            <a:r>
              <a:rPr lang="en-US" sz="2000" b="1" dirty="0">
                <a:latin typeface="Times New Roman" panose="02020603050405020304" pitchFamily="18" charset="0"/>
                <a:cs typeface="Times New Roman" panose="02020603050405020304" pitchFamily="18" charset="0"/>
              </a:rPr>
              <a:t>5,000 students</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Every semester, the college generates a huge amount of data.</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Student data</a:t>
            </a:r>
          </a:p>
          <a:p>
            <a:pPr marL="342900" indent="-342900" rtl="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Student ID</a:t>
            </a:r>
          </a:p>
          <a:p>
            <a:pPr marL="342900" indent="-342900" rtl="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Name</a:t>
            </a:r>
          </a:p>
          <a:p>
            <a:pPr marL="342900" indent="-342900" rtl="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Department</a:t>
            </a:r>
          </a:p>
          <a:p>
            <a:pPr marL="342900" indent="-342900" rtl="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Semester</a:t>
            </a:r>
          </a:p>
          <a:p>
            <a:pPr marL="342900" indent="-342900" rtl="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Attendance</a:t>
            </a:r>
          </a:p>
          <a:p>
            <a:pPr marL="342900" indent="-342900" rtl="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IA marks</a:t>
            </a:r>
          </a:p>
          <a:p>
            <a:pPr marL="342900" indent="-342900" rtl="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Assignment marks</a:t>
            </a:r>
          </a:p>
          <a:p>
            <a:pPr marL="342900" indent="-342900" rtl="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Lab marks</a:t>
            </a:r>
          </a:p>
          <a:p>
            <a:pPr marL="342900" indent="-342900" rtl="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End-semester marks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So, the college database can contain </a:t>
            </a:r>
            <a:r>
              <a:rPr lang="en-US" sz="2000" b="1" dirty="0">
                <a:latin typeface="Times New Roman" panose="02020603050405020304" pitchFamily="18" charset="0"/>
                <a:cs typeface="Times New Roman" panose="02020603050405020304" pitchFamily="18" charset="0"/>
              </a:rPr>
              <a:t>thousands of records</a:t>
            </a:r>
            <a:r>
              <a:rPr lang="en-US" sz="2000" dirty="0">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A877453F-2B96-42F3-7B6B-1F975DAF37B8}"/>
              </a:ext>
            </a:extLst>
          </p:cNvPr>
          <p:cNvSpPr txBox="1"/>
          <p:nvPr/>
        </p:nvSpPr>
        <p:spPr>
          <a:xfrm>
            <a:off x="2711246" y="6162057"/>
            <a:ext cx="6130412"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Next question is </a:t>
            </a:r>
            <a:r>
              <a:rPr lang="en-US" b="1" dirty="0">
                <a:latin typeface="Times New Roman" panose="02020603050405020304" pitchFamily="18" charset="0"/>
                <a:cs typeface="Times New Roman" panose="02020603050405020304" pitchFamily="18" charset="0"/>
              </a:rPr>
              <a:t>“What can we do with this data?”</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675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7A385E-4F90-BCCA-850D-CEE6360E08A1}"/>
              </a:ext>
            </a:extLst>
          </p:cNvPr>
          <p:cNvSpPr txBox="1"/>
          <p:nvPr/>
        </p:nvSpPr>
        <p:spPr>
          <a:xfrm>
            <a:off x="255639" y="29835"/>
            <a:ext cx="8731045" cy="70788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What happens if we only store the data?</a:t>
            </a:r>
          </a:p>
          <a:p>
            <a:pPr>
              <a:buNone/>
            </a:pPr>
            <a:r>
              <a:rPr lang="en-US" sz="2000" dirty="0">
                <a:latin typeface="Times New Roman" panose="02020603050405020304" pitchFamily="18" charset="0"/>
                <a:cs typeface="Times New Roman" panose="02020603050405020304" pitchFamily="18" charset="0"/>
              </a:rPr>
              <a:t>Suppose the college has this:</a:t>
            </a:r>
          </a:p>
        </p:txBody>
      </p:sp>
      <p:graphicFrame>
        <p:nvGraphicFramePr>
          <p:cNvPr id="4" name="Table 3">
            <a:extLst>
              <a:ext uri="{FF2B5EF4-FFF2-40B4-BE49-F238E27FC236}">
                <a16:creationId xmlns:a16="http://schemas.microsoft.com/office/drawing/2014/main" id="{7CC98759-CEFB-65EA-40AA-C327FB5D2429}"/>
              </a:ext>
            </a:extLst>
          </p:cNvPr>
          <p:cNvGraphicFramePr>
            <a:graphicFrameLocks noGrp="1"/>
          </p:cNvGraphicFramePr>
          <p:nvPr>
            <p:extLst>
              <p:ext uri="{D42A27DB-BD31-4B8C-83A1-F6EECF244321}">
                <p14:modId xmlns:p14="http://schemas.microsoft.com/office/powerpoint/2010/main" val="658628006"/>
              </p:ext>
            </p:extLst>
          </p:nvPr>
        </p:nvGraphicFramePr>
        <p:xfrm>
          <a:off x="255639" y="847069"/>
          <a:ext cx="10515600" cy="2194560"/>
        </p:xfrm>
        <a:graphic>
          <a:graphicData uri="http://schemas.openxmlformats.org/drawingml/2006/table">
            <a:tbl>
              <a:tblPr/>
              <a:tblGrid>
                <a:gridCol w="2628900">
                  <a:extLst>
                    <a:ext uri="{9D8B030D-6E8A-4147-A177-3AD203B41FA5}">
                      <a16:colId xmlns:a16="http://schemas.microsoft.com/office/drawing/2014/main" val="3921909600"/>
                    </a:ext>
                  </a:extLst>
                </a:gridCol>
                <a:gridCol w="2628900">
                  <a:extLst>
                    <a:ext uri="{9D8B030D-6E8A-4147-A177-3AD203B41FA5}">
                      <a16:colId xmlns:a16="http://schemas.microsoft.com/office/drawing/2014/main" val="2829458062"/>
                    </a:ext>
                  </a:extLst>
                </a:gridCol>
                <a:gridCol w="2628900">
                  <a:extLst>
                    <a:ext uri="{9D8B030D-6E8A-4147-A177-3AD203B41FA5}">
                      <a16:colId xmlns:a16="http://schemas.microsoft.com/office/drawing/2014/main" val="2103001491"/>
                    </a:ext>
                  </a:extLst>
                </a:gridCol>
                <a:gridCol w="2628900">
                  <a:extLst>
                    <a:ext uri="{9D8B030D-6E8A-4147-A177-3AD203B41FA5}">
                      <a16:colId xmlns:a16="http://schemas.microsoft.com/office/drawing/2014/main" val="3918503162"/>
                    </a:ext>
                  </a:extLst>
                </a:gridCol>
              </a:tblGrid>
              <a:tr h="0">
                <a:tc>
                  <a:txBody>
                    <a:bodyPr/>
                    <a:lstStyle/>
                    <a:p>
                      <a:pPr>
                        <a:buNone/>
                      </a:pPr>
                      <a:r>
                        <a:rPr lang="en-IN" b="1"/>
                        <a:t>Student</a:t>
                      </a:r>
                    </a:p>
                  </a:txBody>
                  <a:tcPr anchor="ctr">
                    <a:lnL>
                      <a:noFill/>
                    </a:lnL>
                    <a:lnR>
                      <a:noFill/>
                    </a:lnR>
                    <a:lnT>
                      <a:noFill/>
                    </a:lnT>
                    <a:lnB>
                      <a:noFill/>
                    </a:lnB>
                    <a:noFill/>
                  </a:tcPr>
                </a:tc>
                <a:tc>
                  <a:txBody>
                    <a:bodyPr/>
                    <a:lstStyle/>
                    <a:p>
                      <a:pPr>
                        <a:buNone/>
                      </a:pPr>
                      <a:r>
                        <a:rPr lang="en-IN" b="1"/>
                        <a:t>Attendance</a:t>
                      </a:r>
                    </a:p>
                  </a:txBody>
                  <a:tcPr anchor="ctr">
                    <a:lnL>
                      <a:noFill/>
                    </a:lnL>
                    <a:lnR>
                      <a:noFill/>
                    </a:lnR>
                    <a:lnT>
                      <a:noFill/>
                    </a:lnT>
                    <a:lnB>
                      <a:noFill/>
                    </a:lnB>
                    <a:noFill/>
                  </a:tcPr>
                </a:tc>
                <a:tc>
                  <a:txBody>
                    <a:bodyPr/>
                    <a:lstStyle/>
                    <a:p>
                      <a:pPr>
                        <a:buNone/>
                      </a:pPr>
                      <a:r>
                        <a:rPr lang="en-IN" b="1"/>
                        <a:t>IA Marks</a:t>
                      </a:r>
                    </a:p>
                  </a:txBody>
                  <a:tcPr anchor="ctr">
                    <a:lnL>
                      <a:noFill/>
                    </a:lnL>
                    <a:lnR>
                      <a:noFill/>
                    </a:lnR>
                    <a:lnT>
                      <a:noFill/>
                    </a:lnT>
                    <a:lnB>
                      <a:noFill/>
                    </a:lnB>
                    <a:noFill/>
                  </a:tcPr>
                </a:tc>
                <a:tc>
                  <a:txBody>
                    <a:bodyPr/>
                    <a:lstStyle/>
                    <a:p>
                      <a:pPr>
                        <a:buNone/>
                      </a:pPr>
                      <a:r>
                        <a:rPr lang="en-IN" b="1" dirty="0"/>
                        <a:t>Final Marks</a:t>
                      </a:r>
                    </a:p>
                  </a:txBody>
                  <a:tcPr anchor="ctr">
                    <a:lnL>
                      <a:noFill/>
                    </a:lnL>
                    <a:lnR>
                      <a:noFill/>
                    </a:lnR>
                    <a:lnT>
                      <a:noFill/>
                    </a:lnT>
                    <a:lnB>
                      <a:noFill/>
                    </a:lnB>
                    <a:noFill/>
                  </a:tcPr>
                </a:tc>
                <a:extLst>
                  <a:ext uri="{0D108BD9-81ED-4DB2-BD59-A6C34878D82A}">
                    <a16:rowId xmlns:a16="http://schemas.microsoft.com/office/drawing/2014/main" val="3621392181"/>
                  </a:ext>
                </a:extLst>
              </a:tr>
              <a:tr h="0">
                <a:tc>
                  <a:txBody>
                    <a:bodyPr/>
                    <a:lstStyle/>
                    <a:p>
                      <a:pPr>
                        <a:buNone/>
                      </a:pPr>
                      <a:r>
                        <a:rPr lang="en-IN" dirty="0"/>
                        <a:t>Ravi</a:t>
                      </a:r>
                    </a:p>
                  </a:txBody>
                  <a:tcPr anchor="ctr">
                    <a:lnL>
                      <a:noFill/>
                    </a:lnL>
                    <a:lnR>
                      <a:noFill/>
                    </a:lnR>
                    <a:lnT>
                      <a:noFill/>
                    </a:lnT>
                    <a:lnB>
                      <a:noFill/>
                    </a:lnB>
                    <a:noFill/>
                  </a:tcPr>
                </a:tc>
                <a:tc>
                  <a:txBody>
                    <a:bodyPr/>
                    <a:lstStyle/>
                    <a:p>
                      <a:pPr>
                        <a:buNone/>
                      </a:pPr>
                      <a:r>
                        <a:rPr lang="en-IN"/>
                        <a:t>92%</a:t>
                      </a:r>
                    </a:p>
                  </a:txBody>
                  <a:tcPr anchor="ctr">
                    <a:lnL>
                      <a:noFill/>
                    </a:lnL>
                    <a:lnR>
                      <a:noFill/>
                    </a:lnR>
                    <a:lnT>
                      <a:noFill/>
                    </a:lnT>
                    <a:lnB>
                      <a:noFill/>
                    </a:lnB>
                    <a:noFill/>
                  </a:tcPr>
                </a:tc>
                <a:tc>
                  <a:txBody>
                    <a:bodyPr/>
                    <a:lstStyle/>
                    <a:p>
                      <a:pPr>
                        <a:buNone/>
                      </a:pPr>
                      <a:r>
                        <a:rPr lang="en-IN"/>
                        <a:t>82</a:t>
                      </a:r>
                    </a:p>
                  </a:txBody>
                  <a:tcPr anchor="ctr">
                    <a:lnL>
                      <a:noFill/>
                    </a:lnL>
                    <a:lnR>
                      <a:noFill/>
                    </a:lnR>
                    <a:lnT>
                      <a:noFill/>
                    </a:lnT>
                    <a:lnB>
                      <a:noFill/>
                    </a:lnB>
                    <a:noFill/>
                  </a:tcPr>
                </a:tc>
                <a:tc>
                  <a:txBody>
                    <a:bodyPr/>
                    <a:lstStyle/>
                    <a:p>
                      <a:pPr>
                        <a:buNone/>
                      </a:pPr>
                      <a:r>
                        <a:rPr lang="en-IN" dirty="0"/>
                        <a:t>88</a:t>
                      </a:r>
                    </a:p>
                  </a:txBody>
                  <a:tcPr anchor="ctr">
                    <a:lnL>
                      <a:noFill/>
                    </a:lnL>
                    <a:lnR>
                      <a:noFill/>
                    </a:lnR>
                    <a:lnT>
                      <a:noFill/>
                    </a:lnT>
                    <a:lnB>
                      <a:noFill/>
                    </a:lnB>
                    <a:noFill/>
                  </a:tcPr>
                </a:tc>
                <a:extLst>
                  <a:ext uri="{0D108BD9-81ED-4DB2-BD59-A6C34878D82A}">
                    <a16:rowId xmlns:a16="http://schemas.microsoft.com/office/drawing/2014/main" val="219988895"/>
                  </a:ext>
                </a:extLst>
              </a:tr>
              <a:tr h="0">
                <a:tc>
                  <a:txBody>
                    <a:bodyPr/>
                    <a:lstStyle/>
                    <a:p>
                      <a:pPr>
                        <a:buNone/>
                      </a:pPr>
                      <a:r>
                        <a:rPr lang="en-IN"/>
                        <a:t>Priya</a:t>
                      </a:r>
                    </a:p>
                  </a:txBody>
                  <a:tcPr anchor="ctr">
                    <a:lnL>
                      <a:noFill/>
                    </a:lnL>
                    <a:lnR>
                      <a:noFill/>
                    </a:lnR>
                    <a:lnT>
                      <a:noFill/>
                    </a:lnT>
                    <a:lnB>
                      <a:noFill/>
                    </a:lnB>
                    <a:noFill/>
                  </a:tcPr>
                </a:tc>
                <a:tc>
                  <a:txBody>
                    <a:bodyPr/>
                    <a:lstStyle/>
                    <a:p>
                      <a:pPr>
                        <a:buNone/>
                      </a:pPr>
                      <a:r>
                        <a:rPr lang="en-IN"/>
                        <a:t>85%</a:t>
                      </a:r>
                    </a:p>
                  </a:txBody>
                  <a:tcPr anchor="ctr">
                    <a:lnL>
                      <a:noFill/>
                    </a:lnL>
                    <a:lnR>
                      <a:noFill/>
                    </a:lnR>
                    <a:lnT>
                      <a:noFill/>
                    </a:lnT>
                    <a:lnB>
                      <a:noFill/>
                    </a:lnB>
                    <a:noFill/>
                  </a:tcPr>
                </a:tc>
                <a:tc>
                  <a:txBody>
                    <a:bodyPr/>
                    <a:lstStyle/>
                    <a:p>
                      <a:pPr>
                        <a:buNone/>
                      </a:pPr>
                      <a:r>
                        <a:rPr lang="en-IN"/>
                        <a:t>78</a:t>
                      </a:r>
                    </a:p>
                  </a:txBody>
                  <a:tcPr anchor="ctr">
                    <a:lnL>
                      <a:noFill/>
                    </a:lnL>
                    <a:lnR>
                      <a:noFill/>
                    </a:lnR>
                    <a:lnT>
                      <a:noFill/>
                    </a:lnT>
                    <a:lnB>
                      <a:noFill/>
                    </a:lnB>
                    <a:noFill/>
                  </a:tcPr>
                </a:tc>
                <a:tc>
                  <a:txBody>
                    <a:bodyPr/>
                    <a:lstStyle/>
                    <a:p>
                      <a:pPr>
                        <a:buNone/>
                      </a:pPr>
                      <a:r>
                        <a:rPr lang="en-IN"/>
                        <a:t>81</a:t>
                      </a:r>
                    </a:p>
                  </a:txBody>
                  <a:tcPr anchor="ctr">
                    <a:lnL>
                      <a:noFill/>
                    </a:lnL>
                    <a:lnR>
                      <a:noFill/>
                    </a:lnR>
                    <a:lnT>
                      <a:noFill/>
                    </a:lnT>
                    <a:lnB>
                      <a:noFill/>
                    </a:lnB>
                    <a:noFill/>
                  </a:tcPr>
                </a:tc>
                <a:extLst>
                  <a:ext uri="{0D108BD9-81ED-4DB2-BD59-A6C34878D82A}">
                    <a16:rowId xmlns:a16="http://schemas.microsoft.com/office/drawing/2014/main" val="942609575"/>
                  </a:ext>
                </a:extLst>
              </a:tr>
              <a:tr h="0">
                <a:tc>
                  <a:txBody>
                    <a:bodyPr/>
                    <a:lstStyle/>
                    <a:p>
                      <a:pPr>
                        <a:buNone/>
                      </a:pPr>
                      <a:r>
                        <a:rPr lang="en-IN"/>
                        <a:t>Arun</a:t>
                      </a:r>
                    </a:p>
                  </a:txBody>
                  <a:tcPr anchor="ctr">
                    <a:lnL>
                      <a:noFill/>
                    </a:lnL>
                    <a:lnR>
                      <a:noFill/>
                    </a:lnR>
                    <a:lnT>
                      <a:noFill/>
                    </a:lnT>
                    <a:lnB>
                      <a:noFill/>
                    </a:lnB>
                    <a:noFill/>
                  </a:tcPr>
                </a:tc>
                <a:tc>
                  <a:txBody>
                    <a:bodyPr/>
                    <a:lstStyle/>
                    <a:p>
                      <a:pPr>
                        <a:buNone/>
                      </a:pPr>
                      <a:r>
                        <a:rPr lang="en-IN"/>
                        <a:t>62%</a:t>
                      </a:r>
                    </a:p>
                  </a:txBody>
                  <a:tcPr anchor="ctr">
                    <a:lnL>
                      <a:noFill/>
                    </a:lnL>
                    <a:lnR>
                      <a:noFill/>
                    </a:lnR>
                    <a:lnT>
                      <a:noFill/>
                    </a:lnT>
                    <a:lnB>
                      <a:noFill/>
                    </a:lnB>
                    <a:noFill/>
                  </a:tcPr>
                </a:tc>
                <a:tc>
                  <a:txBody>
                    <a:bodyPr/>
                    <a:lstStyle/>
                    <a:p>
                      <a:pPr>
                        <a:buNone/>
                      </a:pPr>
                      <a:r>
                        <a:rPr lang="en-IN"/>
                        <a:t>45</a:t>
                      </a:r>
                    </a:p>
                  </a:txBody>
                  <a:tcPr anchor="ctr">
                    <a:lnL>
                      <a:noFill/>
                    </a:lnL>
                    <a:lnR>
                      <a:noFill/>
                    </a:lnR>
                    <a:lnT>
                      <a:noFill/>
                    </a:lnT>
                    <a:lnB>
                      <a:noFill/>
                    </a:lnB>
                    <a:noFill/>
                  </a:tcPr>
                </a:tc>
                <a:tc>
                  <a:txBody>
                    <a:bodyPr/>
                    <a:lstStyle/>
                    <a:p>
                      <a:pPr>
                        <a:buNone/>
                      </a:pPr>
                      <a:r>
                        <a:rPr lang="en-IN"/>
                        <a:t>51</a:t>
                      </a:r>
                    </a:p>
                  </a:txBody>
                  <a:tcPr anchor="ctr">
                    <a:lnL>
                      <a:noFill/>
                    </a:lnL>
                    <a:lnR>
                      <a:noFill/>
                    </a:lnR>
                    <a:lnT>
                      <a:noFill/>
                    </a:lnT>
                    <a:lnB>
                      <a:noFill/>
                    </a:lnB>
                    <a:noFill/>
                  </a:tcPr>
                </a:tc>
                <a:extLst>
                  <a:ext uri="{0D108BD9-81ED-4DB2-BD59-A6C34878D82A}">
                    <a16:rowId xmlns:a16="http://schemas.microsoft.com/office/drawing/2014/main" val="680281969"/>
                  </a:ext>
                </a:extLst>
              </a:tr>
              <a:tr h="0">
                <a:tc>
                  <a:txBody>
                    <a:bodyPr/>
                    <a:lstStyle/>
                    <a:p>
                      <a:pPr>
                        <a:buNone/>
                      </a:pPr>
                      <a:r>
                        <a:rPr lang="en-IN"/>
                        <a:t>Sneha</a:t>
                      </a:r>
                    </a:p>
                  </a:txBody>
                  <a:tcPr anchor="ctr">
                    <a:lnL>
                      <a:noFill/>
                    </a:lnL>
                    <a:lnR>
                      <a:noFill/>
                    </a:lnR>
                    <a:lnT>
                      <a:noFill/>
                    </a:lnT>
                    <a:lnB>
                      <a:noFill/>
                    </a:lnB>
                    <a:noFill/>
                  </a:tcPr>
                </a:tc>
                <a:tc>
                  <a:txBody>
                    <a:bodyPr/>
                    <a:lstStyle/>
                    <a:p>
                      <a:pPr>
                        <a:buNone/>
                      </a:pPr>
                      <a:r>
                        <a:rPr lang="en-IN"/>
                        <a:t>95%</a:t>
                      </a:r>
                    </a:p>
                  </a:txBody>
                  <a:tcPr anchor="ctr">
                    <a:lnL>
                      <a:noFill/>
                    </a:lnL>
                    <a:lnR>
                      <a:noFill/>
                    </a:lnR>
                    <a:lnT>
                      <a:noFill/>
                    </a:lnT>
                    <a:lnB>
                      <a:noFill/>
                    </a:lnB>
                    <a:noFill/>
                  </a:tcPr>
                </a:tc>
                <a:tc>
                  <a:txBody>
                    <a:bodyPr/>
                    <a:lstStyle/>
                    <a:p>
                      <a:pPr>
                        <a:buNone/>
                      </a:pPr>
                      <a:r>
                        <a:rPr lang="en-IN"/>
                        <a:t>90</a:t>
                      </a:r>
                    </a:p>
                  </a:txBody>
                  <a:tcPr anchor="ctr">
                    <a:lnL>
                      <a:noFill/>
                    </a:lnL>
                    <a:lnR>
                      <a:noFill/>
                    </a:lnR>
                    <a:lnT>
                      <a:noFill/>
                    </a:lnT>
                    <a:lnB>
                      <a:noFill/>
                    </a:lnB>
                    <a:noFill/>
                  </a:tcPr>
                </a:tc>
                <a:tc>
                  <a:txBody>
                    <a:bodyPr/>
                    <a:lstStyle/>
                    <a:p>
                      <a:pPr>
                        <a:buNone/>
                      </a:pPr>
                      <a:r>
                        <a:rPr lang="en-IN"/>
                        <a:t>94</a:t>
                      </a:r>
                    </a:p>
                  </a:txBody>
                  <a:tcPr anchor="ctr">
                    <a:lnL>
                      <a:noFill/>
                    </a:lnL>
                    <a:lnR>
                      <a:noFill/>
                    </a:lnR>
                    <a:lnT>
                      <a:noFill/>
                    </a:lnT>
                    <a:lnB>
                      <a:noFill/>
                    </a:lnB>
                    <a:noFill/>
                  </a:tcPr>
                </a:tc>
                <a:extLst>
                  <a:ext uri="{0D108BD9-81ED-4DB2-BD59-A6C34878D82A}">
                    <a16:rowId xmlns:a16="http://schemas.microsoft.com/office/drawing/2014/main" val="2322836597"/>
                  </a:ext>
                </a:extLst>
              </a:tr>
              <a:tr h="0">
                <a:tc>
                  <a:txBody>
                    <a:bodyPr/>
                    <a:lstStyle/>
                    <a:p>
                      <a:pPr>
                        <a:buNone/>
                      </a:pPr>
                      <a:r>
                        <a:rPr lang="en-IN"/>
                        <a:t>Kiran</a:t>
                      </a:r>
                    </a:p>
                  </a:txBody>
                  <a:tcPr anchor="ctr">
                    <a:lnL>
                      <a:noFill/>
                    </a:lnL>
                    <a:lnR>
                      <a:noFill/>
                    </a:lnR>
                    <a:lnT>
                      <a:noFill/>
                    </a:lnT>
                    <a:lnB>
                      <a:noFill/>
                    </a:lnB>
                    <a:noFill/>
                  </a:tcPr>
                </a:tc>
                <a:tc>
                  <a:txBody>
                    <a:bodyPr/>
                    <a:lstStyle/>
                    <a:p>
                      <a:pPr>
                        <a:buNone/>
                      </a:pPr>
                      <a:r>
                        <a:rPr lang="en-IN"/>
                        <a:t>58%</a:t>
                      </a:r>
                    </a:p>
                  </a:txBody>
                  <a:tcPr anchor="ctr">
                    <a:lnL>
                      <a:noFill/>
                    </a:lnL>
                    <a:lnR>
                      <a:noFill/>
                    </a:lnR>
                    <a:lnT>
                      <a:noFill/>
                    </a:lnT>
                    <a:lnB>
                      <a:noFill/>
                    </a:lnB>
                    <a:noFill/>
                  </a:tcPr>
                </a:tc>
                <a:tc>
                  <a:txBody>
                    <a:bodyPr/>
                    <a:lstStyle/>
                    <a:p>
                      <a:pPr>
                        <a:buNone/>
                      </a:pPr>
                      <a:r>
                        <a:rPr lang="en-IN"/>
                        <a:t>40</a:t>
                      </a:r>
                    </a:p>
                  </a:txBody>
                  <a:tcPr anchor="ctr">
                    <a:lnL>
                      <a:noFill/>
                    </a:lnL>
                    <a:lnR>
                      <a:noFill/>
                    </a:lnR>
                    <a:lnT>
                      <a:noFill/>
                    </a:lnT>
                    <a:lnB>
                      <a:noFill/>
                    </a:lnB>
                    <a:noFill/>
                  </a:tcPr>
                </a:tc>
                <a:tc>
                  <a:txBody>
                    <a:bodyPr/>
                    <a:lstStyle/>
                    <a:p>
                      <a:pPr>
                        <a:buNone/>
                      </a:pPr>
                      <a:r>
                        <a:rPr lang="en-IN" dirty="0"/>
                        <a:t>46</a:t>
                      </a:r>
                    </a:p>
                  </a:txBody>
                  <a:tcPr anchor="ctr">
                    <a:lnL>
                      <a:noFill/>
                    </a:lnL>
                    <a:lnR>
                      <a:noFill/>
                    </a:lnR>
                    <a:lnT>
                      <a:noFill/>
                    </a:lnT>
                    <a:lnB>
                      <a:noFill/>
                    </a:lnB>
                    <a:noFill/>
                  </a:tcPr>
                </a:tc>
                <a:extLst>
                  <a:ext uri="{0D108BD9-81ED-4DB2-BD59-A6C34878D82A}">
                    <a16:rowId xmlns:a16="http://schemas.microsoft.com/office/drawing/2014/main" val="2136046332"/>
                  </a:ext>
                </a:extLst>
              </a:tr>
            </a:tbl>
          </a:graphicData>
        </a:graphic>
      </p:graphicFrame>
      <p:sp>
        <p:nvSpPr>
          <p:cNvPr id="6" name="TextBox 5">
            <a:extLst>
              <a:ext uri="{FF2B5EF4-FFF2-40B4-BE49-F238E27FC236}">
                <a16:creationId xmlns:a16="http://schemas.microsoft.com/office/drawing/2014/main" id="{562105D3-AD2F-3057-0156-9FB3DCC750FC}"/>
              </a:ext>
            </a:extLst>
          </p:cNvPr>
          <p:cNvSpPr txBox="1"/>
          <p:nvPr/>
        </p:nvSpPr>
        <p:spPr>
          <a:xfrm>
            <a:off x="255639" y="3150977"/>
            <a:ext cx="10196051" cy="3785652"/>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This table is </a:t>
            </a:r>
            <a:r>
              <a:rPr lang="en-US" sz="2000" b="1" dirty="0">
                <a:latin typeface="Times New Roman" panose="02020603050405020304" pitchFamily="18" charset="0"/>
                <a:cs typeface="Times New Roman" panose="02020603050405020304" pitchFamily="18" charset="0"/>
              </a:rPr>
              <a:t>raw</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data</a:t>
            </a:r>
            <a:r>
              <a:rPr lang="en-US" sz="2000" dirty="0">
                <a:latin typeface="Times New Roman" panose="02020603050405020304" pitchFamily="18" charset="0"/>
                <a:cs typeface="Times New Roman" panose="02020603050405020304" pitchFamily="18" charset="0"/>
              </a:rPr>
              <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 college may want to know:</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 many students have attendance below 75%?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students are at academic risk?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subject has the lowest average marks?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department has the highest pass percentage?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Is attendance related to academic performance?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students need additional support? </a:t>
            </a:r>
          </a:p>
          <a:p>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Simply storing the data doesn't answer these questions.</a:t>
            </a:r>
          </a:p>
          <a:p>
            <a:pPr>
              <a:buNone/>
            </a:pPr>
            <a:r>
              <a:rPr lang="en-US" sz="2000" b="1" dirty="0">
                <a:latin typeface="Times New Roman" panose="02020603050405020304" pitchFamily="18" charset="0"/>
                <a:cs typeface="Times New Roman" panose="02020603050405020304" pitchFamily="18" charset="0"/>
              </a:rPr>
              <a:t>Analysis is required.</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146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0A4041-7BA8-1DBF-7530-6E82B9E3CD28}"/>
              </a:ext>
            </a:extLst>
          </p:cNvPr>
          <p:cNvSpPr txBox="1"/>
          <p:nvPr/>
        </p:nvSpPr>
        <p:spPr>
          <a:xfrm>
            <a:off x="147485" y="768379"/>
            <a:ext cx="11307096" cy="6032421"/>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Data Analytics Converts Data Into Information</a:t>
            </a:r>
          </a:p>
          <a:p>
            <a:pPr>
              <a:buNone/>
            </a:pPr>
            <a:endParaRPr lang="en-US" b="1" dirty="0"/>
          </a:p>
          <a:p>
            <a:pPr>
              <a:lnSpc>
                <a:spcPct val="150000"/>
              </a:lnSpc>
              <a:buNone/>
            </a:pPr>
            <a:r>
              <a:rPr lang="en-US" sz="2000" dirty="0">
                <a:latin typeface="Times New Roman" panose="02020603050405020304" pitchFamily="18" charset="0"/>
                <a:cs typeface="Times New Roman" panose="02020603050405020304" pitchFamily="18" charset="0"/>
              </a:rPr>
              <a:t>Suppose we analyze the attendance data.</a:t>
            </a:r>
          </a:p>
          <a:p>
            <a:pPr>
              <a:lnSpc>
                <a:spcPct val="150000"/>
              </a:lnSpc>
              <a:buNone/>
            </a:pPr>
            <a:r>
              <a:rPr lang="en-US" sz="2000" dirty="0">
                <a:latin typeface="Times New Roman" panose="02020603050405020304" pitchFamily="18" charset="0"/>
                <a:cs typeface="Times New Roman" panose="02020603050405020304" pitchFamily="18" charset="0"/>
              </a:rPr>
              <a:t>We find:</a:t>
            </a:r>
          </a:p>
          <a:p>
            <a:pPr>
              <a:lnSpc>
                <a:spcPct val="150000"/>
              </a:lnSpc>
              <a:buNone/>
            </a:pPr>
            <a:r>
              <a:rPr lang="en-US" sz="2000" b="1" dirty="0">
                <a:latin typeface="Times New Roman" panose="02020603050405020304" pitchFamily="18" charset="0"/>
                <a:cs typeface="Times New Roman" panose="02020603050405020304" pitchFamily="18" charset="0"/>
              </a:rPr>
              <a:t>25% of students have attendance below 75%.</a:t>
            </a:r>
          </a:p>
          <a:p>
            <a:pPr>
              <a:lnSpc>
                <a:spcPct val="150000"/>
              </a:lnSpc>
              <a:buNone/>
            </a:pPr>
            <a:r>
              <a:rPr lang="en-US" sz="2000" dirty="0">
                <a:latin typeface="Times New Roman" panose="02020603050405020304" pitchFamily="18" charset="0"/>
                <a:cs typeface="Times New Roman" panose="02020603050405020304" pitchFamily="18" charset="0"/>
              </a:rPr>
              <a:t>Now we have useful information.</a:t>
            </a:r>
          </a:p>
          <a:p>
            <a:pPr>
              <a:lnSpc>
                <a:spcPct val="150000"/>
              </a:lnSpc>
              <a:buNone/>
            </a:pPr>
            <a:endParaRPr lang="en-US" sz="2000" dirty="0">
              <a:latin typeface="Times New Roman" panose="02020603050405020304" pitchFamily="18" charset="0"/>
              <a:cs typeface="Times New Roman" panose="02020603050405020304" pitchFamily="18" charset="0"/>
            </a:endParaRPr>
          </a:p>
          <a:p>
            <a:pPr>
              <a:lnSpc>
                <a:spcPct val="150000"/>
              </a:lnSpc>
              <a:buNone/>
            </a:pPr>
            <a:r>
              <a:rPr lang="en-US" sz="2000" dirty="0">
                <a:latin typeface="Times New Roman" panose="02020603050405020304" pitchFamily="18" charset="0"/>
                <a:cs typeface="Times New Roman" panose="02020603050405020304" pitchFamily="18" charset="0"/>
              </a:rPr>
              <a:t>We analyze marks and discover:</a:t>
            </a:r>
          </a:p>
          <a:p>
            <a:pPr>
              <a:lnSpc>
                <a:spcPct val="150000"/>
              </a:lnSpc>
              <a:buNone/>
            </a:pPr>
            <a:r>
              <a:rPr lang="en-US" sz="2000" b="1" dirty="0">
                <a:latin typeface="Times New Roman" panose="02020603050405020304" pitchFamily="18" charset="0"/>
                <a:cs typeface="Times New Roman" panose="02020603050405020304" pitchFamily="18" charset="0"/>
              </a:rPr>
              <a:t>Students with low attendance generally have lower average marks.</a:t>
            </a:r>
          </a:p>
          <a:p>
            <a:pPr>
              <a:lnSpc>
                <a:spcPct val="150000"/>
              </a:lnSpc>
              <a:buNone/>
            </a:pPr>
            <a:r>
              <a:rPr lang="en-US" sz="2000" dirty="0">
                <a:latin typeface="Times New Roman" panose="02020603050405020304" pitchFamily="18" charset="0"/>
                <a:cs typeface="Times New Roman" panose="02020603050405020304" pitchFamily="18" charset="0"/>
              </a:rPr>
              <a:t>Now we have an </a:t>
            </a:r>
            <a:r>
              <a:rPr lang="en-US" sz="2000" b="1" dirty="0">
                <a:latin typeface="Times New Roman" panose="02020603050405020304" pitchFamily="18" charset="0"/>
                <a:cs typeface="Times New Roman" panose="02020603050405020304" pitchFamily="18" charset="0"/>
              </a:rPr>
              <a:t>insight</a:t>
            </a:r>
            <a:r>
              <a:rPr lang="en-US" sz="2000" dirty="0">
                <a:latin typeface="Times New Roman" panose="02020603050405020304" pitchFamily="18" charset="0"/>
                <a:cs typeface="Times New Roman" panose="02020603050405020304" pitchFamily="18" charset="0"/>
              </a:rPr>
              <a:t>.</a:t>
            </a:r>
          </a:p>
          <a:p>
            <a:pPr>
              <a:lnSpc>
                <a:spcPct val="150000"/>
              </a:lnSpc>
              <a:buNone/>
            </a:pPr>
            <a:endParaRPr lang="en-US" sz="2000" dirty="0">
              <a:latin typeface="Times New Roman" panose="02020603050405020304" pitchFamily="18" charset="0"/>
              <a:cs typeface="Times New Roman" panose="02020603050405020304" pitchFamily="18" charset="0"/>
            </a:endParaRPr>
          </a:p>
          <a:p>
            <a:pPr>
              <a:lnSpc>
                <a:spcPct val="150000"/>
              </a:lnSpc>
              <a:buNone/>
            </a:pPr>
            <a:r>
              <a:rPr lang="en-US" sz="2000" dirty="0">
                <a:latin typeface="Times New Roman" panose="02020603050405020304" pitchFamily="18" charset="0"/>
                <a:cs typeface="Times New Roman" panose="02020603050405020304" pitchFamily="18" charset="0"/>
              </a:rPr>
              <a:t>The college can then take action:</a:t>
            </a:r>
          </a:p>
          <a:p>
            <a:pPr>
              <a:lnSpc>
                <a:spcPct val="150000"/>
              </a:lnSpc>
              <a:buNone/>
            </a:pPr>
            <a:r>
              <a:rPr lang="en-US" sz="2000" b="1" dirty="0">
                <a:latin typeface="Times New Roman" panose="02020603050405020304" pitchFamily="18" charset="0"/>
                <a:cs typeface="Times New Roman" panose="02020603050405020304" pitchFamily="18" charset="0"/>
              </a:rPr>
              <a:t>Provide academic counseling and additional support to students with low attendance.</a:t>
            </a:r>
          </a:p>
          <a:p>
            <a:pPr>
              <a:buNone/>
            </a:pPr>
            <a:endParaRPr lang="en-US" dirty="0"/>
          </a:p>
        </p:txBody>
      </p:sp>
    </p:spTree>
    <p:extLst>
      <p:ext uri="{BB962C8B-B14F-4D97-AF65-F5344CB8AC3E}">
        <p14:creationId xmlns:p14="http://schemas.microsoft.com/office/powerpoint/2010/main" val="742768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75471F-E48F-FA0A-31CD-083406BAE6E0}"/>
              </a:ext>
            </a:extLst>
          </p:cNvPr>
          <p:cNvSpPr txBox="1"/>
          <p:nvPr/>
        </p:nvSpPr>
        <p:spPr>
          <a:xfrm>
            <a:off x="1012723" y="521111"/>
            <a:ext cx="8131277" cy="4093428"/>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So, the flow is: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Raw Data</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t>
            </a:r>
          </a:p>
          <a:p>
            <a:pPr>
              <a:buNone/>
            </a:pPr>
            <a:r>
              <a:rPr lang="en-US" sz="2000" b="1" dirty="0">
                <a:latin typeface="Times New Roman" panose="02020603050405020304" pitchFamily="18" charset="0"/>
                <a:cs typeface="Times New Roman" panose="02020603050405020304" pitchFamily="18" charset="0"/>
              </a:rPr>
              <a:t>Data Analytics</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t>
            </a:r>
          </a:p>
          <a:p>
            <a:pPr>
              <a:buNone/>
            </a:pPr>
            <a:r>
              <a:rPr lang="en-US" sz="2000" b="1" dirty="0">
                <a:latin typeface="Times New Roman" panose="02020603050405020304" pitchFamily="18" charset="0"/>
                <a:cs typeface="Times New Roman" panose="02020603050405020304" pitchFamily="18" charset="0"/>
              </a:rPr>
              <a:t>Information</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t>
            </a:r>
          </a:p>
          <a:p>
            <a:pPr>
              <a:buNone/>
            </a:pPr>
            <a:r>
              <a:rPr lang="en-US" sz="2000" b="1" dirty="0">
                <a:latin typeface="Times New Roman" panose="02020603050405020304" pitchFamily="18" charset="0"/>
                <a:cs typeface="Times New Roman" panose="02020603050405020304" pitchFamily="18" charset="0"/>
              </a:rPr>
              <a:t>Insight</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t>
            </a:r>
          </a:p>
          <a:p>
            <a:pPr>
              <a:buNone/>
            </a:pPr>
            <a:r>
              <a:rPr lang="en-US" sz="2000" b="1" dirty="0">
                <a:latin typeface="Times New Roman" panose="02020603050405020304" pitchFamily="18" charset="0"/>
                <a:cs typeface="Times New Roman" panose="02020603050405020304" pitchFamily="18" charset="0"/>
              </a:rPr>
              <a:t>Decision</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t>
            </a:r>
          </a:p>
          <a:p>
            <a:pPr>
              <a:buNone/>
            </a:pPr>
            <a:r>
              <a:rPr lang="en-US" sz="2000" b="1" dirty="0">
                <a:latin typeface="Times New Roman" panose="02020603050405020304" pitchFamily="18" charset="0"/>
                <a:cs typeface="Times New Roman" panose="02020603050405020304" pitchFamily="18" charset="0"/>
              </a:rPr>
              <a:t>Action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8534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0D6F1E-00E6-ACC6-5CF2-EA62D2E58535}"/>
              </a:ext>
            </a:extLst>
          </p:cNvPr>
          <p:cNvSpPr txBox="1"/>
          <p:nvPr/>
        </p:nvSpPr>
        <p:spPr>
          <a:xfrm>
            <a:off x="294966" y="0"/>
            <a:ext cx="11592233" cy="6217087"/>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2. Example: Bank</a:t>
            </a:r>
          </a:p>
          <a:p>
            <a:pPr>
              <a:buNone/>
            </a:pPr>
            <a:r>
              <a:rPr lang="en-US" sz="2000" dirty="0">
                <a:latin typeface="Times New Roman" panose="02020603050405020304" pitchFamily="18" charset="0"/>
                <a:cs typeface="Times New Roman" panose="02020603050405020304" pitchFamily="18" charset="0"/>
              </a:rPr>
              <a:t>Every day, a bank may process </a:t>
            </a:r>
            <a:r>
              <a:rPr lang="en-US" sz="2000" b="1" dirty="0">
                <a:latin typeface="Times New Roman" panose="02020603050405020304" pitchFamily="18" charset="0"/>
                <a:cs typeface="Times New Roman" panose="02020603050405020304" pitchFamily="18" charset="0"/>
              </a:rPr>
              <a:t>millions of transactions</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For example: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₹500 UPI payment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₹2,000 ATM withdrawal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₹1,500 online purchase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₹20,000 bank transfer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₹50,000 cash withdrawal </a:t>
            </a:r>
          </a:p>
          <a:p>
            <a:pPr>
              <a:buNone/>
            </a:pPr>
            <a:r>
              <a:rPr lang="en-US" sz="2000" dirty="0">
                <a:latin typeface="Times New Roman" panose="02020603050405020304" pitchFamily="18" charset="0"/>
                <a:cs typeface="Times New Roman" panose="02020603050405020304" pitchFamily="18" charset="0"/>
              </a:rPr>
              <a:t>All these transactions generate data.       But the bank doesn't just want to store them.</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 bank wants to know:</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customers are actively using the bank?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customers are not using their accounts?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transactions are unusual?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customers may be likely to take a loan?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Are there suspicious transactions?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services are most popular? </a:t>
            </a:r>
          </a:p>
          <a:p>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Data Analytics helps answer these questions. Where, Analytics helps banks understand transaction data and customer behavior</a:t>
            </a:r>
          </a:p>
        </p:txBody>
      </p:sp>
    </p:spTree>
    <p:extLst>
      <p:ext uri="{BB962C8B-B14F-4D97-AF65-F5344CB8AC3E}">
        <p14:creationId xmlns:p14="http://schemas.microsoft.com/office/powerpoint/2010/main" val="3923110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15EC75-89CC-7B27-AB2D-4627D79D5F91}"/>
              </a:ext>
            </a:extLst>
          </p:cNvPr>
          <p:cNvSpPr txBox="1"/>
          <p:nvPr/>
        </p:nvSpPr>
        <p:spPr>
          <a:xfrm>
            <a:off x="206478" y="197346"/>
            <a:ext cx="11562735" cy="6555641"/>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3.Fraud Detection Example</a:t>
            </a:r>
          </a:p>
          <a:p>
            <a:pPr>
              <a:buNone/>
            </a:pPr>
            <a:r>
              <a:rPr lang="en-US" sz="2000" dirty="0">
                <a:latin typeface="Times New Roman" panose="02020603050405020304" pitchFamily="18" charset="0"/>
                <a:cs typeface="Times New Roman" panose="02020603050405020304" pitchFamily="18" charset="0"/>
              </a:rPr>
              <a:t>Suppose a customer's normal transactions look like this:</a:t>
            </a:r>
          </a:p>
          <a:p>
            <a:pPr rtl="0">
              <a:buNone/>
            </a:pPr>
            <a:r>
              <a:rPr lang="en-US" sz="2000" dirty="0">
                <a:latin typeface="Times New Roman" panose="02020603050405020304" pitchFamily="18" charset="0"/>
                <a:cs typeface="Times New Roman" panose="02020603050405020304" pitchFamily="18" charset="0"/>
              </a:rPr>
              <a:t>₹500</a:t>
            </a:r>
          </a:p>
          <a:p>
            <a:pPr rtl="0">
              <a:buNone/>
            </a:pPr>
            <a:r>
              <a:rPr lang="en-US" sz="2000" dirty="0">
                <a:latin typeface="Times New Roman" panose="02020603050405020304" pitchFamily="18" charset="0"/>
                <a:cs typeface="Times New Roman" panose="02020603050405020304" pitchFamily="18" charset="0"/>
              </a:rPr>
              <a:t>₹1,000</a:t>
            </a:r>
          </a:p>
          <a:p>
            <a:pPr rtl="0">
              <a:buNone/>
            </a:pPr>
            <a:r>
              <a:rPr lang="en-US" sz="2000" dirty="0">
                <a:latin typeface="Times New Roman" panose="02020603050405020304" pitchFamily="18" charset="0"/>
                <a:cs typeface="Times New Roman" panose="02020603050405020304" pitchFamily="18" charset="0"/>
              </a:rPr>
              <a:t>₹2,500</a:t>
            </a:r>
          </a:p>
          <a:p>
            <a:pPr rtl="0">
              <a:buNone/>
            </a:pPr>
            <a:r>
              <a:rPr lang="en-US" sz="2000" dirty="0">
                <a:latin typeface="Times New Roman" panose="02020603050405020304" pitchFamily="18" charset="0"/>
                <a:cs typeface="Times New Roman" panose="02020603050405020304" pitchFamily="18" charset="0"/>
              </a:rPr>
              <a:t>₹800</a:t>
            </a:r>
          </a:p>
          <a:p>
            <a:r>
              <a:rPr lang="en-US" sz="2000" dirty="0">
                <a:latin typeface="Times New Roman" panose="02020603050405020304" pitchFamily="18" charset="0"/>
                <a:cs typeface="Times New Roman" panose="02020603050405020304" pitchFamily="18" charset="0"/>
              </a:rPr>
              <a:t>₹1,500       Suddenly: ₹5,00,000 is transferred from the account</a:t>
            </a:r>
            <a:r>
              <a:rPr lang="en-US" sz="2000" b="1" dirty="0">
                <a:latin typeface="Times New Roman" panose="02020603050405020304" pitchFamily="18" charset="0"/>
                <a:cs typeface="Times New Roman" panose="02020603050405020304" pitchFamily="18" charset="0"/>
              </a:rPr>
              <a:t>. “Is this transaction automatically fraud?”</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 bank's analytics system can identify that this transaction is very different from the customer's usual behavior. It can flag it for further investigation.</a:t>
            </a:r>
          </a:p>
          <a:p>
            <a:pPr>
              <a:buNone/>
            </a:pPr>
            <a:r>
              <a:rPr lang="en-US" sz="2000" dirty="0">
                <a:latin typeface="Times New Roman" panose="02020603050405020304" pitchFamily="18" charset="0"/>
                <a:cs typeface="Times New Roman" panose="02020603050405020304" pitchFamily="18" charset="0"/>
              </a:rPr>
              <a:t>So:</a:t>
            </a:r>
          </a:p>
          <a:p>
            <a:pPr>
              <a:buNone/>
            </a:pPr>
            <a:r>
              <a:rPr lang="en-US" sz="2000" b="1" dirty="0">
                <a:latin typeface="Times New Roman" panose="02020603050405020304" pitchFamily="18" charset="0"/>
                <a:cs typeface="Times New Roman" panose="02020603050405020304" pitchFamily="18" charset="0"/>
              </a:rPr>
              <a:t>Transaction Data</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t>
            </a:r>
          </a:p>
          <a:p>
            <a:pPr>
              <a:buNone/>
            </a:pPr>
            <a:r>
              <a:rPr lang="en-US" sz="2000" b="1" dirty="0">
                <a:latin typeface="Times New Roman" panose="02020603050405020304" pitchFamily="18" charset="0"/>
                <a:cs typeface="Times New Roman" panose="02020603050405020304" pitchFamily="18" charset="0"/>
              </a:rPr>
              <a:t>Analytics</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t>
            </a:r>
          </a:p>
          <a:p>
            <a:pPr>
              <a:buNone/>
            </a:pPr>
            <a:r>
              <a:rPr lang="en-US" sz="2000" b="1" dirty="0">
                <a:latin typeface="Times New Roman" panose="02020603050405020304" pitchFamily="18" charset="0"/>
                <a:cs typeface="Times New Roman" panose="02020603050405020304" pitchFamily="18" charset="0"/>
              </a:rPr>
              <a:t>Unusual Pattern Detected</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t>
            </a:r>
          </a:p>
          <a:p>
            <a:pPr>
              <a:buNone/>
            </a:pPr>
            <a:r>
              <a:rPr lang="en-US" sz="2000" b="1" dirty="0">
                <a:latin typeface="Times New Roman" panose="02020603050405020304" pitchFamily="18" charset="0"/>
                <a:cs typeface="Times New Roman" panose="02020603050405020304" pitchFamily="18" charset="0"/>
              </a:rPr>
              <a:t>Possible Fraud</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t>
            </a:r>
          </a:p>
          <a:p>
            <a:pPr>
              <a:buNone/>
            </a:pPr>
            <a:r>
              <a:rPr lang="en-US" sz="2000" b="1" dirty="0">
                <a:latin typeface="Times New Roman" panose="02020603050405020304" pitchFamily="18" charset="0"/>
                <a:cs typeface="Times New Roman" panose="02020603050405020304" pitchFamily="18" charset="0"/>
              </a:rPr>
              <a:t>Bank Investigates</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This is one reason Data Analytics is extremely important in banking.</a:t>
            </a:r>
          </a:p>
        </p:txBody>
      </p:sp>
    </p:spTree>
    <p:extLst>
      <p:ext uri="{BB962C8B-B14F-4D97-AF65-F5344CB8AC3E}">
        <p14:creationId xmlns:p14="http://schemas.microsoft.com/office/powerpoint/2010/main" val="427882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77A5F5-EDDE-7EC7-B10D-43C4DE2A0A8C}"/>
              </a:ext>
            </a:extLst>
          </p:cNvPr>
          <p:cNvSpPr txBox="1"/>
          <p:nvPr/>
        </p:nvSpPr>
        <p:spPr>
          <a:xfrm>
            <a:off x="530942" y="363794"/>
            <a:ext cx="11139948" cy="5632311"/>
          </a:xfrm>
          <a:prstGeom prst="rect">
            <a:avLst/>
          </a:prstGeom>
          <a:noFill/>
        </p:spPr>
        <p:txBody>
          <a:bodyPr wrap="square">
            <a:spAutoFit/>
          </a:bodyPr>
          <a:lstStyle/>
          <a:p>
            <a:pPr>
              <a:buNone/>
            </a:pPr>
            <a:r>
              <a:rPr lang="en-US" sz="2000" b="1">
                <a:latin typeface="Times New Roman" panose="02020603050405020304" pitchFamily="18" charset="0"/>
                <a:cs typeface="Times New Roman" panose="02020603050405020304" pitchFamily="18" charset="0"/>
              </a:rPr>
              <a:t>4. E-Commerce Example</a:t>
            </a:r>
          </a:p>
          <a:p>
            <a:pPr>
              <a:buNone/>
            </a:pPr>
            <a:r>
              <a:rPr lang="en-US" sz="2000">
                <a:latin typeface="Times New Roman" panose="02020603050405020304" pitchFamily="18" charset="0"/>
                <a:cs typeface="Times New Roman" panose="02020603050405020304" pitchFamily="18" charset="0"/>
              </a:rPr>
              <a:t>Now take an online shopping website.</a:t>
            </a:r>
          </a:p>
          <a:p>
            <a:pPr>
              <a:buNone/>
            </a:pPr>
            <a:r>
              <a:rPr lang="en-US" sz="2000">
                <a:latin typeface="Times New Roman" panose="02020603050405020304" pitchFamily="18" charset="0"/>
                <a:cs typeface="Times New Roman" panose="02020603050405020304" pitchFamily="18" charset="0"/>
              </a:rPr>
              <a:t>Every time you use an e-commerce application, many activities generate data.</a:t>
            </a:r>
          </a:p>
          <a:p>
            <a:pPr>
              <a:buNone/>
            </a:pPr>
            <a:endParaRPr lang="en-US" sz="2000">
              <a:latin typeface="Times New Roman" panose="02020603050405020304" pitchFamily="18" charset="0"/>
              <a:cs typeface="Times New Roman" panose="02020603050405020304" pitchFamily="18" charset="0"/>
            </a:endParaRPr>
          </a:p>
          <a:p>
            <a:pPr>
              <a:buNone/>
            </a:pPr>
            <a:r>
              <a:rPr lang="en-US" sz="2000">
                <a:latin typeface="Times New Roman" panose="02020603050405020304" pitchFamily="18" charset="0"/>
                <a:cs typeface="Times New Roman" panose="02020603050405020304" pitchFamily="18" charset="0"/>
              </a:rPr>
              <a:t>For example:</a:t>
            </a:r>
          </a:p>
          <a:p>
            <a:pPr>
              <a:buNone/>
            </a:pPr>
            <a:r>
              <a:rPr lang="en-US" sz="2000">
                <a:latin typeface="Times New Roman" panose="02020603050405020304" pitchFamily="18" charset="0"/>
                <a:cs typeface="Times New Roman" panose="02020603050405020304" pitchFamily="18" charset="0"/>
              </a:rPr>
              <a:t>You search for:</a:t>
            </a:r>
          </a:p>
          <a:p>
            <a:pPr>
              <a:buNone/>
            </a:pPr>
            <a:r>
              <a:rPr lang="en-US" sz="2000" b="1">
                <a:latin typeface="Times New Roman" panose="02020603050405020304" pitchFamily="18" charset="0"/>
                <a:cs typeface="Times New Roman" panose="02020603050405020304" pitchFamily="18" charset="0"/>
              </a:rPr>
              <a:t>“Laptop”</a:t>
            </a:r>
            <a:endParaRPr lang="en-US" sz="2000">
              <a:latin typeface="Times New Roman" panose="02020603050405020304" pitchFamily="18" charset="0"/>
              <a:cs typeface="Times New Roman" panose="02020603050405020304" pitchFamily="18" charset="0"/>
            </a:endParaRPr>
          </a:p>
          <a:p>
            <a:pPr>
              <a:buNone/>
            </a:pPr>
            <a:endParaRPr lang="en-US" sz="2000">
              <a:latin typeface="Times New Roman" panose="02020603050405020304" pitchFamily="18" charset="0"/>
              <a:cs typeface="Times New Roman" panose="02020603050405020304" pitchFamily="18" charset="0"/>
            </a:endParaRPr>
          </a:p>
          <a:p>
            <a:pPr>
              <a:buNone/>
            </a:pPr>
            <a:r>
              <a:rPr lang="en-US" sz="2000">
                <a:latin typeface="Times New Roman" panose="02020603050405020304" pitchFamily="18" charset="0"/>
                <a:cs typeface="Times New Roman" panose="02020603050405020304" pitchFamily="18" charset="0"/>
              </a:rPr>
              <a:t>Then you:</a:t>
            </a:r>
          </a:p>
          <a:p>
            <a:pPr>
              <a:buFont typeface="+mj-lt"/>
              <a:buAutoNum type="arabicPeriod"/>
            </a:pPr>
            <a:r>
              <a:rPr lang="en-US" sz="2000">
                <a:latin typeface="Times New Roman" panose="02020603050405020304" pitchFamily="18" charset="0"/>
                <a:cs typeface="Times New Roman" panose="02020603050405020304" pitchFamily="18" charset="0"/>
              </a:rPr>
              <a:t>View a laptop. </a:t>
            </a:r>
          </a:p>
          <a:p>
            <a:pPr>
              <a:buFont typeface="+mj-lt"/>
              <a:buAutoNum type="arabicPeriod"/>
            </a:pPr>
            <a:r>
              <a:rPr lang="en-US" sz="2000">
                <a:latin typeface="Times New Roman" panose="02020603050405020304" pitchFamily="18" charset="0"/>
                <a:cs typeface="Times New Roman" panose="02020603050405020304" pitchFamily="18" charset="0"/>
              </a:rPr>
              <a:t>Compare two laptops. </a:t>
            </a:r>
          </a:p>
          <a:p>
            <a:pPr>
              <a:buFont typeface="+mj-lt"/>
              <a:buAutoNum type="arabicPeriod"/>
            </a:pPr>
            <a:r>
              <a:rPr lang="en-US" sz="2000">
                <a:latin typeface="Times New Roman" panose="02020603050405020304" pitchFamily="18" charset="0"/>
                <a:cs typeface="Times New Roman" panose="02020603050405020304" pitchFamily="18" charset="0"/>
              </a:rPr>
              <a:t>Add one to cart. </a:t>
            </a:r>
          </a:p>
          <a:p>
            <a:pPr>
              <a:buFont typeface="+mj-lt"/>
              <a:buAutoNum type="arabicPeriod"/>
            </a:pPr>
            <a:r>
              <a:rPr lang="en-US" sz="2000">
                <a:latin typeface="Times New Roman" panose="02020603050405020304" pitchFamily="18" charset="0"/>
                <a:cs typeface="Times New Roman" panose="02020603050405020304" pitchFamily="18" charset="0"/>
              </a:rPr>
              <a:t>Remove it. </a:t>
            </a:r>
          </a:p>
          <a:p>
            <a:pPr>
              <a:buFont typeface="+mj-lt"/>
              <a:buAutoNum type="arabicPeriod"/>
            </a:pPr>
            <a:r>
              <a:rPr lang="en-US" sz="2000">
                <a:latin typeface="Times New Roman" panose="02020603050405020304" pitchFamily="18" charset="0"/>
                <a:cs typeface="Times New Roman" panose="02020603050405020304" pitchFamily="18" charset="0"/>
              </a:rPr>
              <a:t>Search for another laptop. </a:t>
            </a:r>
          </a:p>
          <a:p>
            <a:pPr>
              <a:buFont typeface="+mj-lt"/>
              <a:buAutoNum type="arabicPeriod"/>
            </a:pPr>
            <a:r>
              <a:rPr lang="en-US" sz="2000">
                <a:latin typeface="Times New Roman" panose="02020603050405020304" pitchFamily="18" charset="0"/>
                <a:cs typeface="Times New Roman" panose="02020603050405020304" pitchFamily="18" charset="0"/>
              </a:rPr>
              <a:t>Finally purchase one. </a:t>
            </a:r>
          </a:p>
          <a:p>
            <a:endParaRPr lang="en-US"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Every action generates data.</a:t>
            </a:r>
            <a:endParaRPr lang="en-US" sz="200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677E151-6F3C-5705-23ED-0BEC91FDC0A0}"/>
              </a:ext>
            </a:extLst>
          </p:cNvPr>
          <p:cNvSpPr txBox="1"/>
          <p:nvPr/>
        </p:nvSpPr>
        <p:spPr>
          <a:xfrm>
            <a:off x="6096000" y="2062226"/>
            <a:ext cx="6243484" cy="2031325"/>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For example:</a:t>
            </a:r>
          </a:p>
          <a:p>
            <a:pPr>
              <a:buNone/>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What did you search?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Which product did you view?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How long did you view it?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Did you add it to cart?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Did you purchase it?</a:t>
            </a:r>
          </a:p>
        </p:txBody>
      </p:sp>
      <p:sp>
        <p:nvSpPr>
          <p:cNvPr id="6" name="TextBox 5">
            <a:extLst>
              <a:ext uri="{FF2B5EF4-FFF2-40B4-BE49-F238E27FC236}">
                <a16:creationId xmlns:a16="http://schemas.microsoft.com/office/drawing/2014/main" id="{3DFB2C3E-5A9F-A92B-DF8B-06591E885821}"/>
              </a:ext>
            </a:extLst>
          </p:cNvPr>
          <p:cNvSpPr txBox="1"/>
          <p:nvPr/>
        </p:nvSpPr>
        <p:spPr>
          <a:xfrm>
            <a:off x="6096000" y="4795774"/>
            <a:ext cx="6631858" cy="1200329"/>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“Do you think Amazon/Flipkart only stores your purchase?”</a:t>
            </a:r>
          </a:p>
          <a:p>
            <a:pPr>
              <a:buNone/>
            </a:pPr>
            <a:r>
              <a:rPr lang="en-US" b="1" dirty="0">
                <a:latin typeface="Times New Roman" panose="02020603050405020304" pitchFamily="18" charset="0"/>
                <a:cs typeface="Times New Roman" panose="02020603050405020304" pitchFamily="18" charset="0"/>
              </a:rPr>
              <a:t>No.</a:t>
            </a:r>
          </a:p>
          <a:p>
            <a:pPr>
              <a:buNone/>
            </a:pPr>
            <a:r>
              <a:rPr lang="en-US" dirty="0">
                <a:latin typeface="Times New Roman" panose="02020603050405020304" pitchFamily="18" charset="0"/>
                <a:cs typeface="Times New Roman" panose="02020603050405020304" pitchFamily="18" charset="0"/>
              </a:rPr>
              <a:t>There are many activities before the purchase.</a:t>
            </a:r>
          </a:p>
          <a:p>
            <a:pPr>
              <a:buNone/>
            </a:pPr>
            <a:r>
              <a:rPr lang="en-US" dirty="0">
                <a:latin typeface="Times New Roman" panose="02020603050405020304" pitchFamily="18" charset="0"/>
                <a:cs typeface="Times New Roman" panose="02020603050405020304" pitchFamily="18" charset="0"/>
              </a:rPr>
              <a:t>Those activities generate useful data.</a:t>
            </a:r>
          </a:p>
        </p:txBody>
      </p:sp>
    </p:spTree>
    <p:extLst>
      <p:ext uri="{BB962C8B-B14F-4D97-AF65-F5344CB8AC3E}">
        <p14:creationId xmlns:p14="http://schemas.microsoft.com/office/powerpoint/2010/main" val="3238819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6A766D-4A1E-D577-D74B-DED8689123EB}"/>
              </a:ext>
            </a:extLst>
          </p:cNvPr>
          <p:cNvSpPr txBox="1"/>
          <p:nvPr/>
        </p:nvSpPr>
        <p:spPr>
          <a:xfrm>
            <a:off x="629264" y="147484"/>
            <a:ext cx="11464413" cy="6361806"/>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Why Is This E-Commerce Data Useful?</a:t>
            </a:r>
          </a:p>
          <a:p>
            <a:pPr>
              <a:lnSpc>
                <a:spcPct val="150000"/>
              </a:lnSpc>
              <a:buNone/>
            </a:pPr>
            <a:r>
              <a:rPr lang="en-US" dirty="0">
                <a:latin typeface="Times New Roman" panose="02020603050405020304" pitchFamily="18" charset="0"/>
                <a:cs typeface="Times New Roman" panose="02020603050405020304" pitchFamily="18" charset="0"/>
              </a:rPr>
              <a:t>The company can analyze this data to understand:</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Customer behavior</a:t>
            </a:r>
          </a:p>
          <a:p>
            <a:pPr>
              <a:lnSpc>
                <a:spcPct val="150000"/>
              </a:lnSpc>
              <a:buNone/>
            </a:pPr>
            <a:r>
              <a:rPr lang="en-US" dirty="0">
                <a:latin typeface="Times New Roman" panose="02020603050405020304" pitchFamily="18" charset="0"/>
                <a:cs typeface="Times New Roman" panose="02020603050405020304" pitchFamily="18" charset="0"/>
              </a:rPr>
              <a:t>What products are customers interested in?</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Product popularity</a:t>
            </a:r>
          </a:p>
          <a:p>
            <a:pPr>
              <a:lnSpc>
                <a:spcPct val="150000"/>
              </a:lnSpc>
              <a:buNone/>
            </a:pPr>
            <a:r>
              <a:rPr lang="en-US" dirty="0">
                <a:latin typeface="Times New Roman" panose="02020603050405020304" pitchFamily="18" charset="0"/>
                <a:cs typeface="Times New Roman" panose="02020603050405020304" pitchFamily="18" charset="0"/>
              </a:rPr>
              <a:t>Which products are searched most frequently?</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Purchasing behavior</a:t>
            </a:r>
          </a:p>
          <a:p>
            <a:pPr>
              <a:lnSpc>
                <a:spcPct val="150000"/>
              </a:lnSpc>
              <a:buNone/>
            </a:pPr>
            <a:r>
              <a:rPr lang="en-US" dirty="0">
                <a:latin typeface="Times New Roman" panose="02020603050405020304" pitchFamily="18" charset="0"/>
                <a:cs typeface="Times New Roman" panose="02020603050405020304" pitchFamily="18" charset="0"/>
              </a:rPr>
              <a:t>Which products are actually purchased?</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Customer preferences</a:t>
            </a:r>
          </a:p>
          <a:p>
            <a:pPr>
              <a:lnSpc>
                <a:spcPct val="150000"/>
              </a:lnSpc>
              <a:buNone/>
            </a:pPr>
            <a:r>
              <a:rPr lang="en-US" dirty="0">
                <a:latin typeface="Times New Roman" panose="02020603050405020304" pitchFamily="18" charset="0"/>
                <a:cs typeface="Times New Roman" panose="02020603050405020304" pitchFamily="18" charset="0"/>
              </a:rPr>
              <a:t>What type of products does a particular customer prefer?</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Problems</a:t>
            </a:r>
          </a:p>
          <a:p>
            <a:pPr>
              <a:lnSpc>
                <a:spcPct val="150000"/>
              </a:lnSpc>
              <a:buNone/>
            </a:pPr>
            <a:r>
              <a:rPr lang="en-US" dirty="0">
                <a:latin typeface="Times New Roman" panose="02020603050405020304" pitchFamily="18" charset="0"/>
                <a:cs typeface="Times New Roman" panose="02020603050405020304" pitchFamily="18" charset="0"/>
              </a:rPr>
              <a:t>Why are customers adding products to the cart but not purchasing them?</a:t>
            </a:r>
          </a:p>
          <a:p>
            <a:pPr>
              <a:lnSpc>
                <a:spcPct val="150000"/>
              </a:lnSpc>
              <a:buNone/>
            </a:pPr>
            <a:r>
              <a:rPr lang="en-US" dirty="0">
                <a:latin typeface="Times New Roman" panose="02020603050405020304" pitchFamily="18" charset="0"/>
                <a:cs typeface="Times New Roman" panose="02020603050405020304" pitchFamily="18" charset="0"/>
              </a:rPr>
              <a:t>These insights can help the company improve its business.</a:t>
            </a:r>
          </a:p>
          <a:p>
            <a:pPr>
              <a:lnSpc>
                <a:spcPct val="150000"/>
              </a:lnSpc>
              <a:buNone/>
            </a:pPr>
            <a:r>
              <a:rPr lang="en-US" sz="2000" b="1" dirty="0">
                <a:latin typeface="Times New Roman" panose="02020603050405020304" pitchFamily="18" charset="0"/>
                <a:cs typeface="Times New Roman" panose="02020603050405020304" pitchFamily="18" charset="0"/>
              </a:rPr>
              <a:t>“The company is not just collecting customer activity. It is analyzing that activity to understand customers and improve the business.”</a:t>
            </a:r>
          </a:p>
        </p:txBody>
      </p:sp>
    </p:spTree>
    <p:extLst>
      <p:ext uri="{BB962C8B-B14F-4D97-AF65-F5344CB8AC3E}">
        <p14:creationId xmlns:p14="http://schemas.microsoft.com/office/powerpoint/2010/main" val="3184661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A6B0C-ACAD-3C26-14CF-3CB16874E4F4}"/>
              </a:ext>
            </a:extLst>
          </p:cNvPr>
          <p:cNvSpPr>
            <a:spLocks noGrp="1"/>
          </p:cNvSpPr>
          <p:nvPr>
            <p:ph type="title"/>
          </p:nvPr>
        </p:nvSpPr>
        <p:spPr>
          <a:xfrm>
            <a:off x="228600" y="-244475"/>
            <a:ext cx="10515600" cy="1325563"/>
          </a:xfrm>
        </p:spPr>
        <p:txBody>
          <a:bodyPr>
            <a:normAutofit/>
          </a:bodyPr>
          <a:lstStyle/>
          <a:p>
            <a:r>
              <a:rPr lang="en-IN" sz="2200" b="1" dirty="0">
                <a:solidFill>
                  <a:srgbClr val="FF0000"/>
                </a:solidFill>
                <a:latin typeface="Times New Roman" panose="02020603050405020304" pitchFamily="18" charset="0"/>
                <a:cs typeface="Times New Roman" panose="02020603050405020304" pitchFamily="18" charset="0"/>
              </a:rPr>
              <a:t>Importance of Data Analytics</a:t>
            </a:r>
          </a:p>
        </p:txBody>
      </p:sp>
      <p:sp>
        <p:nvSpPr>
          <p:cNvPr id="3" name="Content Placeholder 2">
            <a:extLst>
              <a:ext uri="{FF2B5EF4-FFF2-40B4-BE49-F238E27FC236}">
                <a16:creationId xmlns:a16="http://schemas.microsoft.com/office/drawing/2014/main" id="{B31A3424-7F0C-6085-E8C1-27CD26CC42A6}"/>
              </a:ext>
            </a:extLst>
          </p:cNvPr>
          <p:cNvSpPr>
            <a:spLocks noGrp="1"/>
          </p:cNvSpPr>
          <p:nvPr>
            <p:ph idx="1"/>
          </p:nvPr>
        </p:nvSpPr>
        <p:spPr>
          <a:xfrm>
            <a:off x="297426" y="871896"/>
            <a:ext cx="10515600" cy="4351338"/>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There are several reasons why Data Analytics is important.</a:t>
            </a:r>
          </a:p>
          <a:p>
            <a:pPr marL="0" indent="0">
              <a:buNone/>
            </a:pPr>
            <a:r>
              <a:rPr lang="en-US" sz="2000" b="1" dirty="0">
                <a:solidFill>
                  <a:srgbClr val="FF0000"/>
                </a:solidFill>
                <a:latin typeface="Times New Roman" panose="02020603050405020304" pitchFamily="18" charset="0"/>
                <a:cs typeface="Times New Roman" panose="02020603050405020304" pitchFamily="18" charset="0"/>
              </a:rPr>
              <a:t>1. Better Decision-Making</a:t>
            </a:r>
          </a:p>
          <a:p>
            <a:r>
              <a:rPr lang="en-US" sz="2000" dirty="0">
                <a:latin typeface="Times New Roman" panose="02020603050405020304" pitchFamily="18" charset="0"/>
                <a:cs typeface="Times New Roman" panose="02020603050405020304" pitchFamily="18" charset="0"/>
              </a:rPr>
              <a:t>Data Analytics helps organizations make decisions based on </a:t>
            </a:r>
            <a:r>
              <a:rPr lang="en-US" sz="2000" b="1" dirty="0">
                <a:latin typeface="Times New Roman" panose="02020603050405020304" pitchFamily="18" charset="0"/>
                <a:cs typeface="Times New Roman" panose="02020603050405020304" pitchFamily="18" charset="0"/>
              </a:rPr>
              <a:t>evidence rather than guesswork</a:t>
            </a: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Example</a:t>
            </a:r>
          </a:p>
          <a:p>
            <a:pPr marL="0" indent="0">
              <a:buNone/>
            </a:pPr>
            <a:r>
              <a:rPr lang="en-US" sz="2000" dirty="0">
                <a:latin typeface="Times New Roman" panose="02020603050405020304" pitchFamily="18" charset="0"/>
                <a:cs typeface="Times New Roman" panose="02020603050405020304" pitchFamily="18" charset="0"/>
              </a:rPr>
              <a:t>Suppose a restaurant wants to decide which food items to promote.</a:t>
            </a:r>
          </a:p>
          <a:p>
            <a:r>
              <a:rPr lang="en-US" sz="2000" dirty="0">
                <a:latin typeface="Times New Roman" panose="02020603050405020304" pitchFamily="18" charset="0"/>
                <a:cs typeface="Times New Roman" panose="02020603050405020304" pitchFamily="18" charset="0"/>
              </a:rPr>
              <a:t>Without analytics:</a:t>
            </a:r>
          </a:p>
          <a:p>
            <a:pPr marL="0" indent="0">
              <a:buNone/>
            </a:pPr>
            <a:r>
              <a:rPr lang="en-US" sz="2000" dirty="0">
                <a:latin typeface="Times New Roman" panose="02020603050405020304" pitchFamily="18" charset="0"/>
                <a:cs typeface="Times New Roman" panose="02020603050405020304" pitchFamily="18" charset="0"/>
              </a:rPr>
              <a:t>“I think pizza is the most popular.”</a:t>
            </a:r>
          </a:p>
          <a:p>
            <a:r>
              <a:rPr lang="en-US" sz="2000" dirty="0">
                <a:latin typeface="Times New Roman" panose="02020603050405020304" pitchFamily="18" charset="0"/>
                <a:cs typeface="Times New Roman" panose="02020603050405020304" pitchFamily="18" charset="0"/>
              </a:rPr>
              <a:t>With analytics: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IN" dirty="0"/>
          </a:p>
        </p:txBody>
      </p:sp>
      <p:graphicFrame>
        <p:nvGraphicFramePr>
          <p:cNvPr id="4" name="Table 3">
            <a:extLst>
              <a:ext uri="{FF2B5EF4-FFF2-40B4-BE49-F238E27FC236}">
                <a16:creationId xmlns:a16="http://schemas.microsoft.com/office/drawing/2014/main" id="{169AEB99-024C-97E9-96BF-06639C93BE06}"/>
              </a:ext>
            </a:extLst>
          </p:cNvPr>
          <p:cNvGraphicFramePr>
            <a:graphicFrameLocks noGrp="1"/>
          </p:cNvGraphicFramePr>
          <p:nvPr>
            <p:extLst>
              <p:ext uri="{D42A27DB-BD31-4B8C-83A1-F6EECF244321}">
                <p14:modId xmlns:p14="http://schemas.microsoft.com/office/powerpoint/2010/main" val="1792926110"/>
              </p:ext>
            </p:extLst>
          </p:nvPr>
        </p:nvGraphicFramePr>
        <p:xfrm>
          <a:off x="228600" y="4294518"/>
          <a:ext cx="8676409" cy="1857430"/>
        </p:xfrm>
        <a:graphic>
          <a:graphicData uri="http://schemas.openxmlformats.org/drawingml/2006/table">
            <a:tbl>
              <a:tblPr/>
              <a:tblGrid>
                <a:gridCol w="2358513">
                  <a:extLst>
                    <a:ext uri="{9D8B030D-6E8A-4147-A177-3AD203B41FA5}">
                      <a16:colId xmlns:a16="http://schemas.microsoft.com/office/drawing/2014/main" val="4105843094"/>
                    </a:ext>
                  </a:extLst>
                </a:gridCol>
                <a:gridCol w="6317896">
                  <a:extLst>
                    <a:ext uri="{9D8B030D-6E8A-4147-A177-3AD203B41FA5}">
                      <a16:colId xmlns:a16="http://schemas.microsoft.com/office/drawing/2014/main" val="937544820"/>
                    </a:ext>
                  </a:extLst>
                </a:gridCol>
              </a:tblGrid>
              <a:tr h="371486">
                <a:tc>
                  <a:txBody>
                    <a:bodyPr/>
                    <a:lstStyle/>
                    <a:p>
                      <a:pPr>
                        <a:buNone/>
                      </a:pPr>
                      <a:r>
                        <a:rPr lang="en-IN" b="1" dirty="0"/>
                        <a:t>Item</a:t>
                      </a:r>
                    </a:p>
                  </a:txBody>
                  <a:tcPr anchor="ctr">
                    <a:lnL>
                      <a:noFill/>
                    </a:lnL>
                    <a:lnR>
                      <a:noFill/>
                    </a:lnR>
                    <a:lnT>
                      <a:noFill/>
                    </a:lnT>
                    <a:lnB>
                      <a:noFill/>
                    </a:lnB>
                    <a:noFill/>
                  </a:tcPr>
                </a:tc>
                <a:tc>
                  <a:txBody>
                    <a:bodyPr/>
                    <a:lstStyle/>
                    <a:p>
                      <a:pPr>
                        <a:buNone/>
                      </a:pPr>
                      <a:r>
                        <a:rPr lang="en-IN" b="1" dirty="0"/>
                        <a:t>Monthly Sales</a:t>
                      </a:r>
                    </a:p>
                  </a:txBody>
                  <a:tcPr anchor="ctr">
                    <a:lnL>
                      <a:noFill/>
                    </a:lnL>
                    <a:lnR>
                      <a:noFill/>
                    </a:lnR>
                    <a:lnT>
                      <a:noFill/>
                    </a:lnT>
                    <a:lnB>
                      <a:noFill/>
                    </a:lnB>
                    <a:noFill/>
                  </a:tcPr>
                </a:tc>
                <a:extLst>
                  <a:ext uri="{0D108BD9-81ED-4DB2-BD59-A6C34878D82A}">
                    <a16:rowId xmlns:a16="http://schemas.microsoft.com/office/drawing/2014/main" val="1458639575"/>
                  </a:ext>
                </a:extLst>
              </a:tr>
              <a:tr h="371486">
                <a:tc>
                  <a:txBody>
                    <a:bodyPr/>
                    <a:lstStyle/>
                    <a:p>
                      <a:pPr>
                        <a:buNone/>
                      </a:pPr>
                      <a:r>
                        <a:rPr lang="en-IN"/>
                        <a:t>Pizza</a:t>
                      </a:r>
                    </a:p>
                  </a:txBody>
                  <a:tcPr anchor="ctr">
                    <a:lnL>
                      <a:noFill/>
                    </a:lnL>
                    <a:lnR>
                      <a:noFill/>
                    </a:lnR>
                    <a:lnT>
                      <a:noFill/>
                    </a:lnT>
                    <a:lnB>
                      <a:noFill/>
                    </a:lnB>
                    <a:noFill/>
                  </a:tcPr>
                </a:tc>
                <a:tc>
                  <a:txBody>
                    <a:bodyPr/>
                    <a:lstStyle/>
                    <a:p>
                      <a:pPr>
                        <a:buNone/>
                      </a:pPr>
                      <a:r>
                        <a:rPr lang="en-IN" dirty="0"/>
                        <a:t>1,200</a:t>
                      </a:r>
                    </a:p>
                  </a:txBody>
                  <a:tcPr anchor="ctr">
                    <a:lnL>
                      <a:noFill/>
                    </a:lnL>
                    <a:lnR>
                      <a:noFill/>
                    </a:lnR>
                    <a:lnT>
                      <a:noFill/>
                    </a:lnT>
                    <a:lnB>
                      <a:noFill/>
                    </a:lnB>
                    <a:noFill/>
                  </a:tcPr>
                </a:tc>
                <a:extLst>
                  <a:ext uri="{0D108BD9-81ED-4DB2-BD59-A6C34878D82A}">
                    <a16:rowId xmlns:a16="http://schemas.microsoft.com/office/drawing/2014/main" val="2240213267"/>
                  </a:ext>
                </a:extLst>
              </a:tr>
              <a:tr h="371486">
                <a:tc>
                  <a:txBody>
                    <a:bodyPr/>
                    <a:lstStyle/>
                    <a:p>
                      <a:pPr>
                        <a:buNone/>
                      </a:pPr>
                      <a:r>
                        <a:rPr lang="en-IN"/>
                        <a:t>Burger</a:t>
                      </a:r>
                    </a:p>
                  </a:txBody>
                  <a:tcPr anchor="ctr">
                    <a:lnL>
                      <a:noFill/>
                    </a:lnL>
                    <a:lnR>
                      <a:noFill/>
                    </a:lnR>
                    <a:lnT>
                      <a:noFill/>
                    </a:lnT>
                    <a:lnB>
                      <a:noFill/>
                    </a:lnB>
                    <a:noFill/>
                  </a:tcPr>
                </a:tc>
                <a:tc>
                  <a:txBody>
                    <a:bodyPr/>
                    <a:lstStyle/>
                    <a:p>
                      <a:pPr>
                        <a:buNone/>
                      </a:pPr>
                      <a:r>
                        <a:rPr lang="en-IN" dirty="0"/>
                        <a:t>800</a:t>
                      </a:r>
                    </a:p>
                  </a:txBody>
                  <a:tcPr anchor="ctr">
                    <a:lnL>
                      <a:noFill/>
                    </a:lnL>
                    <a:lnR>
                      <a:noFill/>
                    </a:lnR>
                    <a:lnT>
                      <a:noFill/>
                    </a:lnT>
                    <a:lnB>
                      <a:noFill/>
                    </a:lnB>
                    <a:noFill/>
                  </a:tcPr>
                </a:tc>
                <a:extLst>
                  <a:ext uri="{0D108BD9-81ED-4DB2-BD59-A6C34878D82A}">
                    <a16:rowId xmlns:a16="http://schemas.microsoft.com/office/drawing/2014/main" val="2796867239"/>
                  </a:ext>
                </a:extLst>
              </a:tr>
              <a:tr h="371486">
                <a:tc>
                  <a:txBody>
                    <a:bodyPr/>
                    <a:lstStyle/>
                    <a:p>
                      <a:pPr>
                        <a:buNone/>
                      </a:pPr>
                      <a:r>
                        <a:rPr lang="en-IN" dirty="0"/>
                        <a:t>Pasta</a:t>
                      </a:r>
                    </a:p>
                  </a:txBody>
                  <a:tcPr anchor="ctr">
                    <a:lnL>
                      <a:noFill/>
                    </a:lnL>
                    <a:lnR>
                      <a:noFill/>
                    </a:lnR>
                    <a:lnT>
                      <a:noFill/>
                    </a:lnT>
                    <a:lnB>
                      <a:noFill/>
                    </a:lnB>
                    <a:noFill/>
                  </a:tcPr>
                </a:tc>
                <a:tc>
                  <a:txBody>
                    <a:bodyPr/>
                    <a:lstStyle/>
                    <a:p>
                      <a:pPr>
                        <a:buNone/>
                      </a:pPr>
                      <a:r>
                        <a:rPr lang="en-IN"/>
                        <a:t>500</a:t>
                      </a:r>
                    </a:p>
                  </a:txBody>
                  <a:tcPr anchor="ctr">
                    <a:lnL>
                      <a:noFill/>
                    </a:lnL>
                    <a:lnR>
                      <a:noFill/>
                    </a:lnR>
                    <a:lnT>
                      <a:noFill/>
                    </a:lnT>
                    <a:lnB>
                      <a:noFill/>
                    </a:lnB>
                    <a:noFill/>
                  </a:tcPr>
                </a:tc>
                <a:extLst>
                  <a:ext uri="{0D108BD9-81ED-4DB2-BD59-A6C34878D82A}">
                    <a16:rowId xmlns:a16="http://schemas.microsoft.com/office/drawing/2014/main" val="2346306495"/>
                  </a:ext>
                </a:extLst>
              </a:tr>
              <a:tr h="371486">
                <a:tc>
                  <a:txBody>
                    <a:bodyPr/>
                    <a:lstStyle/>
                    <a:p>
                      <a:pPr>
                        <a:buNone/>
                      </a:pPr>
                      <a:r>
                        <a:rPr lang="en-IN" dirty="0"/>
                        <a:t>Sandwich</a:t>
                      </a:r>
                    </a:p>
                  </a:txBody>
                  <a:tcPr anchor="ctr">
                    <a:lnL>
                      <a:noFill/>
                    </a:lnL>
                    <a:lnR>
                      <a:noFill/>
                    </a:lnR>
                    <a:lnT>
                      <a:noFill/>
                    </a:lnT>
                    <a:lnB>
                      <a:noFill/>
                    </a:lnB>
                    <a:noFill/>
                  </a:tcPr>
                </a:tc>
                <a:tc>
                  <a:txBody>
                    <a:bodyPr/>
                    <a:lstStyle/>
                    <a:p>
                      <a:pPr>
                        <a:buNone/>
                      </a:pPr>
                      <a:r>
                        <a:rPr lang="en-IN" dirty="0"/>
                        <a:t>300</a:t>
                      </a:r>
                    </a:p>
                  </a:txBody>
                  <a:tcPr anchor="ctr">
                    <a:lnL>
                      <a:noFill/>
                    </a:lnL>
                    <a:lnR>
                      <a:noFill/>
                    </a:lnR>
                    <a:lnT>
                      <a:noFill/>
                    </a:lnT>
                    <a:lnB>
                      <a:noFill/>
                    </a:lnB>
                    <a:noFill/>
                  </a:tcPr>
                </a:tc>
                <a:extLst>
                  <a:ext uri="{0D108BD9-81ED-4DB2-BD59-A6C34878D82A}">
                    <a16:rowId xmlns:a16="http://schemas.microsoft.com/office/drawing/2014/main" val="4180169012"/>
                  </a:ext>
                </a:extLst>
              </a:tr>
            </a:tbl>
          </a:graphicData>
        </a:graphic>
      </p:graphicFrame>
      <p:sp>
        <p:nvSpPr>
          <p:cNvPr id="6" name="TextBox 5">
            <a:extLst>
              <a:ext uri="{FF2B5EF4-FFF2-40B4-BE49-F238E27FC236}">
                <a16:creationId xmlns:a16="http://schemas.microsoft.com/office/drawing/2014/main" id="{13A8BBB3-C7DA-09A3-8EF7-A712F1A69A31}"/>
              </a:ext>
            </a:extLst>
          </p:cNvPr>
          <p:cNvSpPr txBox="1"/>
          <p:nvPr/>
        </p:nvSpPr>
        <p:spPr>
          <a:xfrm>
            <a:off x="5201265" y="3854246"/>
            <a:ext cx="8416411" cy="2862322"/>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Now the restaurant has evidence.</a:t>
            </a:r>
          </a:p>
          <a:p>
            <a:pPr>
              <a:buNone/>
            </a:pPr>
            <a:r>
              <a:rPr lang="en-US" sz="2000" dirty="0">
                <a:latin typeface="Times New Roman" panose="02020603050405020304" pitchFamily="18" charset="0"/>
                <a:cs typeface="Times New Roman" panose="02020603050405020304" pitchFamily="18" charset="0"/>
              </a:rPr>
              <a:t>The restaurant can clearly see that pizza has the highest sales.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So, it may decide to:</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Promote pizza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Keep more pizza ingredients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Introduce new pizza varieties </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Data Analytics helps us replace “I think” with “Data shows.”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6714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ED26D3-1DD8-1773-8A31-5BC942CEEF61}"/>
              </a:ext>
            </a:extLst>
          </p:cNvPr>
          <p:cNvSpPr txBox="1"/>
          <p:nvPr/>
        </p:nvSpPr>
        <p:spPr>
          <a:xfrm>
            <a:off x="176645" y="393290"/>
            <a:ext cx="10176723" cy="5632311"/>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2. Identifying Trends and Patterns</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Data Analytics helps us identify patterns that may not be obvious by simply looking at raw data.</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Example: Online shopping</a:t>
            </a:r>
          </a:p>
          <a:p>
            <a:pPr>
              <a:buNone/>
            </a:pPr>
            <a:r>
              <a:rPr lang="en-US" sz="2000" dirty="0">
                <a:latin typeface="Times New Roman" panose="02020603050405020304" pitchFamily="18" charset="0"/>
                <a:cs typeface="Times New Roman" panose="02020603050405020304" pitchFamily="18" charset="0"/>
              </a:rPr>
              <a:t>Suppose an e-commerce company analyzes purchases.</a:t>
            </a: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It discovers:</a:t>
            </a:r>
          </a:p>
          <a:p>
            <a:pPr>
              <a:buNone/>
            </a:pPr>
            <a:r>
              <a:rPr lang="en-US" sz="2000" dirty="0">
                <a:latin typeface="Times New Roman" panose="02020603050405020304" pitchFamily="18" charset="0"/>
                <a:cs typeface="Times New Roman" panose="02020603050405020304" pitchFamily="18" charset="0"/>
              </a:rPr>
              <a:t>Customers frequently buy mobile phones together with phone cases.</a:t>
            </a:r>
          </a:p>
          <a:p>
            <a:pPr>
              <a:buNone/>
            </a:pPr>
            <a:r>
              <a:rPr lang="en-US" sz="2000" dirty="0">
                <a:latin typeface="Times New Roman" panose="02020603050405020304" pitchFamily="18" charset="0"/>
                <a:cs typeface="Times New Roman" panose="02020603050405020304" pitchFamily="18" charset="0"/>
              </a:rPr>
              <a:t>This is a </a:t>
            </a:r>
            <a:r>
              <a:rPr lang="en-US" sz="2000" b="1" dirty="0">
                <a:latin typeface="Times New Roman" panose="02020603050405020304" pitchFamily="18" charset="0"/>
                <a:cs typeface="Times New Roman" panose="02020603050405020304" pitchFamily="18" charset="0"/>
              </a:rPr>
              <a:t>pattern</a:t>
            </a:r>
            <a:r>
              <a:rPr lang="en-US" sz="2000" dirty="0">
                <a:latin typeface="Times New Roman" panose="02020603050405020304" pitchFamily="18" charset="0"/>
                <a:cs typeface="Times New Roman" panose="02020603050405020304" pitchFamily="18" charset="0"/>
              </a:rPr>
              <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 company can then recommend:</a:t>
            </a:r>
          </a:p>
          <a:p>
            <a:pPr>
              <a:buNone/>
            </a:pPr>
            <a:r>
              <a:rPr lang="en-US" sz="2000" dirty="0">
                <a:latin typeface="Times New Roman" panose="02020603050405020304" pitchFamily="18" charset="0"/>
                <a:cs typeface="Times New Roman" panose="02020603050405020304" pitchFamily="18" charset="0"/>
              </a:rPr>
              <a:t>“Customers who bought this phone also bought this phone case.”</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This is an example of analytics being used in recommendation systems.</a:t>
            </a:r>
          </a:p>
        </p:txBody>
      </p:sp>
      <p:pic>
        <p:nvPicPr>
          <p:cNvPr id="4" name="Picture 3">
            <a:extLst>
              <a:ext uri="{FF2B5EF4-FFF2-40B4-BE49-F238E27FC236}">
                <a16:creationId xmlns:a16="http://schemas.microsoft.com/office/drawing/2014/main" id="{77542B99-A987-C111-E606-EDB3B4DD9F11}"/>
              </a:ext>
            </a:extLst>
          </p:cNvPr>
          <p:cNvPicPr>
            <a:picLocks noChangeAspect="1"/>
          </p:cNvPicPr>
          <p:nvPr/>
        </p:nvPicPr>
        <p:blipFill>
          <a:blip r:embed="rId2"/>
          <a:srcRect b="21465"/>
          <a:stretch>
            <a:fillRect/>
          </a:stretch>
        </p:blipFill>
        <p:spPr>
          <a:xfrm>
            <a:off x="6326214" y="2057319"/>
            <a:ext cx="6177514" cy="1558717"/>
          </a:xfrm>
          <a:prstGeom prst="rect">
            <a:avLst/>
          </a:prstGeom>
        </p:spPr>
      </p:pic>
      <p:pic>
        <p:nvPicPr>
          <p:cNvPr id="6" name="Picture 5">
            <a:extLst>
              <a:ext uri="{FF2B5EF4-FFF2-40B4-BE49-F238E27FC236}">
                <a16:creationId xmlns:a16="http://schemas.microsoft.com/office/drawing/2014/main" id="{6BF1065C-9157-AA1E-4C1E-33565430CA4A}"/>
              </a:ext>
            </a:extLst>
          </p:cNvPr>
          <p:cNvPicPr>
            <a:picLocks noChangeAspect="1"/>
          </p:cNvPicPr>
          <p:nvPr/>
        </p:nvPicPr>
        <p:blipFill>
          <a:blip r:embed="rId3"/>
          <a:stretch>
            <a:fillRect/>
          </a:stretch>
        </p:blipFill>
        <p:spPr>
          <a:xfrm>
            <a:off x="3978400" y="0"/>
            <a:ext cx="7901444" cy="574290"/>
          </a:xfrm>
          <a:prstGeom prst="rect">
            <a:avLst/>
          </a:prstGeom>
        </p:spPr>
      </p:pic>
    </p:spTree>
    <p:extLst>
      <p:ext uri="{BB962C8B-B14F-4D97-AF65-F5344CB8AC3E}">
        <p14:creationId xmlns:p14="http://schemas.microsoft.com/office/powerpoint/2010/main" val="1772808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B260EB-7EA6-ADE6-5165-5CD891BC8999}"/>
              </a:ext>
            </a:extLst>
          </p:cNvPr>
          <p:cNvSpPr txBox="1"/>
          <p:nvPr/>
        </p:nvSpPr>
        <p:spPr>
          <a:xfrm>
            <a:off x="272510" y="90836"/>
            <a:ext cx="11307096" cy="6247864"/>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3. Understanding Customers</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Companies want to understand:</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customers like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they dislike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they purchase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 often they purchase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Why they stop using a product </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Example</a:t>
            </a:r>
          </a:p>
          <a:p>
            <a:pPr>
              <a:buNone/>
            </a:pPr>
            <a:r>
              <a:rPr lang="en-US" sz="2000" dirty="0">
                <a:latin typeface="Times New Roman" panose="02020603050405020304" pitchFamily="18" charset="0"/>
                <a:cs typeface="Times New Roman" panose="02020603050405020304" pitchFamily="18" charset="0"/>
              </a:rPr>
              <a:t>A streaming platform analyzes what users watch.</a:t>
            </a:r>
          </a:p>
          <a:p>
            <a:pPr>
              <a:buNone/>
            </a:pPr>
            <a:r>
              <a:rPr lang="en-US" sz="2000" dirty="0">
                <a:latin typeface="Times New Roman" panose="02020603050405020304" pitchFamily="18" charset="0"/>
                <a:cs typeface="Times New Roman" panose="02020603050405020304" pitchFamily="18" charset="0"/>
              </a:rPr>
              <a:t>Suppose a user frequently watches: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Action movies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Thriller movies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Crime series </a:t>
            </a:r>
          </a:p>
          <a:p>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 system can recommend similar content.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So, </a:t>
            </a:r>
            <a:r>
              <a:rPr lang="en-US" sz="2000" b="1" dirty="0">
                <a:latin typeface="Times New Roman" panose="02020603050405020304" pitchFamily="18" charset="0"/>
                <a:cs typeface="Times New Roman" panose="02020603050405020304" pitchFamily="18" charset="0"/>
              </a:rPr>
              <a:t>“Analytics helps companies understand what customers are interested in and provide personalized services.”</a:t>
            </a:r>
          </a:p>
        </p:txBody>
      </p:sp>
    </p:spTree>
    <p:extLst>
      <p:ext uri="{BB962C8B-B14F-4D97-AF65-F5344CB8AC3E}">
        <p14:creationId xmlns:p14="http://schemas.microsoft.com/office/powerpoint/2010/main" val="3787356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A84B08-59A6-B0D9-9696-16839268E909}"/>
              </a:ext>
            </a:extLst>
          </p:cNvPr>
          <p:cNvSpPr txBox="1"/>
          <p:nvPr/>
        </p:nvSpPr>
        <p:spPr>
          <a:xfrm>
            <a:off x="471947" y="442452"/>
            <a:ext cx="11080955" cy="1938992"/>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4. Improving Business Performance</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Analytics can identify areas where an organization is performing well and areas that need improvement.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Example</a:t>
            </a:r>
          </a:p>
          <a:p>
            <a:pPr>
              <a:buNone/>
            </a:pPr>
            <a:r>
              <a:rPr lang="en-US" sz="2000" dirty="0">
                <a:latin typeface="Times New Roman" panose="02020603050405020304" pitchFamily="18" charset="0"/>
                <a:cs typeface="Times New Roman" panose="02020603050405020304" pitchFamily="18" charset="0"/>
              </a:rPr>
              <a:t>Suppose a company has five branches:</a:t>
            </a:r>
          </a:p>
        </p:txBody>
      </p:sp>
      <p:graphicFrame>
        <p:nvGraphicFramePr>
          <p:cNvPr id="4" name="Table 3">
            <a:extLst>
              <a:ext uri="{FF2B5EF4-FFF2-40B4-BE49-F238E27FC236}">
                <a16:creationId xmlns:a16="http://schemas.microsoft.com/office/drawing/2014/main" id="{9A4481F1-B6CC-45D2-09F9-C9C8418D5D44}"/>
              </a:ext>
            </a:extLst>
          </p:cNvPr>
          <p:cNvGraphicFramePr>
            <a:graphicFrameLocks noGrp="1"/>
          </p:cNvGraphicFramePr>
          <p:nvPr>
            <p:extLst>
              <p:ext uri="{D42A27DB-BD31-4B8C-83A1-F6EECF244321}">
                <p14:modId xmlns:p14="http://schemas.microsoft.com/office/powerpoint/2010/main" val="3520666498"/>
              </p:ext>
            </p:extLst>
          </p:nvPr>
        </p:nvGraphicFramePr>
        <p:xfrm>
          <a:off x="471947" y="2707368"/>
          <a:ext cx="4286866" cy="2248092"/>
        </p:xfrm>
        <a:graphic>
          <a:graphicData uri="http://schemas.openxmlformats.org/drawingml/2006/table">
            <a:tbl>
              <a:tblPr/>
              <a:tblGrid>
                <a:gridCol w="2143433">
                  <a:extLst>
                    <a:ext uri="{9D8B030D-6E8A-4147-A177-3AD203B41FA5}">
                      <a16:colId xmlns:a16="http://schemas.microsoft.com/office/drawing/2014/main" val="2378214773"/>
                    </a:ext>
                  </a:extLst>
                </a:gridCol>
                <a:gridCol w="2143433">
                  <a:extLst>
                    <a:ext uri="{9D8B030D-6E8A-4147-A177-3AD203B41FA5}">
                      <a16:colId xmlns:a16="http://schemas.microsoft.com/office/drawing/2014/main" val="2089943541"/>
                    </a:ext>
                  </a:extLst>
                </a:gridCol>
              </a:tblGrid>
              <a:tr h="374682">
                <a:tc>
                  <a:txBody>
                    <a:bodyPr/>
                    <a:lstStyle/>
                    <a:p>
                      <a:pPr>
                        <a:buNone/>
                      </a:pPr>
                      <a:r>
                        <a:rPr lang="en-IN" b="1"/>
                        <a:t>Branch</a:t>
                      </a:r>
                    </a:p>
                  </a:txBody>
                  <a:tcPr anchor="ctr">
                    <a:lnL>
                      <a:noFill/>
                    </a:lnL>
                    <a:lnR>
                      <a:noFill/>
                    </a:lnR>
                    <a:lnT>
                      <a:noFill/>
                    </a:lnT>
                    <a:lnB>
                      <a:noFill/>
                    </a:lnB>
                    <a:noFill/>
                  </a:tcPr>
                </a:tc>
                <a:tc>
                  <a:txBody>
                    <a:bodyPr/>
                    <a:lstStyle/>
                    <a:p>
                      <a:pPr>
                        <a:buNone/>
                      </a:pPr>
                      <a:r>
                        <a:rPr lang="en-IN" b="1" dirty="0"/>
                        <a:t>Sales</a:t>
                      </a:r>
                    </a:p>
                  </a:txBody>
                  <a:tcPr anchor="ctr">
                    <a:lnL>
                      <a:noFill/>
                    </a:lnL>
                    <a:lnR>
                      <a:noFill/>
                    </a:lnR>
                    <a:lnT>
                      <a:noFill/>
                    </a:lnT>
                    <a:lnB>
                      <a:noFill/>
                    </a:lnB>
                    <a:noFill/>
                  </a:tcPr>
                </a:tc>
                <a:extLst>
                  <a:ext uri="{0D108BD9-81ED-4DB2-BD59-A6C34878D82A}">
                    <a16:rowId xmlns:a16="http://schemas.microsoft.com/office/drawing/2014/main" val="1512333443"/>
                  </a:ext>
                </a:extLst>
              </a:tr>
              <a:tr h="374682">
                <a:tc>
                  <a:txBody>
                    <a:bodyPr/>
                    <a:lstStyle/>
                    <a:p>
                      <a:pPr>
                        <a:buNone/>
                      </a:pPr>
                      <a:r>
                        <a:rPr lang="en-IN"/>
                        <a:t>Bangalore</a:t>
                      </a:r>
                    </a:p>
                  </a:txBody>
                  <a:tcPr anchor="ctr">
                    <a:lnL>
                      <a:noFill/>
                    </a:lnL>
                    <a:lnR>
                      <a:noFill/>
                    </a:lnR>
                    <a:lnT>
                      <a:noFill/>
                    </a:lnT>
                    <a:lnB>
                      <a:noFill/>
                    </a:lnB>
                    <a:noFill/>
                  </a:tcPr>
                </a:tc>
                <a:tc>
                  <a:txBody>
                    <a:bodyPr/>
                    <a:lstStyle/>
                    <a:p>
                      <a:pPr>
                        <a:buNone/>
                      </a:pPr>
                      <a:r>
                        <a:rPr lang="en-IN" dirty="0"/>
                        <a:t>₹20 lakh</a:t>
                      </a:r>
                    </a:p>
                  </a:txBody>
                  <a:tcPr anchor="ctr">
                    <a:lnL>
                      <a:noFill/>
                    </a:lnL>
                    <a:lnR>
                      <a:noFill/>
                    </a:lnR>
                    <a:lnT>
                      <a:noFill/>
                    </a:lnT>
                    <a:lnB>
                      <a:noFill/>
                    </a:lnB>
                    <a:noFill/>
                  </a:tcPr>
                </a:tc>
                <a:extLst>
                  <a:ext uri="{0D108BD9-81ED-4DB2-BD59-A6C34878D82A}">
                    <a16:rowId xmlns:a16="http://schemas.microsoft.com/office/drawing/2014/main" val="2055145045"/>
                  </a:ext>
                </a:extLst>
              </a:tr>
              <a:tr h="374682">
                <a:tc>
                  <a:txBody>
                    <a:bodyPr/>
                    <a:lstStyle/>
                    <a:p>
                      <a:pPr>
                        <a:buNone/>
                      </a:pPr>
                      <a:r>
                        <a:rPr lang="en-IN" dirty="0"/>
                        <a:t>Mysore</a:t>
                      </a:r>
                    </a:p>
                  </a:txBody>
                  <a:tcPr anchor="ctr">
                    <a:lnL>
                      <a:noFill/>
                    </a:lnL>
                    <a:lnR>
                      <a:noFill/>
                    </a:lnR>
                    <a:lnT>
                      <a:noFill/>
                    </a:lnT>
                    <a:lnB>
                      <a:noFill/>
                    </a:lnB>
                    <a:noFill/>
                  </a:tcPr>
                </a:tc>
                <a:tc>
                  <a:txBody>
                    <a:bodyPr/>
                    <a:lstStyle/>
                    <a:p>
                      <a:pPr>
                        <a:buNone/>
                      </a:pPr>
                      <a:r>
                        <a:rPr lang="en-IN"/>
                        <a:t>₹15 lakh</a:t>
                      </a:r>
                    </a:p>
                  </a:txBody>
                  <a:tcPr anchor="ctr">
                    <a:lnL>
                      <a:noFill/>
                    </a:lnL>
                    <a:lnR>
                      <a:noFill/>
                    </a:lnR>
                    <a:lnT>
                      <a:noFill/>
                    </a:lnT>
                    <a:lnB>
                      <a:noFill/>
                    </a:lnB>
                    <a:noFill/>
                  </a:tcPr>
                </a:tc>
                <a:extLst>
                  <a:ext uri="{0D108BD9-81ED-4DB2-BD59-A6C34878D82A}">
                    <a16:rowId xmlns:a16="http://schemas.microsoft.com/office/drawing/2014/main" val="2303307765"/>
                  </a:ext>
                </a:extLst>
              </a:tr>
              <a:tr h="374682">
                <a:tc>
                  <a:txBody>
                    <a:bodyPr/>
                    <a:lstStyle/>
                    <a:p>
                      <a:pPr>
                        <a:buNone/>
                      </a:pPr>
                      <a:r>
                        <a:rPr lang="en-IN"/>
                        <a:t>Chennai</a:t>
                      </a:r>
                    </a:p>
                  </a:txBody>
                  <a:tcPr anchor="ctr">
                    <a:lnL>
                      <a:noFill/>
                    </a:lnL>
                    <a:lnR>
                      <a:noFill/>
                    </a:lnR>
                    <a:lnT>
                      <a:noFill/>
                    </a:lnT>
                    <a:lnB>
                      <a:noFill/>
                    </a:lnB>
                    <a:noFill/>
                  </a:tcPr>
                </a:tc>
                <a:tc>
                  <a:txBody>
                    <a:bodyPr/>
                    <a:lstStyle/>
                    <a:p>
                      <a:pPr>
                        <a:buNone/>
                      </a:pPr>
                      <a:r>
                        <a:rPr lang="en-IN"/>
                        <a:t>₹25 lakh</a:t>
                      </a:r>
                    </a:p>
                  </a:txBody>
                  <a:tcPr anchor="ctr">
                    <a:lnL>
                      <a:noFill/>
                    </a:lnL>
                    <a:lnR>
                      <a:noFill/>
                    </a:lnR>
                    <a:lnT>
                      <a:noFill/>
                    </a:lnT>
                    <a:lnB>
                      <a:noFill/>
                    </a:lnB>
                    <a:noFill/>
                  </a:tcPr>
                </a:tc>
                <a:extLst>
                  <a:ext uri="{0D108BD9-81ED-4DB2-BD59-A6C34878D82A}">
                    <a16:rowId xmlns:a16="http://schemas.microsoft.com/office/drawing/2014/main" val="3199665925"/>
                  </a:ext>
                </a:extLst>
              </a:tr>
              <a:tr h="374682">
                <a:tc>
                  <a:txBody>
                    <a:bodyPr/>
                    <a:lstStyle/>
                    <a:p>
                      <a:pPr>
                        <a:buNone/>
                      </a:pPr>
                      <a:r>
                        <a:rPr lang="en-IN"/>
                        <a:t>Hyderabad</a:t>
                      </a:r>
                    </a:p>
                  </a:txBody>
                  <a:tcPr anchor="ctr">
                    <a:lnL>
                      <a:noFill/>
                    </a:lnL>
                    <a:lnR>
                      <a:noFill/>
                    </a:lnR>
                    <a:lnT>
                      <a:noFill/>
                    </a:lnT>
                    <a:lnB>
                      <a:noFill/>
                    </a:lnB>
                    <a:noFill/>
                  </a:tcPr>
                </a:tc>
                <a:tc>
                  <a:txBody>
                    <a:bodyPr/>
                    <a:lstStyle/>
                    <a:p>
                      <a:pPr>
                        <a:buNone/>
                      </a:pPr>
                      <a:r>
                        <a:rPr lang="en-IN"/>
                        <a:t>₹18 lakh</a:t>
                      </a:r>
                    </a:p>
                  </a:txBody>
                  <a:tcPr anchor="ctr">
                    <a:lnL>
                      <a:noFill/>
                    </a:lnL>
                    <a:lnR>
                      <a:noFill/>
                    </a:lnR>
                    <a:lnT>
                      <a:noFill/>
                    </a:lnT>
                    <a:lnB>
                      <a:noFill/>
                    </a:lnB>
                    <a:noFill/>
                  </a:tcPr>
                </a:tc>
                <a:extLst>
                  <a:ext uri="{0D108BD9-81ED-4DB2-BD59-A6C34878D82A}">
                    <a16:rowId xmlns:a16="http://schemas.microsoft.com/office/drawing/2014/main" val="2137887460"/>
                  </a:ext>
                </a:extLst>
              </a:tr>
              <a:tr h="374682">
                <a:tc>
                  <a:txBody>
                    <a:bodyPr/>
                    <a:lstStyle/>
                    <a:p>
                      <a:pPr>
                        <a:buNone/>
                      </a:pPr>
                      <a:r>
                        <a:rPr lang="en-IN"/>
                        <a:t>Pune</a:t>
                      </a:r>
                    </a:p>
                  </a:txBody>
                  <a:tcPr anchor="ctr">
                    <a:lnL>
                      <a:noFill/>
                    </a:lnL>
                    <a:lnR>
                      <a:noFill/>
                    </a:lnR>
                    <a:lnT>
                      <a:noFill/>
                    </a:lnT>
                    <a:lnB>
                      <a:noFill/>
                    </a:lnB>
                    <a:noFill/>
                  </a:tcPr>
                </a:tc>
                <a:tc>
                  <a:txBody>
                    <a:bodyPr/>
                    <a:lstStyle/>
                    <a:p>
                      <a:pPr>
                        <a:buNone/>
                      </a:pPr>
                      <a:r>
                        <a:rPr lang="en-IN" dirty="0"/>
                        <a:t>₹10 lakh</a:t>
                      </a:r>
                    </a:p>
                  </a:txBody>
                  <a:tcPr anchor="ctr">
                    <a:lnL>
                      <a:noFill/>
                    </a:lnL>
                    <a:lnR>
                      <a:noFill/>
                    </a:lnR>
                    <a:lnT>
                      <a:noFill/>
                    </a:lnT>
                    <a:lnB>
                      <a:noFill/>
                    </a:lnB>
                    <a:noFill/>
                  </a:tcPr>
                </a:tc>
                <a:extLst>
                  <a:ext uri="{0D108BD9-81ED-4DB2-BD59-A6C34878D82A}">
                    <a16:rowId xmlns:a16="http://schemas.microsoft.com/office/drawing/2014/main" val="998446648"/>
                  </a:ext>
                </a:extLst>
              </a:tr>
            </a:tbl>
          </a:graphicData>
        </a:graphic>
      </p:graphicFrame>
      <p:sp>
        <p:nvSpPr>
          <p:cNvPr id="6" name="TextBox 5">
            <a:extLst>
              <a:ext uri="{FF2B5EF4-FFF2-40B4-BE49-F238E27FC236}">
                <a16:creationId xmlns:a16="http://schemas.microsoft.com/office/drawing/2014/main" id="{829D3AB7-2FA5-F641-6D3A-F2156BD3427A}"/>
              </a:ext>
            </a:extLst>
          </p:cNvPr>
          <p:cNvSpPr txBox="1"/>
          <p:nvPr/>
        </p:nvSpPr>
        <p:spPr>
          <a:xfrm>
            <a:off x="5230760" y="2707368"/>
            <a:ext cx="6961239" cy="3785652"/>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The company can investigate:</a:t>
            </a:r>
          </a:p>
          <a:p>
            <a:pPr>
              <a:buNone/>
            </a:pPr>
            <a:r>
              <a:rPr lang="en-US" sz="2000" b="1" dirty="0">
                <a:latin typeface="Times New Roman" panose="02020603050405020304" pitchFamily="18" charset="0"/>
                <a:cs typeface="Times New Roman" panose="02020603050405020304" pitchFamily="18" charset="0"/>
              </a:rPr>
              <a:t>Why is Pune's performance lower?</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Maybe: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Less advertising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Fewer customers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Higher prices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Poor location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Less product availability </a:t>
            </a:r>
          </a:p>
          <a:p>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“Analytics helps us identify not only WHAT is happening, but also helps us investigate WHY it is happening.”</a:t>
            </a:r>
          </a:p>
        </p:txBody>
      </p:sp>
    </p:spTree>
    <p:extLst>
      <p:ext uri="{BB962C8B-B14F-4D97-AF65-F5344CB8AC3E}">
        <p14:creationId xmlns:p14="http://schemas.microsoft.com/office/powerpoint/2010/main" val="10358192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0639E1-B70A-4F05-67C8-B5A27CA3F12A}"/>
              </a:ext>
            </a:extLst>
          </p:cNvPr>
          <p:cNvSpPr txBox="1"/>
          <p:nvPr/>
        </p:nvSpPr>
        <p:spPr>
          <a:xfrm>
            <a:off x="599767" y="481781"/>
            <a:ext cx="11339387" cy="4093428"/>
          </a:xfrm>
          <a:prstGeom prst="rect">
            <a:avLst/>
          </a:prstGeom>
          <a:noFill/>
        </p:spPr>
        <p:txBody>
          <a:bodyPr wrap="square">
            <a:spAutoFit/>
          </a:bodyPr>
          <a:lstStyle/>
          <a:p>
            <a:pPr>
              <a:buNone/>
            </a:pPr>
            <a:r>
              <a:rPr lang="en-US" b="1" dirty="0">
                <a:solidFill>
                  <a:srgbClr val="FF0000"/>
                </a:solidFill>
              </a:rPr>
              <a:t>5</a:t>
            </a:r>
            <a:r>
              <a:rPr lang="en-US" sz="2000" b="1" dirty="0">
                <a:solidFill>
                  <a:srgbClr val="FF0000"/>
                </a:solidFill>
                <a:latin typeface="Times New Roman" panose="02020603050405020304" pitchFamily="18" charset="0"/>
                <a:cs typeface="Times New Roman" panose="02020603050405020304" pitchFamily="18" charset="0"/>
              </a:rPr>
              <a:t>. Predicting Future Outcomes</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Data Analytics can also help organizations predict what may happen in the future.</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 example, a company may analyze previous sales:</a:t>
            </a:r>
          </a:p>
          <a:p>
            <a:pPr rtl="0">
              <a:buNone/>
            </a:pPr>
            <a:r>
              <a:rPr lang="en-US" sz="2000" dirty="0">
                <a:latin typeface="Times New Roman" panose="02020603050405020304" pitchFamily="18" charset="0"/>
                <a:cs typeface="Times New Roman" panose="02020603050405020304" pitchFamily="18" charset="0"/>
              </a:rPr>
              <a:t>2023 → ₹10 lakh</a:t>
            </a:r>
          </a:p>
          <a:p>
            <a:pPr rtl="0">
              <a:buNone/>
            </a:pPr>
            <a:r>
              <a:rPr lang="en-US" sz="2000" dirty="0">
                <a:latin typeface="Times New Roman" panose="02020603050405020304" pitchFamily="18" charset="0"/>
                <a:cs typeface="Times New Roman" panose="02020603050405020304" pitchFamily="18" charset="0"/>
              </a:rPr>
              <a:t>2024 → ₹13 lakh</a:t>
            </a:r>
          </a:p>
          <a:p>
            <a:pPr rtl="0">
              <a:buNone/>
            </a:pPr>
            <a:r>
              <a:rPr lang="en-US" sz="2000" dirty="0">
                <a:latin typeface="Times New Roman" panose="02020603050405020304" pitchFamily="18" charset="0"/>
                <a:cs typeface="Times New Roman" panose="02020603050405020304" pitchFamily="18" charset="0"/>
              </a:rPr>
              <a:t>2025 → ₹17 lakh</a:t>
            </a:r>
          </a:p>
          <a:p>
            <a:pPr rtl="0">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Based on historical patterns, the company can estimate future sales.</a:t>
            </a:r>
          </a:p>
          <a:p>
            <a:pPr>
              <a:buNone/>
            </a:pPr>
            <a:r>
              <a:rPr lang="en-US" sz="2000" dirty="0">
                <a:latin typeface="Times New Roman" panose="02020603050405020304" pitchFamily="18" charset="0"/>
                <a:cs typeface="Times New Roman" panose="02020603050405020304" pitchFamily="18" charset="0"/>
              </a:rPr>
              <a:t>This is called </a:t>
            </a:r>
            <a:r>
              <a:rPr lang="en-US" sz="2000" b="1" dirty="0">
                <a:latin typeface="Times New Roman" panose="02020603050405020304" pitchFamily="18" charset="0"/>
                <a:cs typeface="Times New Roman" panose="02020603050405020304" pitchFamily="18" charset="0"/>
              </a:rPr>
              <a:t>predictive analytics</a:t>
            </a:r>
            <a:r>
              <a:rPr lang="en-US" sz="2000" dirty="0">
                <a:latin typeface="Times New Roman" panose="02020603050405020304" pitchFamily="18" charset="0"/>
                <a:cs typeface="Times New Roman" panose="02020603050405020304" pitchFamily="18" charset="0"/>
              </a:rPr>
              <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“We use past data to understand the present and sometimes predict what may happen in the future.”</a:t>
            </a:r>
          </a:p>
        </p:txBody>
      </p:sp>
    </p:spTree>
    <p:extLst>
      <p:ext uri="{BB962C8B-B14F-4D97-AF65-F5344CB8AC3E}">
        <p14:creationId xmlns:p14="http://schemas.microsoft.com/office/powerpoint/2010/main" val="14864342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7D4B7E-B863-EE9E-05EA-A4E4BFFD66B8}"/>
              </a:ext>
            </a:extLst>
          </p:cNvPr>
          <p:cNvSpPr txBox="1"/>
          <p:nvPr/>
        </p:nvSpPr>
        <p:spPr>
          <a:xfrm>
            <a:off x="260778" y="99174"/>
            <a:ext cx="10422193" cy="5940088"/>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6. Detecting Fraud</a:t>
            </a:r>
          </a:p>
          <a:p>
            <a:pPr>
              <a:buNone/>
            </a:pPr>
            <a:r>
              <a:rPr lang="en-US" sz="2000" dirty="0">
                <a:latin typeface="Times New Roman" panose="02020603050405020304" pitchFamily="18" charset="0"/>
                <a:cs typeface="Times New Roman" panose="02020603050405020304" pitchFamily="18" charset="0"/>
              </a:rPr>
              <a:t>Data Analytics is heavily used by banks and financial institutions.</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Example</a:t>
            </a:r>
          </a:p>
          <a:p>
            <a:pPr>
              <a:buNone/>
            </a:pPr>
            <a:r>
              <a:rPr lang="en-US" sz="2000" dirty="0">
                <a:latin typeface="Times New Roman" panose="02020603050405020304" pitchFamily="18" charset="0"/>
                <a:cs typeface="Times New Roman" panose="02020603050405020304" pitchFamily="18" charset="0"/>
              </a:rPr>
              <a:t>Suppose a person's normal transactions are:</a:t>
            </a:r>
          </a:p>
          <a:p>
            <a:pPr rtl="0">
              <a:buNone/>
            </a:pPr>
            <a:r>
              <a:rPr lang="en-US" sz="2000" dirty="0">
                <a:latin typeface="Times New Roman" panose="02020603050405020304" pitchFamily="18" charset="0"/>
                <a:cs typeface="Times New Roman" panose="02020603050405020304" pitchFamily="18" charset="0"/>
              </a:rPr>
              <a:t>₹500</a:t>
            </a:r>
          </a:p>
          <a:p>
            <a:pPr rtl="0">
              <a:buNone/>
            </a:pPr>
            <a:r>
              <a:rPr lang="en-US" sz="2000" dirty="0">
                <a:latin typeface="Times New Roman" panose="02020603050405020304" pitchFamily="18" charset="0"/>
                <a:cs typeface="Times New Roman" panose="02020603050405020304" pitchFamily="18" charset="0"/>
              </a:rPr>
              <a:t>₹1,200</a:t>
            </a:r>
          </a:p>
          <a:p>
            <a:pPr rtl="0">
              <a:buNone/>
            </a:pPr>
            <a:r>
              <a:rPr lang="en-US" sz="2000" dirty="0">
                <a:latin typeface="Times New Roman" panose="02020603050405020304" pitchFamily="18" charset="0"/>
                <a:cs typeface="Times New Roman" panose="02020603050405020304" pitchFamily="18" charset="0"/>
              </a:rPr>
              <a:t>₹800</a:t>
            </a:r>
          </a:p>
          <a:p>
            <a:pPr rtl="0">
              <a:buNone/>
            </a:pPr>
            <a:r>
              <a:rPr lang="en-US" sz="2000" dirty="0">
                <a:latin typeface="Times New Roman" panose="02020603050405020304" pitchFamily="18" charset="0"/>
                <a:cs typeface="Times New Roman" panose="02020603050405020304" pitchFamily="18" charset="0"/>
              </a:rPr>
              <a:t>₹2,000</a:t>
            </a:r>
          </a:p>
          <a:p>
            <a:pPr>
              <a:buNone/>
            </a:pPr>
            <a:r>
              <a:rPr lang="en-US" sz="2000" dirty="0">
                <a:latin typeface="Times New Roman" panose="02020603050405020304" pitchFamily="18" charset="0"/>
                <a:cs typeface="Times New Roman" panose="02020603050405020304" pitchFamily="18" charset="0"/>
              </a:rPr>
              <a:t>Suddenly, there is a transaction:</a:t>
            </a:r>
          </a:p>
          <a:p>
            <a:pPr rtl="0">
              <a:buNone/>
            </a:pPr>
            <a:r>
              <a:rPr lang="en-US" sz="2000" dirty="0">
                <a:latin typeface="Times New Roman" panose="02020603050405020304" pitchFamily="18" charset="0"/>
                <a:cs typeface="Times New Roman" panose="02020603050405020304" pitchFamily="18" charset="0"/>
              </a:rPr>
              <a:t>₹5,00,000 from a different location.</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An analytics system can identify this as unusual behavior and flag the transaction.</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This can help detect:</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Credit card fraud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Banking fraud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Suspicious transactions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Account misuse</a:t>
            </a:r>
          </a:p>
        </p:txBody>
      </p:sp>
      <p:sp>
        <p:nvSpPr>
          <p:cNvPr id="4" name="TextBox 3">
            <a:extLst>
              <a:ext uri="{FF2B5EF4-FFF2-40B4-BE49-F238E27FC236}">
                <a16:creationId xmlns:a16="http://schemas.microsoft.com/office/drawing/2014/main" id="{8AAB4D51-39C4-6255-C00B-813EF32C871A}"/>
              </a:ext>
            </a:extLst>
          </p:cNvPr>
          <p:cNvSpPr txBox="1"/>
          <p:nvPr/>
        </p:nvSpPr>
        <p:spPr>
          <a:xfrm>
            <a:off x="4591664" y="5642533"/>
            <a:ext cx="7836309"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“The important point is that analytics can learn or identify normal transaction behavior and highlight unusual patterns.”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6281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38F4E0-2816-B617-289A-5657831E6E17}"/>
              </a:ext>
            </a:extLst>
          </p:cNvPr>
          <p:cNvSpPr txBox="1"/>
          <p:nvPr/>
        </p:nvSpPr>
        <p:spPr>
          <a:xfrm>
            <a:off x="457647" y="185584"/>
            <a:ext cx="11425084" cy="4708981"/>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7. Reducing Costs</a:t>
            </a:r>
          </a:p>
          <a:p>
            <a:pPr>
              <a:buNone/>
            </a:pPr>
            <a:r>
              <a:rPr lang="en-US" sz="2000" dirty="0">
                <a:latin typeface="Times New Roman" panose="02020603050405020304" pitchFamily="18" charset="0"/>
                <a:cs typeface="Times New Roman" panose="02020603050405020304" pitchFamily="18" charset="0"/>
              </a:rPr>
              <a:t>Analytics can help organizations identify unnecessary expenses.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Example</a:t>
            </a:r>
          </a:p>
          <a:p>
            <a:pPr>
              <a:buNone/>
            </a:pPr>
            <a:r>
              <a:rPr lang="en-US" sz="2000" dirty="0">
                <a:latin typeface="Times New Roman" panose="02020603050405020304" pitchFamily="18" charset="0"/>
                <a:cs typeface="Times New Roman" panose="02020603050405020304" pitchFamily="18" charset="0"/>
              </a:rPr>
              <a:t>A manufacturing company analyzes electricity usage.</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It discovers that one machine consumes significantly more electricity than others.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 company can investigate: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Is the machine old or inefficient?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Does it require maintenance?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Can operating time be reduced? </a:t>
            </a:r>
          </a:p>
          <a:p>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If the company identifies and fixes the problem, it can </a:t>
            </a:r>
            <a:r>
              <a:rPr lang="en-US" sz="2000" b="1" dirty="0">
                <a:latin typeface="Times New Roman" panose="02020603050405020304" pitchFamily="18" charset="0"/>
                <a:cs typeface="Times New Roman" panose="02020603050405020304" pitchFamily="18" charset="0"/>
              </a:rPr>
              <a:t>reduce electricity consumption and operational costs</a:t>
            </a:r>
            <a:r>
              <a:rPr lang="en-US" sz="2000" dirty="0">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1208E2A6-2E20-D3DE-864A-8F0B6FB1ED7F}"/>
              </a:ext>
            </a:extLst>
          </p:cNvPr>
          <p:cNvSpPr txBox="1"/>
          <p:nvPr/>
        </p:nvSpPr>
        <p:spPr>
          <a:xfrm>
            <a:off x="457647" y="5299768"/>
            <a:ext cx="11946193"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“Analytics helps organizations find where money or resources are being unnecessarily spent.”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8848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D3B11-E691-AF68-A88A-C6730D435C44}"/>
              </a:ext>
            </a:extLst>
          </p:cNvPr>
          <p:cNvSpPr>
            <a:spLocks noGrp="1"/>
          </p:cNvSpPr>
          <p:nvPr>
            <p:ph type="title"/>
          </p:nvPr>
        </p:nvSpPr>
        <p:spPr>
          <a:xfrm>
            <a:off x="218767" y="-224810"/>
            <a:ext cx="10515600" cy="1325563"/>
          </a:xfrm>
        </p:spPr>
        <p:txBody>
          <a:bodyPr>
            <a:normAutofit/>
          </a:bodyPr>
          <a:lstStyle/>
          <a:p>
            <a:r>
              <a:rPr lang="en-US" sz="3000" b="1" dirty="0">
                <a:solidFill>
                  <a:srgbClr val="FF0000"/>
                </a:solidFill>
                <a:latin typeface="Times New Roman" panose="02020603050405020304" pitchFamily="18" charset="0"/>
                <a:cs typeface="Times New Roman" panose="02020603050405020304" pitchFamily="18" charset="0"/>
              </a:rPr>
              <a:t>Applications of Data Analytics in Industries</a:t>
            </a:r>
            <a:endParaRPr lang="en-IN" sz="30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3F6585-662D-1916-FDE7-03654DBA3181}"/>
              </a:ext>
            </a:extLst>
          </p:cNvPr>
          <p:cNvSpPr>
            <a:spLocks noGrp="1"/>
          </p:cNvSpPr>
          <p:nvPr>
            <p:ph idx="1"/>
          </p:nvPr>
        </p:nvSpPr>
        <p:spPr>
          <a:xfrm>
            <a:off x="356419" y="940721"/>
            <a:ext cx="11616814" cy="6089344"/>
          </a:xfrm>
        </p:spPr>
        <p:txBody>
          <a:bodyPr>
            <a:normAutofit/>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1. </a:t>
            </a:r>
            <a:r>
              <a:rPr lang="en-US" sz="2200" b="1" dirty="0">
                <a:solidFill>
                  <a:srgbClr val="FF0000"/>
                </a:solidFill>
                <a:latin typeface="Times New Roman" panose="02020603050405020304" pitchFamily="18" charset="0"/>
                <a:cs typeface="Times New Roman" panose="02020603050405020304" pitchFamily="18" charset="0"/>
              </a:rPr>
              <a:t>Healthcare</a:t>
            </a: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“In hospitals, a lot of data is generated about patients, treatments, medicines, test results, etc.”</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Data Analytics can help hospitals:</a:t>
            </a:r>
          </a:p>
          <a:p>
            <a:r>
              <a:rPr lang="en-US" sz="2200" dirty="0">
                <a:latin typeface="Times New Roman" panose="02020603050405020304" pitchFamily="18" charset="0"/>
                <a:cs typeface="Times New Roman" panose="02020603050405020304" pitchFamily="18" charset="0"/>
              </a:rPr>
              <a:t>Understand patient records </a:t>
            </a:r>
          </a:p>
          <a:p>
            <a:r>
              <a:rPr lang="en-US" sz="2200" dirty="0">
                <a:latin typeface="Times New Roman" panose="02020603050405020304" pitchFamily="18" charset="0"/>
                <a:cs typeface="Times New Roman" panose="02020603050405020304" pitchFamily="18" charset="0"/>
              </a:rPr>
              <a:t>Identify diseases and risks </a:t>
            </a:r>
          </a:p>
          <a:p>
            <a:r>
              <a:rPr lang="en-US" sz="2200" dirty="0">
                <a:latin typeface="Times New Roman" panose="02020603050405020304" pitchFamily="18" charset="0"/>
                <a:cs typeface="Times New Roman" panose="02020603050405020304" pitchFamily="18" charset="0"/>
              </a:rPr>
              <a:t>Analyze treatment results </a:t>
            </a:r>
          </a:p>
          <a:p>
            <a:r>
              <a:rPr lang="en-US" sz="2200" dirty="0">
                <a:latin typeface="Times New Roman" panose="02020603050405020304" pitchFamily="18" charset="0"/>
                <a:cs typeface="Times New Roman" panose="02020603050405020304" pitchFamily="18" charset="0"/>
              </a:rPr>
              <a:t>Manage hospital resources </a:t>
            </a:r>
          </a:p>
          <a:p>
            <a:pPr marL="0" indent="0">
              <a:buNone/>
            </a:pPr>
            <a:r>
              <a:rPr lang="en-US" sz="2200" b="1" dirty="0">
                <a:latin typeface="Times New Roman" panose="02020603050405020304" pitchFamily="18" charset="0"/>
                <a:cs typeface="Times New Roman" panose="02020603050405020304" pitchFamily="18" charset="0"/>
              </a:rPr>
              <a:t>Simple example:</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“Suppose a hospital analyzes patient data and finds that many patients have a particular disease during a particular season. The hospital can prepare medicines, doctors and beds in advance.”</a:t>
            </a:r>
          </a:p>
          <a:p>
            <a:pPr marL="0" indent="0">
              <a:buNone/>
            </a:pPr>
            <a:r>
              <a:rPr lang="en-US" sz="2200" dirty="0">
                <a:latin typeface="Times New Roman" panose="02020603050405020304" pitchFamily="18" charset="0"/>
                <a:cs typeface="Times New Roman" panose="02020603050405020304" pitchFamily="18" charset="0"/>
              </a:rPr>
              <a:t>So: </a:t>
            </a:r>
            <a:r>
              <a:rPr lang="en-US" sz="2200" b="1" dirty="0">
                <a:latin typeface="Times New Roman" panose="02020603050405020304" pitchFamily="18" charset="0"/>
                <a:cs typeface="Times New Roman" panose="02020603050405020304" pitchFamily="18" charset="0"/>
              </a:rPr>
              <a:t>Healthcare → Patient data → Analysis → Better healthcare decisions</a:t>
            </a:r>
            <a:endParaRPr lang="en-US" sz="22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702965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7C7533-AF34-8FA2-EA15-972009AB1141}"/>
              </a:ext>
            </a:extLst>
          </p:cNvPr>
          <p:cNvSpPr txBox="1"/>
          <p:nvPr/>
        </p:nvSpPr>
        <p:spPr>
          <a:xfrm>
            <a:off x="374073" y="436418"/>
            <a:ext cx="11274135" cy="4401205"/>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2. Banking and Finance</a:t>
            </a:r>
          </a:p>
          <a:p>
            <a:pPr>
              <a:buNone/>
            </a:pPr>
            <a:endParaRPr lang="en-US" sz="2000" b="1" dirty="0">
              <a:solidFill>
                <a:srgbClr val="FF0000"/>
              </a:solidFill>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“Banks handle thousands or millions of transactions every day. Data Analytics helps banks understand these transactions.”</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It can be used for:</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Detecting unusual transactions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Understanding customer spending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Assessing loan applications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Managing financial risks </a:t>
            </a:r>
          </a:p>
          <a:p>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Example:</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“Suppose a person's account normally has small transactions, but suddenly there is a very large unusual transaction. Data Analytics can help the bank identify this unusual behavior.”</a:t>
            </a:r>
          </a:p>
        </p:txBody>
      </p:sp>
    </p:spTree>
    <p:extLst>
      <p:ext uri="{BB962C8B-B14F-4D97-AF65-F5344CB8AC3E}">
        <p14:creationId xmlns:p14="http://schemas.microsoft.com/office/powerpoint/2010/main" val="659318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9D52C1-51D4-B5B3-A00D-18635595D607}"/>
              </a:ext>
            </a:extLst>
          </p:cNvPr>
          <p:cNvSpPr txBox="1"/>
          <p:nvPr/>
        </p:nvSpPr>
        <p:spPr>
          <a:xfrm>
            <a:off x="238991" y="207818"/>
            <a:ext cx="11783291" cy="4708981"/>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3. Retail and E-Commerce</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“Online shopping companies collect data about what customers search for, what they buy and what they don't buy.”</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Data Analytics helps them:</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Understand customer preferences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Recommend products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Identify popular products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Manage inventory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Plan discounts </a:t>
            </a:r>
          </a:p>
          <a:p>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Example:</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“If many customers buy mobile phones along with phone cases, the company can recommend a phone case when someone buys a mobile.”</a:t>
            </a:r>
          </a:p>
        </p:txBody>
      </p:sp>
    </p:spTree>
    <p:extLst>
      <p:ext uri="{BB962C8B-B14F-4D97-AF65-F5344CB8AC3E}">
        <p14:creationId xmlns:p14="http://schemas.microsoft.com/office/powerpoint/2010/main" val="11165490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489D29-A89E-1BDA-D2C4-BDEB1FEE9D41}"/>
              </a:ext>
            </a:extLst>
          </p:cNvPr>
          <p:cNvSpPr txBox="1"/>
          <p:nvPr/>
        </p:nvSpPr>
        <p:spPr>
          <a:xfrm>
            <a:off x="394855" y="779318"/>
            <a:ext cx="10920845" cy="5016758"/>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4. Education</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“Schools and colleges also generate a lot of data.”</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 example: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Marks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Attendance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Assignment scores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Exam results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Student performance </a:t>
            </a:r>
          </a:p>
          <a:p>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Data Analytics can help teachers:</a:t>
            </a:r>
          </a:p>
          <a:p>
            <a:pPr>
              <a:buNone/>
            </a:pPr>
            <a:r>
              <a:rPr lang="en-US" sz="2000" dirty="0">
                <a:latin typeface="Times New Roman" panose="02020603050405020304" pitchFamily="18" charset="0"/>
                <a:cs typeface="Times New Roman" panose="02020603050405020304" pitchFamily="18" charset="0"/>
              </a:rPr>
              <a:t>“Suppose a teacher analyzes students' marks and notices that many students are performing poorly in one particular topic. The teacher can identify that topic and explain it again.”</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So , analytics helps in </a:t>
            </a:r>
            <a:r>
              <a:rPr lang="en-US" sz="2000" b="1" dirty="0">
                <a:latin typeface="Times New Roman" panose="02020603050405020304" pitchFamily="18" charset="0"/>
                <a:cs typeface="Times New Roman" panose="02020603050405020304" pitchFamily="18" charset="0"/>
              </a:rPr>
              <a:t>understanding student performance and improving teaching.</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6864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1FECC6-B891-115D-5146-E90345C0AB36}"/>
              </a:ext>
            </a:extLst>
          </p:cNvPr>
          <p:cNvSpPr txBox="1"/>
          <p:nvPr/>
        </p:nvSpPr>
        <p:spPr>
          <a:xfrm>
            <a:off x="374072" y="401194"/>
            <a:ext cx="10744200" cy="3785652"/>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5. Entertainment</a:t>
            </a:r>
          </a:p>
          <a:p>
            <a:pPr>
              <a:buNone/>
            </a:pPr>
            <a:endParaRPr lang="en-US" sz="2000" b="1" dirty="0">
              <a:solidFill>
                <a:srgbClr val="FF0000"/>
              </a:solidFill>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“Streaming platforms such as Netflix and YouTube also use Data Analytics.”</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They analyze: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users watch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 long they watch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they search for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they skip </a:t>
            </a:r>
          </a:p>
          <a:p>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Then they can:</a:t>
            </a:r>
          </a:p>
          <a:p>
            <a:pPr>
              <a:buNone/>
            </a:pPr>
            <a:r>
              <a:rPr lang="en-US" sz="2000" dirty="0">
                <a:latin typeface="Times New Roman" panose="02020603050405020304" pitchFamily="18" charset="0"/>
                <a:cs typeface="Times New Roman" panose="02020603050405020304" pitchFamily="18" charset="0"/>
              </a:rPr>
              <a:t>“Recommend movies, videos or shows that the user may like.”</a:t>
            </a:r>
          </a:p>
        </p:txBody>
      </p:sp>
      <p:pic>
        <p:nvPicPr>
          <p:cNvPr id="4" name="Picture 3">
            <a:extLst>
              <a:ext uri="{FF2B5EF4-FFF2-40B4-BE49-F238E27FC236}">
                <a16:creationId xmlns:a16="http://schemas.microsoft.com/office/drawing/2014/main" id="{088F7602-0752-EF1A-3C42-A04249B29471}"/>
              </a:ext>
            </a:extLst>
          </p:cNvPr>
          <p:cNvPicPr>
            <a:picLocks noChangeAspect="1"/>
          </p:cNvPicPr>
          <p:nvPr/>
        </p:nvPicPr>
        <p:blipFill>
          <a:blip r:embed="rId2"/>
          <a:stretch>
            <a:fillRect/>
          </a:stretch>
        </p:blipFill>
        <p:spPr>
          <a:xfrm>
            <a:off x="374072" y="4424077"/>
            <a:ext cx="9377428" cy="823332"/>
          </a:xfrm>
          <a:prstGeom prst="rect">
            <a:avLst/>
          </a:prstGeom>
        </p:spPr>
      </p:pic>
    </p:spTree>
    <p:extLst>
      <p:ext uri="{BB962C8B-B14F-4D97-AF65-F5344CB8AC3E}">
        <p14:creationId xmlns:p14="http://schemas.microsoft.com/office/powerpoint/2010/main" val="14626542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1AC0-55C3-43D6-E8F0-1E9E3BA94D51}"/>
              </a:ext>
            </a:extLst>
          </p:cNvPr>
          <p:cNvSpPr>
            <a:spLocks noGrp="1"/>
          </p:cNvSpPr>
          <p:nvPr>
            <p:ph type="title"/>
          </p:nvPr>
        </p:nvSpPr>
        <p:spPr/>
        <p:txBody>
          <a:bodyPr>
            <a:norm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Types of Data Analytics</a:t>
            </a:r>
          </a:p>
        </p:txBody>
      </p:sp>
      <p:sp>
        <p:nvSpPr>
          <p:cNvPr id="4" name="Rectangle 1">
            <a:extLst>
              <a:ext uri="{FF2B5EF4-FFF2-40B4-BE49-F238E27FC236}">
                <a16:creationId xmlns:a16="http://schemas.microsoft.com/office/drawing/2014/main" id="{C07623CF-A414-6628-B6BB-A3E1634FBA78}"/>
              </a:ext>
            </a:extLst>
          </p:cNvPr>
          <p:cNvSpPr>
            <a:spLocks noGrp="1" noChangeArrowheads="1"/>
          </p:cNvSpPr>
          <p:nvPr>
            <p:ph idx="1"/>
          </p:nvPr>
        </p:nvSpPr>
        <p:spPr bwMode="auto">
          <a:xfrm>
            <a:off x="1077191" y="1592809"/>
            <a:ext cx="7401791" cy="246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2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happened?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Descriptive Analytics </a:t>
            </a:r>
          </a:p>
          <a:p>
            <a:pPr marL="457200" marR="0" lvl="0" indent="-457200" algn="l" defTabSz="914400" rtl="0" eaLnBrk="0" fontAlgn="base" latinLnBrk="0" hangingPunct="0">
              <a:lnSpc>
                <a:spcPct val="2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did it happen?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Diagnostic Analytics </a:t>
            </a:r>
          </a:p>
          <a:p>
            <a:pPr marL="457200" marR="0" lvl="0" indent="-457200" algn="l" defTabSz="914400" rtl="0" eaLnBrk="0" fontAlgn="base" latinLnBrk="0" hangingPunct="0">
              <a:lnSpc>
                <a:spcPct val="2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is likely to happen?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Predictive Analytics </a:t>
            </a:r>
          </a:p>
          <a:p>
            <a:pPr marL="457200" marR="0" lvl="0" indent="-457200" algn="l" defTabSz="914400" rtl="0" eaLnBrk="0" fontAlgn="base" latinLnBrk="0" hangingPunct="0">
              <a:lnSpc>
                <a:spcPct val="2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should we do?</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Prescriptive Analytics </a:t>
            </a:r>
          </a:p>
        </p:txBody>
      </p:sp>
    </p:spTree>
    <p:extLst>
      <p:ext uri="{BB962C8B-B14F-4D97-AF65-F5344CB8AC3E}">
        <p14:creationId xmlns:p14="http://schemas.microsoft.com/office/powerpoint/2010/main" val="3821622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AEC029-EFBC-29E2-E0AA-4A91156FE070}"/>
              </a:ext>
            </a:extLst>
          </p:cNvPr>
          <p:cNvSpPr txBox="1"/>
          <p:nvPr/>
        </p:nvSpPr>
        <p:spPr>
          <a:xfrm>
            <a:off x="424726" y="135891"/>
            <a:ext cx="11105285" cy="1938992"/>
          </a:xfrm>
          <a:prstGeom prst="rect">
            <a:avLst/>
          </a:prstGeom>
          <a:noFill/>
        </p:spPr>
        <p:txBody>
          <a:bodyPr wrap="square">
            <a:spAutoFit/>
          </a:bodyPr>
          <a:lstStyle/>
          <a:p>
            <a:pPr>
              <a:buNone/>
            </a:pPr>
            <a:r>
              <a:rPr lang="en-US" b="1" dirty="0">
                <a:solidFill>
                  <a:srgbClr val="FF0000"/>
                </a:solidFill>
              </a:rPr>
              <a:t>1</a:t>
            </a:r>
            <a:r>
              <a:rPr lang="en-US" sz="2000" b="1" dirty="0">
                <a:solidFill>
                  <a:srgbClr val="FF0000"/>
                </a:solidFill>
                <a:latin typeface="Times New Roman" panose="02020603050405020304" pitchFamily="18" charset="0"/>
                <a:cs typeface="Times New Roman" panose="02020603050405020304" pitchFamily="18" charset="0"/>
              </a:rPr>
              <a:t>. Descriptive Analytics </a:t>
            </a:r>
            <a:r>
              <a:rPr lang="en-US" sz="2000" b="1" dirty="0">
                <a:latin typeface="Times New Roman" panose="02020603050405020304" pitchFamily="18" charset="0"/>
                <a:cs typeface="Times New Roman" panose="02020603050405020304" pitchFamily="18" charset="0"/>
              </a:rPr>
              <a:t>(“Descriptive Analytics summarizes past and present data to tell us what happened.”) (OR)</a:t>
            </a:r>
          </a:p>
          <a:p>
            <a:pPr>
              <a:buNone/>
            </a:pPr>
            <a:r>
              <a:rPr lang="en-US" sz="2000" b="1" dirty="0">
                <a:latin typeface="Times New Roman" panose="02020603050405020304" pitchFamily="18" charset="0"/>
                <a:cs typeface="Times New Roman" panose="02020603050405020304" pitchFamily="18" charset="0"/>
              </a:rPr>
              <a:t>Descriptive Analytics tells us what happened in the past or what is happening now.</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It mainly answers:</a:t>
            </a:r>
          </a:p>
          <a:p>
            <a:pPr>
              <a:buNone/>
            </a:pPr>
            <a:r>
              <a:rPr lang="en-US" sz="2000" b="1" dirty="0">
                <a:latin typeface="Times New Roman" panose="02020603050405020304" pitchFamily="18" charset="0"/>
                <a:cs typeface="Times New Roman" panose="02020603050405020304" pitchFamily="18" charset="0"/>
              </a:rPr>
              <a:t>“What happened?”</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It takes existing data and summarizes it.</a:t>
            </a:r>
          </a:p>
        </p:txBody>
      </p:sp>
      <p:sp>
        <p:nvSpPr>
          <p:cNvPr id="9" name="TextBox 8">
            <a:extLst>
              <a:ext uri="{FF2B5EF4-FFF2-40B4-BE49-F238E27FC236}">
                <a16:creationId xmlns:a16="http://schemas.microsoft.com/office/drawing/2014/main" id="{B1342DB3-BEC8-1119-601B-300CC5AA6D85}"/>
              </a:ext>
            </a:extLst>
          </p:cNvPr>
          <p:cNvSpPr txBox="1"/>
          <p:nvPr/>
        </p:nvSpPr>
        <p:spPr>
          <a:xfrm>
            <a:off x="457200" y="2074883"/>
            <a:ext cx="6094268" cy="70788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Restaurant example:</a:t>
            </a:r>
          </a:p>
          <a:p>
            <a:pPr>
              <a:buNone/>
            </a:pPr>
            <a:r>
              <a:rPr lang="en-US" sz="2000" dirty="0">
                <a:latin typeface="Times New Roman" panose="02020603050405020304" pitchFamily="18" charset="0"/>
                <a:cs typeface="Times New Roman" panose="02020603050405020304" pitchFamily="18" charset="0"/>
              </a:rPr>
              <a:t>Suppose a restaurant has this monthly sales data:</a:t>
            </a:r>
          </a:p>
        </p:txBody>
      </p:sp>
      <p:graphicFrame>
        <p:nvGraphicFramePr>
          <p:cNvPr id="10" name="Table 9">
            <a:extLst>
              <a:ext uri="{FF2B5EF4-FFF2-40B4-BE49-F238E27FC236}">
                <a16:creationId xmlns:a16="http://schemas.microsoft.com/office/drawing/2014/main" id="{18DB9B51-B544-BB10-32A8-EA851079A8EF}"/>
              </a:ext>
            </a:extLst>
          </p:cNvPr>
          <p:cNvGraphicFramePr>
            <a:graphicFrameLocks noGrp="1"/>
          </p:cNvGraphicFramePr>
          <p:nvPr>
            <p:extLst>
              <p:ext uri="{D42A27DB-BD31-4B8C-83A1-F6EECF244321}">
                <p14:modId xmlns:p14="http://schemas.microsoft.com/office/powerpoint/2010/main" val="1885082821"/>
              </p:ext>
            </p:extLst>
          </p:nvPr>
        </p:nvGraphicFramePr>
        <p:xfrm>
          <a:off x="457200" y="2782769"/>
          <a:ext cx="10515600" cy="1828800"/>
        </p:xfrm>
        <a:graphic>
          <a:graphicData uri="http://schemas.openxmlformats.org/drawingml/2006/table">
            <a:tbl>
              <a:tblPr/>
              <a:tblGrid>
                <a:gridCol w="5257800">
                  <a:extLst>
                    <a:ext uri="{9D8B030D-6E8A-4147-A177-3AD203B41FA5}">
                      <a16:colId xmlns:a16="http://schemas.microsoft.com/office/drawing/2014/main" val="4228009524"/>
                    </a:ext>
                  </a:extLst>
                </a:gridCol>
                <a:gridCol w="5257800">
                  <a:extLst>
                    <a:ext uri="{9D8B030D-6E8A-4147-A177-3AD203B41FA5}">
                      <a16:colId xmlns:a16="http://schemas.microsoft.com/office/drawing/2014/main" val="86617441"/>
                    </a:ext>
                  </a:extLst>
                </a:gridCol>
              </a:tblGrid>
              <a:tr h="0">
                <a:tc>
                  <a:txBody>
                    <a:bodyPr/>
                    <a:lstStyle/>
                    <a:p>
                      <a:pPr>
                        <a:buNone/>
                      </a:pPr>
                      <a:r>
                        <a:rPr lang="en-IN" b="1" dirty="0">
                          <a:latin typeface="Times New Roman" panose="02020603050405020304" pitchFamily="18" charset="0"/>
                          <a:cs typeface="Times New Roman" panose="02020603050405020304" pitchFamily="18" charset="0"/>
                        </a:rPr>
                        <a:t>Month</a:t>
                      </a:r>
                    </a:p>
                  </a:txBody>
                  <a:tcPr anchor="ctr">
                    <a:lnL>
                      <a:noFill/>
                    </a:lnL>
                    <a:lnR>
                      <a:noFill/>
                    </a:lnR>
                    <a:lnT>
                      <a:noFill/>
                    </a:lnT>
                    <a:lnB>
                      <a:noFill/>
                    </a:lnB>
                    <a:noFill/>
                  </a:tcPr>
                </a:tc>
                <a:tc>
                  <a:txBody>
                    <a:bodyPr/>
                    <a:lstStyle/>
                    <a:p>
                      <a:pPr>
                        <a:buNone/>
                      </a:pPr>
                      <a:r>
                        <a:rPr lang="en-IN" b="1" dirty="0">
                          <a:latin typeface="Times New Roman" panose="02020603050405020304" pitchFamily="18" charset="0"/>
                          <a:cs typeface="Times New Roman" panose="02020603050405020304" pitchFamily="18" charset="0"/>
                        </a:rPr>
                        <a:t>Sales</a:t>
                      </a:r>
                    </a:p>
                  </a:txBody>
                  <a:tcPr anchor="ctr">
                    <a:lnL>
                      <a:noFill/>
                    </a:lnL>
                    <a:lnR>
                      <a:noFill/>
                    </a:lnR>
                    <a:lnT>
                      <a:noFill/>
                    </a:lnT>
                    <a:lnB>
                      <a:noFill/>
                    </a:lnB>
                    <a:noFill/>
                  </a:tcPr>
                </a:tc>
                <a:extLst>
                  <a:ext uri="{0D108BD9-81ED-4DB2-BD59-A6C34878D82A}">
                    <a16:rowId xmlns:a16="http://schemas.microsoft.com/office/drawing/2014/main" val="3320434526"/>
                  </a:ext>
                </a:extLst>
              </a:tr>
              <a:tr h="0">
                <a:tc>
                  <a:txBody>
                    <a:bodyPr/>
                    <a:lstStyle/>
                    <a:p>
                      <a:pPr>
                        <a:buNone/>
                      </a:pPr>
                      <a:r>
                        <a:rPr lang="en-IN">
                          <a:latin typeface="Times New Roman" panose="02020603050405020304" pitchFamily="18" charset="0"/>
                          <a:cs typeface="Times New Roman" panose="02020603050405020304" pitchFamily="18" charset="0"/>
                        </a:rPr>
                        <a:t>January</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₹50,000</a:t>
                      </a:r>
                    </a:p>
                  </a:txBody>
                  <a:tcPr anchor="ctr">
                    <a:lnL>
                      <a:noFill/>
                    </a:lnL>
                    <a:lnR>
                      <a:noFill/>
                    </a:lnR>
                    <a:lnT>
                      <a:noFill/>
                    </a:lnT>
                    <a:lnB>
                      <a:noFill/>
                    </a:lnB>
                    <a:noFill/>
                  </a:tcPr>
                </a:tc>
                <a:extLst>
                  <a:ext uri="{0D108BD9-81ED-4DB2-BD59-A6C34878D82A}">
                    <a16:rowId xmlns:a16="http://schemas.microsoft.com/office/drawing/2014/main" val="4029630740"/>
                  </a:ext>
                </a:extLst>
              </a:tr>
              <a:tr h="0">
                <a:tc>
                  <a:txBody>
                    <a:bodyPr/>
                    <a:lstStyle/>
                    <a:p>
                      <a:pPr>
                        <a:buNone/>
                      </a:pPr>
                      <a:r>
                        <a:rPr lang="en-IN">
                          <a:latin typeface="Times New Roman" panose="02020603050405020304" pitchFamily="18" charset="0"/>
                          <a:cs typeface="Times New Roman" panose="02020603050405020304" pitchFamily="18" charset="0"/>
                        </a:rPr>
                        <a:t>February</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₹60,000</a:t>
                      </a:r>
                    </a:p>
                  </a:txBody>
                  <a:tcPr anchor="ctr">
                    <a:lnL>
                      <a:noFill/>
                    </a:lnL>
                    <a:lnR>
                      <a:noFill/>
                    </a:lnR>
                    <a:lnT>
                      <a:noFill/>
                    </a:lnT>
                    <a:lnB>
                      <a:noFill/>
                    </a:lnB>
                    <a:noFill/>
                  </a:tcPr>
                </a:tc>
                <a:extLst>
                  <a:ext uri="{0D108BD9-81ED-4DB2-BD59-A6C34878D82A}">
                    <a16:rowId xmlns:a16="http://schemas.microsoft.com/office/drawing/2014/main" val="3120007126"/>
                  </a:ext>
                </a:extLst>
              </a:tr>
              <a:tr h="0">
                <a:tc>
                  <a:txBody>
                    <a:bodyPr/>
                    <a:lstStyle/>
                    <a:p>
                      <a:pPr>
                        <a:buNone/>
                      </a:pPr>
                      <a:r>
                        <a:rPr lang="en-IN">
                          <a:latin typeface="Times New Roman" panose="02020603050405020304" pitchFamily="18" charset="0"/>
                          <a:cs typeface="Times New Roman" panose="02020603050405020304" pitchFamily="18" charset="0"/>
                        </a:rPr>
                        <a:t>March</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₹45,000</a:t>
                      </a:r>
                    </a:p>
                  </a:txBody>
                  <a:tcPr anchor="ctr">
                    <a:lnL>
                      <a:noFill/>
                    </a:lnL>
                    <a:lnR>
                      <a:noFill/>
                    </a:lnR>
                    <a:lnT>
                      <a:noFill/>
                    </a:lnT>
                    <a:lnB>
                      <a:noFill/>
                    </a:lnB>
                    <a:noFill/>
                  </a:tcPr>
                </a:tc>
                <a:extLst>
                  <a:ext uri="{0D108BD9-81ED-4DB2-BD59-A6C34878D82A}">
                    <a16:rowId xmlns:a16="http://schemas.microsoft.com/office/drawing/2014/main" val="643975447"/>
                  </a:ext>
                </a:extLst>
              </a:tr>
              <a:tr h="0">
                <a:tc>
                  <a:txBody>
                    <a:bodyPr/>
                    <a:lstStyle/>
                    <a:p>
                      <a:pPr>
                        <a:buNone/>
                      </a:pPr>
                      <a:r>
                        <a:rPr lang="en-IN">
                          <a:latin typeface="Times New Roman" panose="02020603050405020304" pitchFamily="18" charset="0"/>
                          <a:cs typeface="Times New Roman" panose="02020603050405020304" pitchFamily="18" charset="0"/>
                        </a:rPr>
                        <a:t>April</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₹70,000</a:t>
                      </a:r>
                    </a:p>
                  </a:txBody>
                  <a:tcPr anchor="ctr">
                    <a:lnL>
                      <a:noFill/>
                    </a:lnL>
                    <a:lnR>
                      <a:noFill/>
                    </a:lnR>
                    <a:lnT>
                      <a:noFill/>
                    </a:lnT>
                    <a:lnB>
                      <a:noFill/>
                    </a:lnB>
                    <a:noFill/>
                  </a:tcPr>
                </a:tc>
                <a:extLst>
                  <a:ext uri="{0D108BD9-81ED-4DB2-BD59-A6C34878D82A}">
                    <a16:rowId xmlns:a16="http://schemas.microsoft.com/office/drawing/2014/main" val="2323599875"/>
                  </a:ext>
                </a:extLst>
              </a:tr>
            </a:tbl>
          </a:graphicData>
        </a:graphic>
      </p:graphicFrame>
      <p:sp>
        <p:nvSpPr>
          <p:cNvPr id="12" name="TextBox 11">
            <a:extLst>
              <a:ext uri="{FF2B5EF4-FFF2-40B4-BE49-F238E27FC236}">
                <a16:creationId xmlns:a16="http://schemas.microsoft.com/office/drawing/2014/main" id="{0677A661-1004-DC8B-609D-8AADC02AACEF}"/>
              </a:ext>
            </a:extLst>
          </p:cNvPr>
          <p:cNvSpPr txBox="1"/>
          <p:nvPr/>
        </p:nvSpPr>
        <p:spPr>
          <a:xfrm>
            <a:off x="424726" y="4783118"/>
            <a:ext cx="11953009" cy="1323439"/>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The restaurant analyzes this data.</a:t>
            </a:r>
          </a:p>
          <a:p>
            <a:pPr>
              <a:buNone/>
            </a:pPr>
            <a:r>
              <a:rPr lang="en-US" sz="2000" dirty="0">
                <a:latin typeface="Times New Roman" panose="02020603050405020304" pitchFamily="18" charset="0"/>
                <a:cs typeface="Times New Roman" panose="02020603050405020304" pitchFamily="18" charset="0"/>
              </a:rPr>
              <a:t>It can say:</a:t>
            </a:r>
          </a:p>
          <a:p>
            <a:pPr>
              <a:buNone/>
            </a:pPr>
            <a:r>
              <a:rPr lang="en-US" sz="2000" dirty="0">
                <a:latin typeface="Times New Roman" panose="02020603050405020304" pitchFamily="18" charset="0"/>
                <a:cs typeface="Times New Roman" panose="02020603050405020304" pitchFamily="18" charset="0"/>
              </a:rPr>
              <a:t>“Sales were ₹50,000 in January, ₹60,000 in February, ₹45,000 in March and ₹70,000 in April.”</a:t>
            </a:r>
          </a:p>
          <a:p>
            <a:pPr>
              <a:buNone/>
            </a:pPr>
            <a:r>
              <a:rPr lang="en-US" sz="2000" dirty="0">
                <a:latin typeface="Times New Roman" panose="02020603050405020304" pitchFamily="18" charset="0"/>
                <a:cs typeface="Times New Roman" panose="02020603050405020304" pitchFamily="18" charset="0"/>
              </a:rPr>
              <a:t>This is </a:t>
            </a:r>
            <a:r>
              <a:rPr lang="en-US" sz="2000" b="1" dirty="0">
                <a:latin typeface="Times New Roman" panose="02020603050405020304" pitchFamily="18" charset="0"/>
                <a:cs typeface="Times New Roman" panose="02020603050405020304" pitchFamily="18" charset="0"/>
              </a:rPr>
              <a:t>Descriptive Analytics</a:t>
            </a:r>
            <a:r>
              <a:rPr lang="en-US" sz="2000" dirty="0">
                <a:latin typeface="Times New Roman" panose="02020603050405020304" pitchFamily="18" charset="0"/>
                <a:cs typeface="Times New Roman" panose="02020603050405020304" pitchFamily="18" charset="0"/>
              </a:rPr>
              <a:t> because we are simply describing </a:t>
            </a:r>
            <a:r>
              <a:rPr lang="en-US" sz="2000" b="1" dirty="0">
                <a:latin typeface="Times New Roman" panose="02020603050405020304" pitchFamily="18" charset="0"/>
                <a:cs typeface="Times New Roman" panose="02020603050405020304" pitchFamily="18" charset="0"/>
              </a:rPr>
              <a:t>what happened</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84572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040FCE-BC55-E7BB-D505-F4576FB306D9}"/>
              </a:ext>
            </a:extLst>
          </p:cNvPr>
          <p:cNvSpPr txBox="1"/>
          <p:nvPr/>
        </p:nvSpPr>
        <p:spPr>
          <a:xfrm>
            <a:off x="1205346" y="563756"/>
            <a:ext cx="7187911" cy="2862322"/>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Real-life examples</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Descriptive Analytics can answer:</a:t>
            </a:r>
          </a:p>
          <a:p>
            <a:pPr>
              <a:buNone/>
            </a:pPr>
            <a:endParaRPr lang="en-US" sz="2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 many products were sold?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was the total revenue?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 many students passed?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 many customers visited the website?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were the sales last month?</a:t>
            </a:r>
          </a:p>
        </p:txBody>
      </p:sp>
    </p:spTree>
    <p:extLst>
      <p:ext uri="{BB962C8B-B14F-4D97-AF65-F5344CB8AC3E}">
        <p14:creationId xmlns:p14="http://schemas.microsoft.com/office/powerpoint/2010/main" val="11127817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2BFB4E-6B76-1529-E193-6C4F30C44BC7}"/>
              </a:ext>
            </a:extLst>
          </p:cNvPr>
          <p:cNvSpPr txBox="1"/>
          <p:nvPr/>
        </p:nvSpPr>
        <p:spPr>
          <a:xfrm>
            <a:off x="394854" y="0"/>
            <a:ext cx="11170228" cy="1938992"/>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2. Diagnostic Analytics</a:t>
            </a:r>
          </a:p>
          <a:p>
            <a:pPr>
              <a:buNone/>
            </a:pPr>
            <a:r>
              <a:rPr lang="en-US" sz="2000" b="1" dirty="0">
                <a:latin typeface="Times New Roman" panose="02020603050405020304" pitchFamily="18" charset="0"/>
                <a:cs typeface="Times New Roman" panose="02020603050405020304" pitchFamily="18" charset="0"/>
              </a:rPr>
              <a:t>“Descriptive Analytics told us WHAT happened. But now we want to know WHY it happened.”</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So Diagnostic Analytics answers:</a:t>
            </a:r>
          </a:p>
          <a:p>
            <a:pPr>
              <a:buNone/>
            </a:pPr>
            <a:r>
              <a:rPr lang="en-US" sz="2000" b="1" dirty="0">
                <a:latin typeface="Times New Roman" panose="02020603050405020304" pitchFamily="18" charset="0"/>
                <a:cs typeface="Times New Roman" panose="02020603050405020304" pitchFamily="18" charset="0"/>
              </a:rPr>
              <a:t>“Why did it happen?”</a:t>
            </a: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Continue the same restaurant example</a:t>
            </a:r>
          </a:p>
          <a:p>
            <a:pPr>
              <a:buNone/>
            </a:pPr>
            <a:r>
              <a:rPr lang="en-US" sz="2000" dirty="0">
                <a:latin typeface="Times New Roman" panose="02020603050405020304" pitchFamily="18" charset="0"/>
                <a:cs typeface="Times New Roman" panose="02020603050405020304" pitchFamily="18" charset="0"/>
              </a:rPr>
              <a:t>From our previous data:</a:t>
            </a:r>
          </a:p>
        </p:txBody>
      </p:sp>
      <p:graphicFrame>
        <p:nvGraphicFramePr>
          <p:cNvPr id="4" name="Table 3">
            <a:extLst>
              <a:ext uri="{FF2B5EF4-FFF2-40B4-BE49-F238E27FC236}">
                <a16:creationId xmlns:a16="http://schemas.microsoft.com/office/drawing/2014/main" id="{D1221891-852F-61E9-0AE7-FA694F8070B7}"/>
              </a:ext>
            </a:extLst>
          </p:cNvPr>
          <p:cNvGraphicFramePr>
            <a:graphicFrameLocks noGrp="1"/>
          </p:cNvGraphicFramePr>
          <p:nvPr>
            <p:extLst>
              <p:ext uri="{D42A27DB-BD31-4B8C-83A1-F6EECF244321}">
                <p14:modId xmlns:p14="http://schemas.microsoft.com/office/powerpoint/2010/main" val="603521561"/>
              </p:ext>
            </p:extLst>
          </p:nvPr>
        </p:nvGraphicFramePr>
        <p:xfrm>
          <a:off x="394854" y="1938992"/>
          <a:ext cx="10515600" cy="1981200"/>
        </p:xfrm>
        <a:graphic>
          <a:graphicData uri="http://schemas.openxmlformats.org/drawingml/2006/table">
            <a:tbl>
              <a:tblPr/>
              <a:tblGrid>
                <a:gridCol w="5257800">
                  <a:extLst>
                    <a:ext uri="{9D8B030D-6E8A-4147-A177-3AD203B41FA5}">
                      <a16:colId xmlns:a16="http://schemas.microsoft.com/office/drawing/2014/main" val="3936996119"/>
                    </a:ext>
                  </a:extLst>
                </a:gridCol>
                <a:gridCol w="5257800">
                  <a:extLst>
                    <a:ext uri="{9D8B030D-6E8A-4147-A177-3AD203B41FA5}">
                      <a16:colId xmlns:a16="http://schemas.microsoft.com/office/drawing/2014/main" val="3191697130"/>
                    </a:ext>
                  </a:extLst>
                </a:gridCol>
              </a:tblGrid>
              <a:tr h="0">
                <a:tc>
                  <a:txBody>
                    <a:bodyPr/>
                    <a:lstStyle/>
                    <a:p>
                      <a:pPr>
                        <a:buNone/>
                      </a:pPr>
                      <a:r>
                        <a:rPr lang="en-IN" sz="2000" b="1" dirty="0">
                          <a:latin typeface="Times New Roman" panose="02020603050405020304" pitchFamily="18" charset="0"/>
                          <a:cs typeface="Times New Roman" panose="02020603050405020304" pitchFamily="18" charset="0"/>
                        </a:rPr>
                        <a:t>Month</a:t>
                      </a:r>
                    </a:p>
                  </a:txBody>
                  <a:tcPr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Sales</a:t>
                      </a:r>
                    </a:p>
                  </a:txBody>
                  <a:tcPr anchor="ctr">
                    <a:lnL>
                      <a:noFill/>
                    </a:lnL>
                    <a:lnR>
                      <a:noFill/>
                    </a:lnR>
                    <a:lnT>
                      <a:noFill/>
                    </a:lnT>
                    <a:lnB>
                      <a:noFill/>
                    </a:lnB>
                    <a:noFill/>
                  </a:tcPr>
                </a:tc>
                <a:extLst>
                  <a:ext uri="{0D108BD9-81ED-4DB2-BD59-A6C34878D82A}">
                    <a16:rowId xmlns:a16="http://schemas.microsoft.com/office/drawing/2014/main" val="3196854970"/>
                  </a:ext>
                </a:extLst>
              </a:tr>
              <a:tr h="0">
                <a:tc>
                  <a:txBody>
                    <a:bodyPr/>
                    <a:lstStyle/>
                    <a:p>
                      <a:pPr>
                        <a:buNone/>
                      </a:pPr>
                      <a:r>
                        <a:rPr lang="en-IN" sz="2000">
                          <a:latin typeface="Times New Roman" panose="02020603050405020304" pitchFamily="18" charset="0"/>
                          <a:cs typeface="Times New Roman" panose="02020603050405020304" pitchFamily="18" charset="0"/>
                        </a:rPr>
                        <a:t>January</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₹50,000</a:t>
                      </a:r>
                    </a:p>
                  </a:txBody>
                  <a:tcPr anchor="ctr">
                    <a:lnL>
                      <a:noFill/>
                    </a:lnL>
                    <a:lnR>
                      <a:noFill/>
                    </a:lnR>
                    <a:lnT>
                      <a:noFill/>
                    </a:lnT>
                    <a:lnB>
                      <a:noFill/>
                    </a:lnB>
                    <a:noFill/>
                  </a:tcPr>
                </a:tc>
                <a:extLst>
                  <a:ext uri="{0D108BD9-81ED-4DB2-BD59-A6C34878D82A}">
                    <a16:rowId xmlns:a16="http://schemas.microsoft.com/office/drawing/2014/main" val="2245932469"/>
                  </a:ext>
                </a:extLst>
              </a:tr>
              <a:tr h="0">
                <a:tc>
                  <a:txBody>
                    <a:bodyPr/>
                    <a:lstStyle/>
                    <a:p>
                      <a:pPr>
                        <a:buNone/>
                      </a:pPr>
                      <a:r>
                        <a:rPr lang="en-IN" sz="2000">
                          <a:latin typeface="Times New Roman" panose="02020603050405020304" pitchFamily="18" charset="0"/>
                          <a:cs typeface="Times New Roman" panose="02020603050405020304" pitchFamily="18" charset="0"/>
                        </a:rPr>
                        <a:t>February</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₹60,000</a:t>
                      </a:r>
                    </a:p>
                  </a:txBody>
                  <a:tcPr anchor="ctr">
                    <a:lnL>
                      <a:noFill/>
                    </a:lnL>
                    <a:lnR>
                      <a:noFill/>
                    </a:lnR>
                    <a:lnT>
                      <a:noFill/>
                    </a:lnT>
                    <a:lnB>
                      <a:noFill/>
                    </a:lnB>
                    <a:noFill/>
                  </a:tcPr>
                </a:tc>
                <a:extLst>
                  <a:ext uri="{0D108BD9-81ED-4DB2-BD59-A6C34878D82A}">
                    <a16:rowId xmlns:a16="http://schemas.microsoft.com/office/drawing/2014/main" val="1773292872"/>
                  </a:ext>
                </a:extLst>
              </a:tr>
              <a:tr h="0">
                <a:tc>
                  <a:txBody>
                    <a:bodyPr/>
                    <a:lstStyle/>
                    <a:p>
                      <a:pPr>
                        <a:buNone/>
                      </a:pPr>
                      <a:r>
                        <a:rPr lang="en-IN" sz="2000">
                          <a:latin typeface="Times New Roman" panose="02020603050405020304" pitchFamily="18" charset="0"/>
                          <a:cs typeface="Times New Roman" panose="02020603050405020304" pitchFamily="18" charset="0"/>
                        </a:rPr>
                        <a:t>March</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₹45,000</a:t>
                      </a:r>
                    </a:p>
                  </a:txBody>
                  <a:tcPr anchor="ctr">
                    <a:lnL>
                      <a:noFill/>
                    </a:lnL>
                    <a:lnR>
                      <a:noFill/>
                    </a:lnR>
                    <a:lnT>
                      <a:noFill/>
                    </a:lnT>
                    <a:lnB>
                      <a:noFill/>
                    </a:lnB>
                    <a:noFill/>
                  </a:tcPr>
                </a:tc>
                <a:extLst>
                  <a:ext uri="{0D108BD9-81ED-4DB2-BD59-A6C34878D82A}">
                    <a16:rowId xmlns:a16="http://schemas.microsoft.com/office/drawing/2014/main" val="995128397"/>
                  </a:ext>
                </a:extLst>
              </a:tr>
              <a:tr h="0">
                <a:tc>
                  <a:txBody>
                    <a:bodyPr/>
                    <a:lstStyle/>
                    <a:p>
                      <a:pPr>
                        <a:buNone/>
                      </a:pPr>
                      <a:r>
                        <a:rPr lang="en-IN" sz="2000" dirty="0">
                          <a:latin typeface="Times New Roman" panose="02020603050405020304" pitchFamily="18" charset="0"/>
                          <a:cs typeface="Times New Roman" panose="02020603050405020304" pitchFamily="18" charset="0"/>
                        </a:rPr>
                        <a:t>April</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₹70,000</a:t>
                      </a:r>
                    </a:p>
                  </a:txBody>
                  <a:tcPr anchor="ctr">
                    <a:lnL>
                      <a:noFill/>
                    </a:lnL>
                    <a:lnR>
                      <a:noFill/>
                    </a:lnR>
                    <a:lnT>
                      <a:noFill/>
                    </a:lnT>
                    <a:lnB>
                      <a:noFill/>
                    </a:lnB>
                    <a:noFill/>
                  </a:tcPr>
                </a:tc>
                <a:extLst>
                  <a:ext uri="{0D108BD9-81ED-4DB2-BD59-A6C34878D82A}">
                    <a16:rowId xmlns:a16="http://schemas.microsoft.com/office/drawing/2014/main" val="2829055669"/>
                  </a:ext>
                </a:extLst>
              </a:tr>
            </a:tbl>
          </a:graphicData>
        </a:graphic>
      </p:graphicFrame>
      <p:sp>
        <p:nvSpPr>
          <p:cNvPr id="6" name="TextBox 5">
            <a:extLst>
              <a:ext uri="{FF2B5EF4-FFF2-40B4-BE49-F238E27FC236}">
                <a16:creationId xmlns:a16="http://schemas.microsoft.com/office/drawing/2014/main" id="{4A3AC825-B744-4A6A-62A4-6F9FC116181A}"/>
              </a:ext>
            </a:extLst>
          </p:cNvPr>
          <p:cNvSpPr txBox="1"/>
          <p:nvPr/>
        </p:nvSpPr>
        <p:spPr>
          <a:xfrm>
            <a:off x="150668" y="4180345"/>
            <a:ext cx="5200650" cy="1938992"/>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We already know that:</a:t>
            </a:r>
          </a:p>
          <a:p>
            <a:pPr>
              <a:buNone/>
            </a:pPr>
            <a:r>
              <a:rPr lang="en-US" sz="2000" b="1" dirty="0">
                <a:latin typeface="Times New Roman" panose="02020603050405020304" pitchFamily="18" charset="0"/>
                <a:cs typeface="Times New Roman" panose="02020603050405020304" pitchFamily="18" charset="0"/>
              </a:rPr>
              <a:t>March had the lowest sales.</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That's descriptive analytics.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Now the restaurant asks:</a:t>
            </a:r>
          </a:p>
          <a:p>
            <a:pPr>
              <a:buNone/>
            </a:pPr>
            <a:r>
              <a:rPr lang="en-US" sz="2000" b="1" dirty="0">
                <a:latin typeface="Times New Roman" panose="02020603050405020304" pitchFamily="18" charset="0"/>
                <a:cs typeface="Times New Roman" panose="02020603050405020304" pitchFamily="18" charset="0"/>
              </a:rPr>
              <a:t>“Why were sales low in March?”</a:t>
            </a:r>
            <a:endParaRPr lang="en-US"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13030EF-F60B-D43E-7380-25A39E7F7D71}"/>
              </a:ext>
            </a:extLst>
          </p:cNvPr>
          <p:cNvSpPr txBox="1"/>
          <p:nvPr/>
        </p:nvSpPr>
        <p:spPr>
          <a:xfrm>
            <a:off x="5470814" y="3920192"/>
            <a:ext cx="6094268" cy="2554545"/>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The company analyzes other data and discovers: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was heavy rain.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Fewer customers visited the restaurant.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One popular food item was unavailable.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were fewer promotional offers. </a:t>
            </a:r>
          </a:p>
          <a:p>
            <a:pPr>
              <a:buNone/>
            </a:pPr>
            <a:r>
              <a:rPr lang="en-US" sz="2000" dirty="0">
                <a:latin typeface="Times New Roman" panose="02020603050405020304" pitchFamily="18" charset="0"/>
                <a:cs typeface="Times New Roman" panose="02020603050405020304" pitchFamily="18" charset="0"/>
              </a:rPr>
              <a:t>Now the company understands the </a:t>
            </a:r>
            <a:r>
              <a:rPr lang="en-US" sz="2000" b="1" dirty="0">
                <a:latin typeface="Times New Roman" panose="02020603050405020304" pitchFamily="18" charset="0"/>
                <a:cs typeface="Times New Roman" panose="02020603050405020304" pitchFamily="18" charset="0"/>
              </a:rPr>
              <a:t>reason</a:t>
            </a:r>
            <a:r>
              <a:rPr lang="en-US" sz="2000" dirty="0">
                <a:latin typeface="Times New Roman" panose="02020603050405020304" pitchFamily="18" charset="0"/>
                <a:cs typeface="Times New Roman" panose="02020603050405020304" pitchFamily="18" charset="0"/>
              </a:rPr>
              <a:t> for the low sales.</a:t>
            </a:r>
          </a:p>
          <a:p>
            <a:pPr>
              <a:buNone/>
            </a:pPr>
            <a:r>
              <a:rPr lang="en-US" sz="2000" dirty="0">
                <a:latin typeface="Times New Roman" panose="02020603050405020304" pitchFamily="18" charset="0"/>
                <a:cs typeface="Times New Roman" panose="02020603050405020304" pitchFamily="18" charset="0"/>
              </a:rPr>
              <a:t>That is </a:t>
            </a:r>
            <a:r>
              <a:rPr lang="en-US" sz="2000" b="1" dirty="0">
                <a:latin typeface="Times New Roman" panose="02020603050405020304" pitchFamily="18" charset="0"/>
                <a:cs typeface="Times New Roman" panose="02020603050405020304" pitchFamily="18" charset="0"/>
              </a:rPr>
              <a:t>Diagnostic Analytics</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8209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E4F22-6E87-520A-5DD5-896D990675AF}"/>
              </a:ext>
            </a:extLst>
          </p:cNvPr>
          <p:cNvSpPr txBox="1"/>
          <p:nvPr/>
        </p:nvSpPr>
        <p:spPr>
          <a:xfrm>
            <a:off x="841664" y="404475"/>
            <a:ext cx="11533909" cy="2862322"/>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Real-life example</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Suppose a college notices:</a:t>
            </a:r>
          </a:p>
          <a:p>
            <a:pPr>
              <a:buNone/>
            </a:pPr>
            <a:r>
              <a:rPr lang="en-US" sz="2000" dirty="0">
                <a:latin typeface="Times New Roman" panose="02020603050405020304" pitchFamily="18" charset="0"/>
                <a:cs typeface="Times New Roman" panose="02020603050405020304" pitchFamily="18" charset="0"/>
              </a:rPr>
              <a:t>“Student attendance decreased in August.”</a:t>
            </a:r>
          </a:p>
          <a:p>
            <a:pPr>
              <a:buNone/>
            </a:pPr>
            <a:r>
              <a:rPr lang="en-US" sz="2000" b="1" dirty="0">
                <a:latin typeface="Times New Roman" panose="02020603050405020304" pitchFamily="18" charset="0"/>
                <a:cs typeface="Times New Roman" panose="02020603050405020304" pitchFamily="18" charset="0"/>
              </a:rPr>
              <a:t>That's descriptive.</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Then the college investigates and discovers:</a:t>
            </a:r>
          </a:p>
          <a:p>
            <a:pPr>
              <a:buNone/>
            </a:pPr>
            <a:r>
              <a:rPr lang="en-US" sz="2000" dirty="0">
                <a:latin typeface="Times New Roman" panose="02020603050405020304" pitchFamily="18" charset="0"/>
                <a:cs typeface="Times New Roman" panose="02020603050405020304" pitchFamily="18" charset="0"/>
              </a:rPr>
              <a:t>“Attendance decreased because many students were absent during a festival period.”</a:t>
            </a:r>
          </a:p>
          <a:p>
            <a:pPr>
              <a:buNone/>
            </a:pPr>
            <a:r>
              <a:rPr lang="en-US" sz="2000" b="1" dirty="0">
                <a:latin typeface="Times New Roman" panose="02020603050405020304" pitchFamily="18" charset="0"/>
                <a:cs typeface="Times New Roman" panose="02020603050405020304" pitchFamily="18" charset="0"/>
              </a:rPr>
              <a:t>That's diagnostic.</a:t>
            </a:r>
          </a:p>
        </p:txBody>
      </p:sp>
    </p:spTree>
    <p:extLst>
      <p:ext uri="{BB962C8B-B14F-4D97-AF65-F5344CB8AC3E}">
        <p14:creationId xmlns:p14="http://schemas.microsoft.com/office/powerpoint/2010/main" val="12483099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40CE59-13A7-ABE9-EF2C-87808882B797}"/>
              </a:ext>
            </a:extLst>
          </p:cNvPr>
          <p:cNvSpPr txBox="1"/>
          <p:nvPr/>
        </p:nvSpPr>
        <p:spPr>
          <a:xfrm>
            <a:off x="458931" y="242189"/>
            <a:ext cx="11274137" cy="5940088"/>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3. Predictive Analytics</a:t>
            </a:r>
          </a:p>
          <a:p>
            <a:pPr>
              <a:buNone/>
            </a:pPr>
            <a:endParaRPr lang="en-US" sz="2000" b="1" dirty="0">
              <a:solidFill>
                <a:srgbClr val="FF0000"/>
              </a:solidFill>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“So far, we looked at the past. First , we asked WHAT happened, then WHY it happened. Now we want to look toward the future.”</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Predictive Analytics answers:</a:t>
            </a:r>
          </a:p>
          <a:p>
            <a:pPr>
              <a:buNone/>
            </a:pPr>
            <a:r>
              <a:rPr lang="en-US" sz="2000" b="1" dirty="0">
                <a:latin typeface="Times New Roman" panose="02020603050405020304" pitchFamily="18" charset="0"/>
                <a:cs typeface="Times New Roman" panose="02020603050405020304" pitchFamily="18" charset="0"/>
              </a:rPr>
              <a:t>“What is likely to happen in the future?”</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It uses </a:t>
            </a:r>
            <a:r>
              <a:rPr lang="en-US" sz="2000" b="1" dirty="0">
                <a:latin typeface="Times New Roman" panose="02020603050405020304" pitchFamily="18" charset="0"/>
                <a:cs typeface="Times New Roman" panose="02020603050405020304" pitchFamily="18" charset="0"/>
              </a:rPr>
              <a:t>past and current data</a:t>
            </a:r>
            <a:r>
              <a:rPr lang="en-US" sz="2000" dirty="0">
                <a:latin typeface="Times New Roman" panose="02020603050405020304" pitchFamily="18" charset="0"/>
                <a:cs typeface="Times New Roman" panose="02020603050405020304" pitchFamily="18" charset="0"/>
              </a:rPr>
              <a:t> to make predictions about the future.</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Continue our restaurant example</a:t>
            </a:r>
          </a:p>
          <a:p>
            <a:pPr>
              <a:buNone/>
            </a:pPr>
            <a:r>
              <a:rPr lang="en-US" sz="2000" dirty="0">
                <a:latin typeface="Times New Roman" panose="02020603050405020304" pitchFamily="18" charset="0"/>
                <a:cs typeface="Times New Roman" panose="02020603050405020304" pitchFamily="18" charset="0"/>
              </a:rPr>
              <a:t>Suppose the restaurant has analyzed several years of sales data.</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It notices:</a:t>
            </a:r>
          </a:p>
          <a:p>
            <a:pPr>
              <a:buNone/>
            </a:pPr>
            <a:r>
              <a:rPr lang="en-US" sz="2000" dirty="0">
                <a:latin typeface="Times New Roman" panose="02020603050405020304" pitchFamily="18" charset="0"/>
                <a:cs typeface="Times New Roman" panose="02020603050405020304" pitchFamily="18" charset="0"/>
              </a:rPr>
              <a:t>“Whenever summer starts, cold drinks and ice creams sell much more.”</a:t>
            </a:r>
          </a:p>
          <a:p>
            <a:pPr>
              <a:buNone/>
            </a:pPr>
            <a:r>
              <a:rPr lang="en-US" sz="2000" dirty="0">
                <a:latin typeface="Times New Roman" panose="02020603050405020304" pitchFamily="18" charset="0"/>
                <a:cs typeface="Times New Roman" panose="02020603050405020304" pitchFamily="18" charset="0"/>
              </a:rPr>
              <a:t>Now summer is approaching.</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 restaurant may predict:</a:t>
            </a:r>
          </a:p>
          <a:p>
            <a:pPr>
              <a:buNone/>
            </a:pPr>
            <a:r>
              <a:rPr lang="en-US" sz="2000" b="1" dirty="0">
                <a:latin typeface="Times New Roman" panose="02020603050405020304" pitchFamily="18" charset="0"/>
                <a:cs typeface="Times New Roman" panose="02020603050405020304" pitchFamily="18" charset="0"/>
              </a:rPr>
              <a:t>“Cold drink sales are likely to increase next month.”</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This is </a:t>
            </a:r>
            <a:r>
              <a:rPr lang="en-US" sz="2000" b="1" dirty="0">
                <a:latin typeface="Times New Roman" panose="02020603050405020304" pitchFamily="18" charset="0"/>
                <a:cs typeface="Times New Roman" panose="02020603050405020304" pitchFamily="18" charset="0"/>
              </a:rPr>
              <a:t>Predictive Analytics</a:t>
            </a:r>
            <a:r>
              <a:rPr lang="en-US" sz="20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E21E1D68-B6DE-8BC9-93D1-01140903D4C9}"/>
              </a:ext>
            </a:extLst>
          </p:cNvPr>
          <p:cNvSpPr txBox="1"/>
          <p:nvPr/>
        </p:nvSpPr>
        <p:spPr>
          <a:xfrm>
            <a:off x="6403397" y="4858838"/>
            <a:ext cx="6094268" cy="1323439"/>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Notice something important:</a:t>
            </a:r>
          </a:p>
          <a:p>
            <a:pPr>
              <a:buNone/>
            </a:pPr>
            <a:r>
              <a:rPr lang="en-US" sz="2000" dirty="0">
                <a:latin typeface="Times New Roman" panose="02020603050405020304" pitchFamily="18" charset="0"/>
                <a:cs typeface="Times New Roman" panose="02020603050405020304" pitchFamily="18" charset="0"/>
              </a:rPr>
              <a:t>We are </a:t>
            </a:r>
            <a:r>
              <a:rPr lang="en-US" sz="2000" b="1" dirty="0">
                <a:latin typeface="Times New Roman" panose="02020603050405020304" pitchFamily="18" charset="0"/>
                <a:cs typeface="Times New Roman" panose="02020603050405020304" pitchFamily="18" charset="0"/>
              </a:rPr>
              <a:t>not saying it will definitely happen</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We are saying:</a:t>
            </a:r>
          </a:p>
          <a:p>
            <a:pPr>
              <a:buNone/>
            </a:pPr>
            <a:r>
              <a:rPr lang="en-US" sz="2000" b="1" dirty="0">
                <a:latin typeface="Times New Roman" panose="02020603050405020304" pitchFamily="18" charset="0"/>
                <a:cs typeface="Times New Roman" panose="02020603050405020304" pitchFamily="18" charset="0"/>
              </a:rPr>
              <a:t>“Based on past data, this is likely to happen.”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2777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78BCD0-A1AF-554C-7802-2B66B3D5B77A}"/>
              </a:ext>
            </a:extLst>
          </p:cNvPr>
          <p:cNvSpPr txBox="1"/>
          <p:nvPr/>
        </p:nvSpPr>
        <p:spPr>
          <a:xfrm>
            <a:off x="446810" y="561109"/>
            <a:ext cx="11139054" cy="440120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Another example: Student marks</a:t>
            </a:r>
          </a:p>
          <a:p>
            <a:pPr>
              <a:buNone/>
            </a:pPr>
            <a:r>
              <a:rPr lang="en-US" sz="2000" dirty="0">
                <a:latin typeface="Times New Roman" panose="02020603050405020304" pitchFamily="18" charset="0"/>
                <a:cs typeface="Times New Roman" panose="02020603050405020304" pitchFamily="18" charset="0"/>
              </a:rPr>
              <a:t>Suppose a college has data about students: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Attendance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Assignment marks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Internal exam marks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Previous exam performance </a:t>
            </a:r>
          </a:p>
          <a:p>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 college analyzes this data and predicts:</a:t>
            </a:r>
          </a:p>
          <a:p>
            <a:pPr>
              <a:buNone/>
            </a:pPr>
            <a:r>
              <a:rPr lang="en-US" sz="2000" dirty="0">
                <a:latin typeface="Times New Roman" panose="02020603050405020304" pitchFamily="18" charset="0"/>
                <a:cs typeface="Times New Roman" panose="02020603050405020304" pitchFamily="18" charset="0"/>
              </a:rPr>
              <a:t>“Students with very low attendance and low internal marks may be at higher risk of failing the final exam.”</a:t>
            </a:r>
          </a:p>
          <a:p>
            <a:pPr>
              <a:buNone/>
            </a:pPr>
            <a:r>
              <a:rPr lang="en-US" sz="2000" b="1" dirty="0">
                <a:latin typeface="Times New Roman" panose="02020603050405020304" pitchFamily="18" charset="0"/>
                <a:cs typeface="Times New Roman" panose="02020603050405020304" pitchFamily="18" charset="0"/>
              </a:rPr>
              <a:t>This is predictive analytics.</a:t>
            </a:r>
          </a:p>
          <a:p>
            <a:pPr>
              <a:buNone/>
            </a:pPr>
            <a:endParaRPr lang="en-US" sz="2000" b="1"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“Predictive Analytics uses past and current data to predict what is likely to happen in the future.”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44245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6E413E-702B-B564-C815-52BF1485FF9C}"/>
              </a:ext>
            </a:extLst>
          </p:cNvPr>
          <p:cNvSpPr txBox="1"/>
          <p:nvPr/>
        </p:nvSpPr>
        <p:spPr>
          <a:xfrm>
            <a:off x="155865" y="249383"/>
            <a:ext cx="11430000" cy="4708981"/>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4. Prescriptive Analytics</a:t>
            </a:r>
          </a:p>
          <a:p>
            <a:pPr>
              <a:buNone/>
            </a:pPr>
            <a:r>
              <a:rPr lang="en-US" sz="2000" b="1" dirty="0">
                <a:latin typeface="Times New Roman" panose="02020603050405020304" pitchFamily="18" charset="0"/>
                <a:cs typeface="Times New Roman" panose="02020603050405020304" pitchFamily="18" charset="0"/>
              </a:rPr>
              <a:t>“We have now understood what happened, why it happened, and what may happen. But there is one more important question.”</a:t>
            </a:r>
          </a:p>
          <a:p>
            <a:pPr>
              <a:buNone/>
            </a:pPr>
            <a:r>
              <a:rPr lang="en-US" sz="2000" dirty="0">
                <a:latin typeface="Times New Roman" panose="02020603050405020304" pitchFamily="18" charset="0"/>
                <a:cs typeface="Times New Roman" panose="02020603050405020304" pitchFamily="18" charset="0"/>
              </a:rPr>
              <a:t>Ask:</a:t>
            </a:r>
          </a:p>
          <a:p>
            <a:pPr>
              <a:buNone/>
            </a:pPr>
            <a:r>
              <a:rPr lang="en-US" sz="2000" b="1" dirty="0">
                <a:latin typeface="Times New Roman" panose="02020603050405020304" pitchFamily="18" charset="0"/>
                <a:cs typeface="Times New Roman" panose="02020603050405020304" pitchFamily="18" charset="0"/>
              </a:rPr>
              <a:t>“If we know what is likely to happen, what should we do about it?”</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This is </a:t>
            </a:r>
            <a:r>
              <a:rPr lang="en-US" sz="2000" b="1" dirty="0">
                <a:latin typeface="Times New Roman" panose="02020603050405020304" pitchFamily="18" charset="0"/>
                <a:cs typeface="Times New Roman" panose="02020603050405020304" pitchFamily="18" charset="0"/>
              </a:rPr>
              <a:t>Prescriptive Analytics</a:t>
            </a:r>
            <a:r>
              <a:rPr lang="en-US" sz="2000" dirty="0">
                <a:latin typeface="Times New Roman" panose="02020603050405020304" pitchFamily="18" charset="0"/>
                <a:cs typeface="Times New Roman" panose="02020603050405020304" pitchFamily="18" charset="0"/>
              </a:rPr>
              <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It answers:</a:t>
            </a:r>
          </a:p>
          <a:p>
            <a:pPr>
              <a:buNone/>
            </a:pPr>
            <a:r>
              <a:rPr lang="en-US" sz="2000" b="1" dirty="0">
                <a:latin typeface="Times New Roman" panose="02020603050405020304" pitchFamily="18" charset="0"/>
                <a:cs typeface="Times New Roman" panose="02020603050405020304" pitchFamily="18" charset="0"/>
              </a:rPr>
              <a:t>“What should we do?”</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Continue the restaurant example</a:t>
            </a:r>
          </a:p>
          <a:p>
            <a:pPr>
              <a:buNone/>
            </a:pPr>
            <a:r>
              <a:rPr lang="en-US" sz="2000" dirty="0">
                <a:latin typeface="Times New Roman" panose="02020603050405020304" pitchFamily="18" charset="0"/>
                <a:cs typeface="Times New Roman" panose="02020603050405020304" pitchFamily="18" charset="0"/>
              </a:rPr>
              <a:t>Predictive Analytics tells us:</a:t>
            </a:r>
          </a:p>
          <a:p>
            <a:pPr>
              <a:buNone/>
            </a:pPr>
            <a:r>
              <a:rPr lang="en-US" sz="2000" b="1" dirty="0">
                <a:latin typeface="Times New Roman" panose="02020603050405020304" pitchFamily="18" charset="0"/>
                <a:cs typeface="Times New Roman" panose="02020603050405020304" pitchFamily="18" charset="0"/>
              </a:rPr>
              <a:t>“Cold drink sales are likely to increase next month.”</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Now the restaurant has to decide:</a:t>
            </a:r>
          </a:p>
          <a:p>
            <a:pPr>
              <a:buNone/>
            </a:pPr>
            <a:r>
              <a:rPr lang="en-US" sz="2000" b="1" dirty="0">
                <a:latin typeface="Times New Roman" panose="02020603050405020304" pitchFamily="18" charset="0"/>
                <a:cs typeface="Times New Roman" panose="02020603050405020304" pitchFamily="18" charset="0"/>
              </a:rPr>
              <a:t>“What should we do?”</a:t>
            </a: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70D27ED-227E-416C-99DD-35F4761A8102}"/>
              </a:ext>
            </a:extLst>
          </p:cNvPr>
          <p:cNvSpPr txBox="1"/>
          <p:nvPr/>
        </p:nvSpPr>
        <p:spPr>
          <a:xfrm>
            <a:off x="4522644" y="4431819"/>
            <a:ext cx="6094268" cy="2308324"/>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Prescriptive Analytics may suggest: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Order more cold drinks.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Keep extra stock.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Give a discount on cold drinks.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 a combo offer.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Increase advertising for cold drinks.</a:t>
            </a:r>
          </a:p>
          <a:p>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That is </a:t>
            </a:r>
            <a:r>
              <a:rPr lang="en-US" b="1" dirty="0">
                <a:latin typeface="Times New Roman" panose="02020603050405020304" pitchFamily="18" charset="0"/>
                <a:cs typeface="Times New Roman" panose="02020603050405020304" pitchFamily="18" charset="0"/>
              </a:rPr>
              <a:t>Prescriptive Analytics</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51635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CD682-A5E4-BDB5-2FF4-FCBFC3303446}"/>
              </a:ext>
            </a:extLst>
          </p:cNvPr>
          <p:cNvSpPr>
            <a:spLocks noGrp="1"/>
          </p:cNvSpPr>
          <p:nvPr>
            <p:ph type="title"/>
          </p:nvPr>
        </p:nvSpPr>
        <p:spPr>
          <a:xfrm>
            <a:off x="765463" y="-133638"/>
            <a:ext cx="10515600" cy="1325563"/>
          </a:xfrm>
        </p:spPr>
        <p:txBody>
          <a:bodyPr>
            <a:norm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Data Analytics Lifecycle</a:t>
            </a:r>
            <a:endParaRPr lang="en-IN" sz="2400"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FAFF17B-BA5C-EF6D-6276-27E2EF48FA40}"/>
              </a:ext>
            </a:extLst>
          </p:cNvPr>
          <p:cNvPicPr>
            <a:picLocks noChangeAspect="1"/>
          </p:cNvPicPr>
          <p:nvPr/>
        </p:nvPicPr>
        <p:blipFill>
          <a:blip r:embed="rId2"/>
          <a:srcRect t="6045"/>
          <a:stretch>
            <a:fillRect/>
          </a:stretch>
        </p:blipFill>
        <p:spPr>
          <a:xfrm>
            <a:off x="2630198" y="1049482"/>
            <a:ext cx="7175941" cy="5174672"/>
          </a:xfrm>
          <a:prstGeom prst="rect">
            <a:avLst/>
          </a:prstGeom>
        </p:spPr>
      </p:pic>
    </p:spTree>
    <p:extLst>
      <p:ext uri="{BB962C8B-B14F-4D97-AF65-F5344CB8AC3E}">
        <p14:creationId xmlns:p14="http://schemas.microsoft.com/office/powerpoint/2010/main" val="4810351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633C79-C261-2F83-9BD8-783750D44188}"/>
              </a:ext>
            </a:extLst>
          </p:cNvPr>
          <p:cNvSpPr txBox="1"/>
          <p:nvPr/>
        </p:nvSpPr>
        <p:spPr>
          <a:xfrm>
            <a:off x="602673" y="404613"/>
            <a:ext cx="11087100" cy="4191981"/>
          </a:xfrm>
          <a:prstGeom prst="rect">
            <a:avLst/>
          </a:prstGeom>
          <a:noFill/>
        </p:spPr>
        <p:txBody>
          <a:bodyPr wrap="square">
            <a:spAutoFit/>
          </a:bodyPr>
          <a:lstStyle/>
          <a:p>
            <a:pPr>
              <a:lnSpc>
                <a:spcPct val="150000"/>
              </a:lnSpc>
              <a:buNone/>
            </a:pPr>
            <a:r>
              <a:rPr lang="en-US" sz="2000" b="1" dirty="0">
                <a:solidFill>
                  <a:srgbClr val="FF0000"/>
                </a:solidFill>
                <a:latin typeface="Times New Roman" panose="02020603050405020304" pitchFamily="18" charset="0"/>
                <a:cs typeface="Times New Roman" panose="02020603050405020304" pitchFamily="18" charset="0"/>
              </a:rPr>
              <a:t>1. Define the Problem Statement</a:t>
            </a:r>
          </a:p>
          <a:p>
            <a:pPr>
              <a:lnSpc>
                <a:spcPct val="150000"/>
              </a:lnSpc>
              <a:buNone/>
            </a:pPr>
            <a:r>
              <a:rPr lang="en-US" sz="2000" dirty="0">
                <a:latin typeface="Times New Roman" panose="02020603050405020304" pitchFamily="18" charset="0"/>
                <a:cs typeface="Times New Roman" panose="02020603050405020304" pitchFamily="18" charset="0"/>
              </a:rPr>
              <a:t>First, we need to clearly understand </a:t>
            </a:r>
            <a:r>
              <a:rPr lang="en-US" sz="2000" b="1" dirty="0">
                <a:latin typeface="Times New Roman" panose="02020603050405020304" pitchFamily="18" charset="0"/>
                <a:cs typeface="Times New Roman" panose="02020603050405020304" pitchFamily="18" charset="0"/>
              </a:rPr>
              <a:t>what problem we want to solve</a:t>
            </a:r>
            <a:r>
              <a:rPr lang="en-US" sz="2000" dirty="0">
                <a:latin typeface="Times New Roman" panose="02020603050405020304" pitchFamily="18" charset="0"/>
                <a:cs typeface="Times New Roman" panose="02020603050405020304" pitchFamily="18" charset="0"/>
              </a:rPr>
              <a:t>.</a:t>
            </a:r>
          </a:p>
          <a:p>
            <a:pPr>
              <a:lnSpc>
                <a:spcPct val="150000"/>
              </a:lnSpc>
              <a:buNone/>
            </a:pPr>
            <a:r>
              <a:rPr lang="en-US" sz="2000" dirty="0">
                <a:latin typeface="Times New Roman" panose="02020603050405020304" pitchFamily="18" charset="0"/>
                <a:cs typeface="Times New Roman" panose="02020603050405020304" pitchFamily="18" charset="0"/>
              </a:rPr>
              <a:t>We ask:</a:t>
            </a:r>
          </a:p>
          <a:p>
            <a:pPr>
              <a:lnSpc>
                <a:spcPct val="150000"/>
              </a:lnSpc>
              <a:buNone/>
            </a:pPr>
            <a:r>
              <a:rPr lang="en-US" sz="2000" dirty="0">
                <a:latin typeface="Times New Roman" panose="02020603050405020304" pitchFamily="18" charset="0"/>
                <a:cs typeface="Times New Roman" panose="02020603050405020304" pitchFamily="18" charset="0"/>
              </a:rPr>
              <a:t>"What do we want to find out from the data?"</a:t>
            </a:r>
          </a:p>
          <a:p>
            <a:pPr>
              <a:lnSpc>
                <a:spcPct val="150000"/>
              </a:lnSpc>
              <a:buNone/>
            </a:pPr>
            <a:r>
              <a:rPr lang="en-US" sz="2000" b="1" dirty="0">
                <a:latin typeface="Times New Roman" panose="02020603050405020304" pitchFamily="18" charset="0"/>
                <a:cs typeface="Times New Roman" panose="02020603050405020304" pitchFamily="18" charset="0"/>
              </a:rPr>
              <a:t>Example – College:</a:t>
            </a:r>
            <a:endParaRPr lang="en-US" sz="2000" dirty="0">
              <a:latin typeface="Times New Roman" panose="02020603050405020304" pitchFamily="18" charset="0"/>
              <a:cs typeface="Times New Roman" panose="02020603050405020304" pitchFamily="18" charset="0"/>
            </a:endParaRPr>
          </a:p>
          <a:p>
            <a:pPr>
              <a:lnSpc>
                <a:spcPct val="150000"/>
              </a:lnSpc>
              <a:buNone/>
            </a:pPr>
            <a:r>
              <a:rPr lang="en-US" sz="2000" dirty="0">
                <a:latin typeface="Times New Roman" panose="02020603050405020304" pitchFamily="18" charset="0"/>
                <a:cs typeface="Times New Roman" panose="02020603050405020304" pitchFamily="18" charset="0"/>
              </a:rPr>
              <a:t>A college wants to know:</a:t>
            </a:r>
          </a:p>
          <a:p>
            <a:pPr>
              <a:lnSpc>
                <a:spcPct val="150000"/>
              </a:lnSpc>
              <a:buNone/>
            </a:pPr>
            <a:r>
              <a:rPr lang="en-US" sz="2000" dirty="0">
                <a:latin typeface="Times New Roman" panose="02020603050405020304" pitchFamily="18" charset="0"/>
                <a:cs typeface="Times New Roman" panose="02020603050405020304" pitchFamily="18" charset="0"/>
              </a:rPr>
              <a:t>"Why are some students getting low marks?"</a:t>
            </a:r>
          </a:p>
          <a:p>
            <a:pPr>
              <a:lnSpc>
                <a:spcPct val="150000"/>
              </a:lnSpc>
              <a:buNone/>
            </a:pPr>
            <a:r>
              <a:rPr lang="en-US" sz="2000" dirty="0">
                <a:latin typeface="Times New Roman" panose="02020603050405020304" pitchFamily="18" charset="0"/>
                <a:cs typeface="Times New Roman" panose="02020603050405020304" pitchFamily="18" charset="0"/>
              </a:rPr>
              <a:t>So, the problem statement is:</a:t>
            </a:r>
          </a:p>
          <a:p>
            <a:pPr>
              <a:lnSpc>
                <a:spcPct val="150000"/>
              </a:lnSpc>
              <a:buNone/>
            </a:pPr>
            <a:r>
              <a:rPr lang="en-US" sz="2000" b="1" dirty="0">
                <a:latin typeface="Times New Roman" panose="02020603050405020304" pitchFamily="18" charset="0"/>
                <a:cs typeface="Times New Roman" panose="02020603050405020304" pitchFamily="18" charset="0"/>
              </a:rPr>
              <a:t>Identify the factors affecting students' academic performance.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56428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1DDBDE-C124-4975-849F-C04158725121}"/>
              </a:ext>
            </a:extLst>
          </p:cNvPr>
          <p:cNvSpPr txBox="1"/>
          <p:nvPr/>
        </p:nvSpPr>
        <p:spPr>
          <a:xfrm>
            <a:off x="446808" y="283478"/>
            <a:ext cx="11440392" cy="3785652"/>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2. Collect the Data</a:t>
            </a:r>
          </a:p>
          <a:p>
            <a:pPr>
              <a:buNone/>
            </a:pPr>
            <a:r>
              <a:rPr lang="en-US" sz="2000" dirty="0">
                <a:latin typeface="Times New Roman" panose="02020603050405020304" pitchFamily="18" charset="0"/>
                <a:cs typeface="Times New Roman" panose="02020603050405020304" pitchFamily="18" charset="0"/>
              </a:rPr>
              <a:t>Once we know the problem, we need to </a:t>
            </a:r>
            <a:r>
              <a:rPr lang="en-US" sz="2000" b="1" dirty="0">
                <a:latin typeface="Times New Roman" panose="02020603050405020304" pitchFamily="18" charset="0"/>
                <a:cs typeface="Times New Roman" panose="02020603050405020304" pitchFamily="18" charset="0"/>
              </a:rPr>
              <a:t>collect the required data</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Data can come from:</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College databases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Surveys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Excel files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Websites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Sensors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Applications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Social media </a:t>
            </a:r>
          </a:p>
          <a:p>
            <a:pPr>
              <a:buNone/>
            </a:pPr>
            <a:r>
              <a:rPr lang="en-US" sz="2000" b="1" dirty="0">
                <a:latin typeface="Times New Roman" panose="02020603050405020304" pitchFamily="18" charset="0"/>
                <a:cs typeface="Times New Roman" panose="02020603050405020304" pitchFamily="18" charset="0"/>
              </a:rPr>
              <a:t>Example:</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 student performance, we may collect:</a:t>
            </a:r>
          </a:p>
        </p:txBody>
      </p:sp>
      <p:graphicFrame>
        <p:nvGraphicFramePr>
          <p:cNvPr id="4" name="Table 3">
            <a:extLst>
              <a:ext uri="{FF2B5EF4-FFF2-40B4-BE49-F238E27FC236}">
                <a16:creationId xmlns:a16="http://schemas.microsoft.com/office/drawing/2014/main" id="{8AEB1D0B-888A-1C0D-357B-641C3514BB0D}"/>
              </a:ext>
            </a:extLst>
          </p:cNvPr>
          <p:cNvGraphicFramePr>
            <a:graphicFrameLocks noGrp="1"/>
          </p:cNvGraphicFramePr>
          <p:nvPr>
            <p:extLst>
              <p:ext uri="{D42A27DB-BD31-4B8C-83A1-F6EECF244321}">
                <p14:modId xmlns:p14="http://schemas.microsoft.com/office/powerpoint/2010/main" val="742250231"/>
              </p:ext>
            </p:extLst>
          </p:nvPr>
        </p:nvGraphicFramePr>
        <p:xfrm>
          <a:off x="744681" y="4173783"/>
          <a:ext cx="10515600" cy="1889760"/>
        </p:xfrm>
        <a:graphic>
          <a:graphicData uri="http://schemas.openxmlformats.org/drawingml/2006/table">
            <a:tbl>
              <a:tblPr/>
              <a:tblGrid>
                <a:gridCol w="2103120">
                  <a:extLst>
                    <a:ext uri="{9D8B030D-6E8A-4147-A177-3AD203B41FA5}">
                      <a16:colId xmlns:a16="http://schemas.microsoft.com/office/drawing/2014/main" val="2314097655"/>
                    </a:ext>
                  </a:extLst>
                </a:gridCol>
                <a:gridCol w="2103120">
                  <a:extLst>
                    <a:ext uri="{9D8B030D-6E8A-4147-A177-3AD203B41FA5}">
                      <a16:colId xmlns:a16="http://schemas.microsoft.com/office/drawing/2014/main" val="4041273750"/>
                    </a:ext>
                  </a:extLst>
                </a:gridCol>
                <a:gridCol w="2103120">
                  <a:extLst>
                    <a:ext uri="{9D8B030D-6E8A-4147-A177-3AD203B41FA5}">
                      <a16:colId xmlns:a16="http://schemas.microsoft.com/office/drawing/2014/main" val="3727289912"/>
                    </a:ext>
                  </a:extLst>
                </a:gridCol>
                <a:gridCol w="2103120">
                  <a:extLst>
                    <a:ext uri="{9D8B030D-6E8A-4147-A177-3AD203B41FA5}">
                      <a16:colId xmlns:a16="http://schemas.microsoft.com/office/drawing/2014/main" val="1087577536"/>
                    </a:ext>
                  </a:extLst>
                </a:gridCol>
                <a:gridCol w="2103120">
                  <a:extLst>
                    <a:ext uri="{9D8B030D-6E8A-4147-A177-3AD203B41FA5}">
                      <a16:colId xmlns:a16="http://schemas.microsoft.com/office/drawing/2014/main" val="1377379331"/>
                    </a:ext>
                  </a:extLst>
                </a:gridCol>
              </a:tblGrid>
              <a:tr h="0">
                <a:tc>
                  <a:txBody>
                    <a:bodyPr/>
                    <a:lstStyle/>
                    <a:p>
                      <a:pPr>
                        <a:buNone/>
                      </a:pPr>
                      <a:r>
                        <a:rPr lang="en-IN" sz="2000" b="1" dirty="0">
                          <a:latin typeface="Times New Roman" panose="02020603050405020304" pitchFamily="18" charset="0"/>
                          <a:cs typeface="Times New Roman" panose="02020603050405020304" pitchFamily="18" charset="0"/>
                        </a:rPr>
                        <a:t>Student</a:t>
                      </a: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Attendance</a:t>
                      </a: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Study Hours</a:t>
                      </a:r>
                    </a:p>
                  </a:txBody>
                  <a:tcPr anchor="ctr">
                    <a:lnL>
                      <a:noFill/>
                    </a:lnL>
                    <a:lnR>
                      <a:noFill/>
                    </a:lnR>
                    <a:lnT>
                      <a:noFill/>
                    </a:lnT>
                    <a:lnB>
                      <a:noFill/>
                    </a:lnB>
                    <a:noFill/>
                  </a:tcPr>
                </a:tc>
                <a:tc>
                  <a:txBody>
                    <a:bodyPr/>
                    <a:lstStyle/>
                    <a:p>
                      <a:pPr>
                        <a:buNone/>
                      </a:pPr>
                      <a:r>
                        <a:rPr lang="en-IN" sz="2000" b="1">
                          <a:latin typeface="Times New Roman" panose="02020603050405020304" pitchFamily="18" charset="0"/>
                          <a:cs typeface="Times New Roman" panose="02020603050405020304" pitchFamily="18" charset="0"/>
                        </a:rPr>
                        <a:t>Assignment Marks</a:t>
                      </a:r>
                    </a:p>
                  </a:txBody>
                  <a:tcPr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Exam Marks</a:t>
                      </a:r>
                    </a:p>
                  </a:txBody>
                  <a:tcPr anchor="ctr">
                    <a:lnL>
                      <a:noFill/>
                    </a:lnL>
                    <a:lnR>
                      <a:noFill/>
                    </a:lnR>
                    <a:lnT>
                      <a:noFill/>
                    </a:lnT>
                    <a:lnB>
                      <a:noFill/>
                    </a:lnB>
                    <a:noFill/>
                  </a:tcPr>
                </a:tc>
                <a:extLst>
                  <a:ext uri="{0D108BD9-81ED-4DB2-BD59-A6C34878D82A}">
                    <a16:rowId xmlns:a16="http://schemas.microsoft.com/office/drawing/2014/main" val="2406284031"/>
                  </a:ext>
                </a:extLst>
              </a:tr>
              <a:tr h="0">
                <a:tc>
                  <a:txBody>
                    <a:bodyPr/>
                    <a:lstStyle/>
                    <a:p>
                      <a:pPr>
                        <a:buNone/>
                      </a:pPr>
                      <a:r>
                        <a:rPr lang="en-IN" sz="2000">
                          <a:latin typeface="Times New Roman" panose="02020603050405020304" pitchFamily="18" charset="0"/>
                          <a:cs typeface="Times New Roman" panose="02020603050405020304" pitchFamily="18" charset="0"/>
                        </a:rPr>
                        <a:t>A</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90%</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85</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88</a:t>
                      </a:r>
                    </a:p>
                  </a:txBody>
                  <a:tcPr anchor="ctr">
                    <a:lnL>
                      <a:noFill/>
                    </a:lnL>
                    <a:lnR>
                      <a:noFill/>
                    </a:lnR>
                    <a:lnT>
                      <a:noFill/>
                    </a:lnT>
                    <a:lnB>
                      <a:noFill/>
                    </a:lnB>
                    <a:noFill/>
                  </a:tcPr>
                </a:tc>
                <a:extLst>
                  <a:ext uri="{0D108BD9-81ED-4DB2-BD59-A6C34878D82A}">
                    <a16:rowId xmlns:a16="http://schemas.microsoft.com/office/drawing/2014/main" val="1953813755"/>
                  </a:ext>
                </a:extLst>
              </a:tr>
              <a:tr h="0">
                <a:tc>
                  <a:txBody>
                    <a:bodyPr/>
                    <a:lstStyle/>
                    <a:p>
                      <a:pPr>
                        <a:buNone/>
                      </a:pPr>
                      <a:r>
                        <a:rPr lang="en-IN" sz="2000">
                          <a:latin typeface="Times New Roman" panose="02020603050405020304" pitchFamily="18" charset="0"/>
                          <a:cs typeface="Times New Roman" panose="02020603050405020304" pitchFamily="18" charset="0"/>
                        </a:rPr>
                        <a:t>B</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60%</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60</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55</a:t>
                      </a:r>
                    </a:p>
                  </a:txBody>
                  <a:tcPr anchor="ctr">
                    <a:lnL>
                      <a:noFill/>
                    </a:lnL>
                    <a:lnR>
                      <a:noFill/>
                    </a:lnR>
                    <a:lnT>
                      <a:noFill/>
                    </a:lnT>
                    <a:lnB>
                      <a:noFill/>
                    </a:lnB>
                    <a:noFill/>
                  </a:tcPr>
                </a:tc>
                <a:extLst>
                  <a:ext uri="{0D108BD9-81ED-4DB2-BD59-A6C34878D82A}">
                    <a16:rowId xmlns:a16="http://schemas.microsoft.com/office/drawing/2014/main" val="4178826563"/>
                  </a:ext>
                </a:extLst>
              </a:tr>
              <a:tr h="0">
                <a:tc>
                  <a:txBody>
                    <a:bodyPr/>
                    <a:lstStyle/>
                    <a:p>
                      <a:pPr>
                        <a:buNone/>
                      </a:pPr>
                      <a:r>
                        <a:rPr lang="en-IN" sz="2000">
                          <a:latin typeface="Times New Roman" panose="02020603050405020304" pitchFamily="18" charset="0"/>
                          <a:cs typeface="Times New Roman" panose="02020603050405020304" pitchFamily="18" charset="0"/>
                        </a:rPr>
                        <a:t>C</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80%</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75</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78</a:t>
                      </a:r>
                    </a:p>
                  </a:txBody>
                  <a:tcPr anchor="ctr">
                    <a:lnL>
                      <a:noFill/>
                    </a:lnL>
                    <a:lnR>
                      <a:noFill/>
                    </a:lnR>
                    <a:lnT>
                      <a:noFill/>
                    </a:lnT>
                    <a:lnB>
                      <a:noFill/>
                    </a:lnB>
                    <a:noFill/>
                  </a:tcPr>
                </a:tc>
                <a:extLst>
                  <a:ext uri="{0D108BD9-81ED-4DB2-BD59-A6C34878D82A}">
                    <a16:rowId xmlns:a16="http://schemas.microsoft.com/office/drawing/2014/main" val="2456333719"/>
                  </a:ext>
                </a:extLst>
              </a:tr>
            </a:tbl>
          </a:graphicData>
        </a:graphic>
      </p:graphicFrame>
    </p:spTree>
    <p:extLst>
      <p:ext uri="{BB962C8B-B14F-4D97-AF65-F5344CB8AC3E}">
        <p14:creationId xmlns:p14="http://schemas.microsoft.com/office/powerpoint/2010/main" val="40321612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22E499-1B5A-B960-62F9-6E97401A0F78}"/>
              </a:ext>
            </a:extLst>
          </p:cNvPr>
          <p:cNvSpPr txBox="1"/>
          <p:nvPr/>
        </p:nvSpPr>
        <p:spPr>
          <a:xfrm>
            <a:off x="477982" y="127753"/>
            <a:ext cx="10858500" cy="5632311"/>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3. Prepare the Data</a:t>
            </a:r>
          </a:p>
          <a:p>
            <a:pPr>
              <a:buNone/>
            </a:pPr>
            <a:r>
              <a:rPr lang="en-US" sz="2000" dirty="0">
                <a:latin typeface="Times New Roman" panose="02020603050405020304" pitchFamily="18" charset="0"/>
                <a:cs typeface="Times New Roman" panose="02020603050405020304" pitchFamily="18" charset="0"/>
              </a:rPr>
              <a:t>The collected data may not be ready for analysis.</a:t>
            </a:r>
          </a:p>
          <a:p>
            <a:pPr>
              <a:buNone/>
            </a:pPr>
            <a:r>
              <a:rPr lang="en-US" sz="2000" dirty="0">
                <a:latin typeface="Times New Roman" panose="02020603050405020304" pitchFamily="18" charset="0"/>
                <a:cs typeface="Times New Roman" panose="02020603050405020304" pitchFamily="18" charset="0"/>
              </a:rPr>
              <a:t>It can contain: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Missing values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Duplicate records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Incorrect values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Different formats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Unnecessary data </a:t>
            </a:r>
          </a:p>
          <a:p>
            <a:pPr>
              <a:buNone/>
            </a:pPr>
            <a:r>
              <a:rPr lang="en-US" sz="2000" dirty="0">
                <a:latin typeface="Times New Roman" panose="02020603050405020304" pitchFamily="18" charset="0"/>
                <a:cs typeface="Times New Roman" panose="02020603050405020304" pitchFamily="18" charset="0"/>
              </a:rPr>
              <a:t>So ,we </a:t>
            </a:r>
            <a:r>
              <a:rPr lang="en-US" sz="2000" b="1" dirty="0">
                <a:latin typeface="Times New Roman" panose="02020603050405020304" pitchFamily="18" charset="0"/>
                <a:cs typeface="Times New Roman" panose="02020603050405020304" pitchFamily="18" charset="0"/>
              </a:rPr>
              <a:t>clean and prepare the data</a:t>
            </a:r>
            <a:r>
              <a:rPr lang="en-US" sz="2000" dirty="0">
                <a:latin typeface="Times New Roman" panose="02020603050405020304" pitchFamily="18" charset="0"/>
                <a:cs typeface="Times New Roman" panose="02020603050405020304" pitchFamily="18" charset="0"/>
              </a:rPr>
              <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 example:</a:t>
            </a:r>
          </a:p>
          <a:p>
            <a:pPr>
              <a:buNone/>
            </a:pPr>
            <a:r>
              <a:rPr lang="en-US" sz="2000" dirty="0">
                <a:latin typeface="Times New Roman" panose="02020603050405020304" pitchFamily="18" charset="0"/>
                <a:cs typeface="Times New Roman" panose="02020603050405020304" pitchFamily="18" charset="0"/>
              </a:rPr>
              <a:t>Attendance = 90%</a:t>
            </a:r>
          </a:p>
          <a:p>
            <a:pPr>
              <a:buNone/>
            </a:pPr>
            <a:r>
              <a:rPr lang="en-US" sz="2000" dirty="0">
                <a:latin typeface="Times New Roman" panose="02020603050405020304" pitchFamily="18" charset="0"/>
                <a:cs typeface="Times New Roman" panose="02020603050405020304" pitchFamily="18" charset="0"/>
              </a:rPr>
              <a:t>but another record may have:</a:t>
            </a:r>
          </a:p>
          <a:p>
            <a:pPr>
              <a:buNone/>
            </a:pPr>
            <a:r>
              <a:rPr lang="en-US" sz="2000" dirty="0">
                <a:latin typeface="Times New Roman" panose="02020603050405020304" pitchFamily="18" charset="0"/>
                <a:cs typeface="Times New Roman" panose="02020603050405020304" pitchFamily="18" charset="0"/>
              </a:rPr>
              <a:t>Attendance = "90 percent"</a:t>
            </a:r>
          </a:p>
          <a:p>
            <a:pPr>
              <a:buNone/>
            </a:pPr>
            <a:r>
              <a:rPr lang="en-US" sz="2000" dirty="0">
                <a:latin typeface="Times New Roman" panose="02020603050405020304" pitchFamily="18" charset="0"/>
                <a:cs typeface="Times New Roman" panose="02020603050405020304" pitchFamily="18" charset="0"/>
              </a:rPr>
              <a:t>We need to convert them into a common format.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Simple meaning:</a:t>
            </a: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Prepare = Clean the data and make it ready for analysis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11330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1445C3-ADA4-27E5-A37A-B124FECD5392}"/>
              </a:ext>
            </a:extLst>
          </p:cNvPr>
          <p:cNvSpPr txBox="1"/>
          <p:nvPr/>
        </p:nvSpPr>
        <p:spPr>
          <a:xfrm>
            <a:off x="623453" y="252305"/>
            <a:ext cx="8915401" cy="5324535"/>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4. Plan the Model</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Now we decide </a:t>
            </a:r>
            <a:r>
              <a:rPr lang="en-US" sz="2000" b="1" dirty="0">
                <a:latin typeface="Times New Roman" panose="02020603050405020304" pitchFamily="18" charset="0"/>
                <a:cs typeface="Times New Roman" panose="02020603050405020304" pitchFamily="18" charset="0"/>
              </a:rPr>
              <a:t>how we are going to analyze the data</a:t>
            </a:r>
            <a:r>
              <a:rPr lang="en-US" sz="2000" dirty="0">
                <a:latin typeface="Times New Roman" panose="02020603050405020304" pitchFamily="18" charset="0"/>
                <a:cs typeface="Times New Roman" panose="02020603050405020304" pitchFamily="18" charset="0"/>
              </a:rPr>
              <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We decide: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variables/features are important?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analytical method should we use?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type of model is suitable?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are we trying to predict or classify? </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 example:</a:t>
            </a:r>
          </a:p>
          <a:p>
            <a:pPr>
              <a:buNone/>
            </a:pPr>
            <a:r>
              <a:rPr lang="en-US" sz="2000" dirty="0">
                <a:latin typeface="Times New Roman" panose="02020603050405020304" pitchFamily="18" charset="0"/>
                <a:cs typeface="Times New Roman" panose="02020603050405020304" pitchFamily="18" charset="0"/>
              </a:rPr>
              <a:t>If we want to </a:t>
            </a:r>
            <a:r>
              <a:rPr lang="en-US" sz="2000" b="1" dirty="0">
                <a:latin typeface="Times New Roman" panose="02020603050405020304" pitchFamily="18" charset="0"/>
                <a:cs typeface="Times New Roman" panose="02020603050405020304" pitchFamily="18" charset="0"/>
              </a:rPr>
              <a:t>predict whether a student will pass or fail</a:t>
            </a:r>
            <a:r>
              <a:rPr lang="en-US" sz="2000" dirty="0">
                <a:latin typeface="Times New Roman" panose="02020603050405020304" pitchFamily="18" charset="0"/>
                <a:cs typeface="Times New Roman" panose="02020603050405020304" pitchFamily="18" charset="0"/>
              </a:rPr>
              <a:t>, we may choose a classification model such as:</a:t>
            </a:r>
          </a:p>
          <a:p>
            <a:pPr>
              <a:buNone/>
            </a:pPr>
            <a:r>
              <a:rPr lang="en-US" sz="2000" b="1" dirty="0">
                <a:latin typeface="Times New Roman" panose="02020603050405020304" pitchFamily="18" charset="0"/>
                <a:cs typeface="Times New Roman" panose="02020603050405020304" pitchFamily="18" charset="0"/>
              </a:rPr>
              <a:t>Decision Tree / Logistic Regression / Random Forest</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So:</a:t>
            </a:r>
          </a:p>
          <a:p>
            <a:pPr>
              <a:buNone/>
            </a:pPr>
            <a:r>
              <a:rPr lang="en-US" sz="2000" b="1" dirty="0">
                <a:latin typeface="Times New Roman" panose="02020603050405020304" pitchFamily="18" charset="0"/>
                <a:cs typeface="Times New Roman" panose="02020603050405020304" pitchFamily="18" charset="0"/>
              </a:rPr>
              <a:t>Plan Model = Decide what method/model we should use.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78955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3E24C2-4612-FF84-41BF-C1064B172049}"/>
              </a:ext>
            </a:extLst>
          </p:cNvPr>
          <p:cNvSpPr txBox="1"/>
          <p:nvPr/>
        </p:nvSpPr>
        <p:spPr>
          <a:xfrm>
            <a:off x="550718" y="509155"/>
            <a:ext cx="8590684" cy="4708981"/>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5. Build the Model</a:t>
            </a:r>
          </a:p>
          <a:p>
            <a:pPr>
              <a:buNone/>
            </a:pPr>
            <a:r>
              <a:rPr lang="en-US" sz="2000" dirty="0">
                <a:latin typeface="Times New Roman" panose="02020603050405020304" pitchFamily="18" charset="0"/>
                <a:cs typeface="Times New Roman" panose="02020603050405020304" pitchFamily="18" charset="0"/>
              </a:rPr>
              <a:t>Now we actually </a:t>
            </a:r>
            <a:r>
              <a:rPr lang="en-US" sz="2000" b="1" dirty="0">
                <a:latin typeface="Times New Roman" panose="02020603050405020304" pitchFamily="18" charset="0"/>
                <a:cs typeface="Times New Roman" panose="02020603050405020304" pitchFamily="18" charset="0"/>
              </a:rPr>
              <a:t>apply the selected model to the data</a:t>
            </a:r>
            <a:r>
              <a:rPr lang="en-US" sz="2000" dirty="0">
                <a:latin typeface="Times New Roman" panose="02020603050405020304" pitchFamily="18" charset="0"/>
                <a:cs typeface="Times New Roman" panose="02020603050405020304" pitchFamily="18" charset="0"/>
              </a:rPr>
              <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 example:</a:t>
            </a:r>
          </a:p>
          <a:p>
            <a:pPr>
              <a:buNone/>
            </a:pPr>
            <a:r>
              <a:rPr lang="en-US" sz="2000" dirty="0">
                <a:latin typeface="Times New Roman" panose="02020603050405020304" pitchFamily="18" charset="0"/>
                <a:cs typeface="Times New Roman" panose="02020603050405020304" pitchFamily="18" charset="0"/>
              </a:rPr>
              <a:t>We give the student data to a machine learning model.</a:t>
            </a:r>
          </a:p>
          <a:p>
            <a:pPr rtl="0">
              <a:buNone/>
            </a:pPr>
            <a:endParaRPr lang="en-US" sz="2000" dirty="0">
              <a:latin typeface="Times New Roman" panose="02020603050405020304" pitchFamily="18" charset="0"/>
              <a:cs typeface="Times New Roman" panose="02020603050405020304" pitchFamily="18" charset="0"/>
            </a:endParaRPr>
          </a:p>
          <a:p>
            <a:pPr rtl="0">
              <a:buNone/>
            </a:pPr>
            <a:r>
              <a:rPr lang="en-US" sz="2000" dirty="0">
                <a:latin typeface="Times New Roman" panose="02020603050405020304" pitchFamily="18" charset="0"/>
                <a:cs typeface="Times New Roman" panose="02020603050405020304" pitchFamily="18" charset="0"/>
              </a:rPr>
              <a:t>Attendance</a:t>
            </a:r>
          </a:p>
          <a:p>
            <a:pPr rtl="0">
              <a:buNone/>
            </a:pPr>
            <a:r>
              <a:rPr lang="en-US" sz="2000" dirty="0">
                <a:latin typeface="Times New Roman" panose="02020603050405020304" pitchFamily="18" charset="0"/>
                <a:cs typeface="Times New Roman" panose="02020603050405020304" pitchFamily="18" charset="0"/>
              </a:rPr>
              <a:t>Study Hours</a:t>
            </a:r>
          </a:p>
          <a:p>
            <a:pPr rtl="0">
              <a:buNone/>
            </a:pPr>
            <a:r>
              <a:rPr lang="en-US" sz="2000" dirty="0">
                <a:latin typeface="Times New Roman" panose="02020603050405020304" pitchFamily="18" charset="0"/>
                <a:cs typeface="Times New Roman" panose="02020603050405020304" pitchFamily="18" charset="0"/>
              </a:rPr>
              <a:t>Assignment Marks</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   ML Model</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  Pass / Fail</a:t>
            </a:r>
          </a:p>
          <a:p>
            <a:pPr rtl="0">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 model learns patterns from the available data</a:t>
            </a:r>
          </a:p>
        </p:txBody>
      </p:sp>
    </p:spTree>
    <p:extLst>
      <p:ext uri="{BB962C8B-B14F-4D97-AF65-F5344CB8AC3E}">
        <p14:creationId xmlns:p14="http://schemas.microsoft.com/office/powerpoint/2010/main" val="1068671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7F7B6C-0DF0-5E55-F51F-0D35580F282D}"/>
              </a:ext>
            </a:extLst>
          </p:cNvPr>
          <p:cNvSpPr txBox="1"/>
          <p:nvPr/>
        </p:nvSpPr>
        <p:spPr>
          <a:xfrm>
            <a:off x="748145" y="508798"/>
            <a:ext cx="10349346" cy="5632311"/>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6. Visualize the Data</a:t>
            </a:r>
          </a:p>
          <a:p>
            <a:pPr>
              <a:buNone/>
            </a:pPr>
            <a:endParaRPr lang="en-US" sz="2000" b="1" dirty="0">
              <a:solidFill>
                <a:srgbClr val="FF0000"/>
              </a:solidFill>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Now we represent the results using </a:t>
            </a:r>
            <a:r>
              <a:rPr lang="en-US" sz="2000" b="1" dirty="0">
                <a:latin typeface="Times New Roman" panose="02020603050405020304" pitchFamily="18" charset="0"/>
                <a:cs typeface="Times New Roman" panose="02020603050405020304" pitchFamily="18" charset="0"/>
              </a:rPr>
              <a:t>graphs and charts</a:t>
            </a:r>
            <a:r>
              <a:rPr lang="en-US" sz="2000" dirty="0">
                <a:latin typeface="Times New Roman" panose="02020603050405020304" pitchFamily="18" charset="0"/>
                <a:cs typeface="Times New Roman" panose="02020603050405020304" pitchFamily="18" charset="0"/>
              </a:rPr>
              <a:t> so that they are easier to understand.</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 example: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Bar chart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Histogram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Pie chart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Scatter plot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Box plot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Line chart </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We might create a graph showing:</a:t>
            </a:r>
          </a:p>
          <a:p>
            <a:pPr>
              <a:buNone/>
            </a:pPr>
            <a:r>
              <a:rPr lang="en-US" sz="2000" b="1" dirty="0">
                <a:latin typeface="Times New Roman" panose="02020603050405020304" pitchFamily="18" charset="0"/>
                <a:cs typeface="Times New Roman" panose="02020603050405020304" pitchFamily="18" charset="0"/>
              </a:rPr>
              <a:t>Attendance vs Exam Marks</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This may help us visually see that students with higher attendance generally have higher marks.</a:t>
            </a:r>
          </a:p>
          <a:p>
            <a:pPr>
              <a:buNone/>
            </a:pPr>
            <a:r>
              <a:rPr lang="en-US" sz="2000" dirty="0">
                <a:latin typeface="Times New Roman" panose="02020603050405020304" pitchFamily="18" charset="0"/>
                <a:cs typeface="Times New Roman" panose="02020603050405020304" pitchFamily="18" charset="0"/>
              </a:rPr>
              <a:t>So:</a:t>
            </a:r>
          </a:p>
          <a:p>
            <a:pPr>
              <a:buNone/>
            </a:pPr>
            <a:r>
              <a:rPr lang="en-US" sz="2000" b="1" dirty="0">
                <a:latin typeface="Times New Roman" panose="02020603050405020304" pitchFamily="18" charset="0"/>
                <a:cs typeface="Times New Roman" panose="02020603050405020304" pitchFamily="18" charset="0"/>
              </a:rPr>
              <a:t>Visualization = Convert data/results into graphs so humans can understand them easily.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68373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F6EAF0-56FC-4955-5783-2DCD11348B9D}"/>
              </a:ext>
            </a:extLst>
          </p:cNvPr>
          <p:cNvSpPr txBox="1"/>
          <p:nvPr/>
        </p:nvSpPr>
        <p:spPr>
          <a:xfrm>
            <a:off x="800100" y="297286"/>
            <a:ext cx="8393257" cy="4401205"/>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7. Interpret the Insights</a:t>
            </a:r>
          </a:p>
          <a:p>
            <a:pPr>
              <a:buNone/>
            </a:pPr>
            <a:r>
              <a:rPr lang="en-US" sz="2000" dirty="0">
                <a:latin typeface="Times New Roman" panose="02020603050405020304" pitchFamily="18" charset="0"/>
                <a:cs typeface="Times New Roman" panose="02020603050405020304" pitchFamily="18" charset="0"/>
              </a:rPr>
              <a:t>This is where we ask:</a:t>
            </a:r>
          </a:p>
          <a:p>
            <a:pPr>
              <a:buNone/>
            </a:pPr>
            <a:r>
              <a:rPr lang="en-US" sz="2000" b="1" dirty="0">
                <a:latin typeface="Times New Roman" panose="02020603050405020304" pitchFamily="18" charset="0"/>
                <a:cs typeface="Times New Roman" panose="02020603050405020304" pitchFamily="18" charset="0"/>
              </a:rPr>
              <a:t>"What does the result actually mean?"</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Suppose our analysis shows:</a:t>
            </a:r>
          </a:p>
          <a:p>
            <a:pPr>
              <a:buNone/>
            </a:pPr>
            <a:r>
              <a:rPr lang="en-US" sz="2000" dirty="0">
                <a:latin typeface="Times New Roman" panose="02020603050405020304" pitchFamily="18" charset="0"/>
                <a:cs typeface="Times New Roman" panose="02020603050405020304" pitchFamily="18" charset="0"/>
              </a:rPr>
              <a:t>Students with attendance above 80% generally score higher.</a:t>
            </a:r>
          </a:p>
          <a:p>
            <a:pPr>
              <a:buNone/>
            </a:pPr>
            <a:r>
              <a:rPr lang="en-US" sz="2000" dirty="0">
                <a:latin typeface="Times New Roman" panose="02020603050405020304" pitchFamily="18" charset="0"/>
                <a:cs typeface="Times New Roman" panose="02020603050405020304" pitchFamily="18" charset="0"/>
              </a:rPr>
              <a:t>This is an </a:t>
            </a:r>
            <a:r>
              <a:rPr lang="en-US" sz="2000" b="1" dirty="0">
                <a:latin typeface="Times New Roman" panose="02020603050405020304" pitchFamily="18" charset="0"/>
                <a:cs typeface="Times New Roman" panose="02020603050405020304" pitchFamily="18" charset="0"/>
              </a:rPr>
              <a:t>insight</a:t>
            </a:r>
            <a:r>
              <a:rPr lang="en-US" sz="2000" dirty="0">
                <a:latin typeface="Times New Roman" panose="02020603050405020304" pitchFamily="18" charset="0"/>
                <a:cs typeface="Times New Roman" panose="02020603050405020304" pitchFamily="18" charset="0"/>
              </a:rPr>
              <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We don't just look at the graph—we explain what the result tells us.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 example:</a:t>
            </a:r>
          </a:p>
          <a:p>
            <a:pPr>
              <a:buNone/>
            </a:pPr>
            <a:r>
              <a:rPr lang="en-US" sz="2000" b="1" dirty="0">
                <a:latin typeface="Times New Roman" panose="02020603050405020304" pitchFamily="18" charset="0"/>
                <a:cs typeface="Times New Roman" panose="02020603050405020304" pitchFamily="18" charset="0"/>
              </a:rPr>
              <a:t>Insight:</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"Attendance appears to have a positive relationship with academic performance."</a:t>
            </a:r>
          </a:p>
        </p:txBody>
      </p:sp>
    </p:spTree>
    <p:extLst>
      <p:ext uri="{BB962C8B-B14F-4D97-AF65-F5344CB8AC3E}">
        <p14:creationId xmlns:p14="http://schemas.microsoft.com/office/powerpoint/2010/main" val="39380707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AF8A9F-AC80-01E4-F038-8C799CA4C193}"/>
              </a:ext>
            </a:extLst>
          </p:cNvPr>
          <p:cNvSpPr txBox="1"/>
          <p:nvPr/>
        </p:nvSpPr>
        <p:spPr>
          <a:xfrm>
            <a:off x="768927" y="543388"/>
            <a:ext cx="8725766" cy="5016758"/>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8. Operationalize</a:t>
            </a:r>
          </a:p>
          <a:p>
            <a:pPr>
              <a:buNone/>
            </a:pPr>
            <a:r>
              <a:rPr lang="en-US" sz="2000" dirty="0">
                <a:latin typeface="Times New Roman" panose="02020603050405020304" pitchFamily="18" charset="0"/>
                <a:cs typeface="Times New Roman" panose="02020603050405020304" pitchFamily="18" charset="0"/>
              </a:rPr>
              <a:t>Finally, we </a:t>
            </a:r>
            <a:r>
              <a:rPr lang="en-US" sz="2000" b="1" dirty="0">
                <a:latin typeface="Times New Roman" panose="02020603050405020304" pitchFamily="18" charset="0"/>
                <a:cs typeface="Times New Roman" panose="02020603050405020304" pitchFamily="18" charset="0"/>
              </a:rPr>
              <a:t>put the results into practical use</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The analysis should help someone </a:t>
            </a:r>
            <a:r>
              <a:rPr lang="en-US" sz="2000" b="1" dirty="0">
                <a:latin typeface="Times New Roman" panose="02020603050405020304" pitchFamily="18" charset="0"/>
                <a:cs typeface="Times New Roman" panose="02020603050405020304" pitchFamily="18" charset="0"/>
              </a:rPr>
              <a:t>take action or make a decision</a:t>
            </a:r>
            <a:r>
              <a:rPr lang="en-US" sz="2000" dirty="0">
                <a:latin typeface="Times New Roman" panose="02020603050405020304" pitchFamily="18" charset="0"/>
                <a:cs typeface="Times New Roman" panose="02020603050405020304" pitchFamily="18" charset="0"/>
              </a:rPr>
              <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 example, the college may create an early-warning system:</a:t>
            </a:r>
          </a:p>
          <a:p>
            <a:pPr rtl="0">
              <a:buNone/>
            </a:pPr>
            <a:r>
              <a:rPr lang="en-US" sz="2000" dirty="0">
                <a:latin typeface="Times New Roman" panose="02020603050405020304" pitchFamily="18" charset="0"/>
                <a:cs typeface="Times New Roman" panose="02020603050405020304" pitchFamily="18" charset="0"/>
              </a:rPr>
              <a:t>Student attendance &lt; 60%</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System identifies student</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Teacher receives notification</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Counselling / Support provided</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So:</a:t>
            </a:r>
          </a:p>
          <a:p>
            <a:pPr>
              <a:buNone/>
            </a:pPr>
            <a:r>
              <a:rPr lang="en-US" sz="2000" b="1" dirty="0">
                <a:latin typeface="Times New Roman" panose="02020603050405020304" pitchFamily="18" charset="0"/>
                <a:cs typeface="Times New Roman" panose="02020603050405020304" pitchFamily="18" charset="0"/>
              </a:rPr>
              <a:t>Operationalize = Take the analytics/model into the real world and use it for decision-making.</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39886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17C3A5-110D-0519-2355-62E6F3BE59E3}"/>
              </a:ext>
            </a:extLst>
          </p:cNvPr>
          <p:cNvSpPr txBox="1"/>
          <p:nvPr/>
        </p:nvSpPr>
        <p:spPr>
          <a:xfrm>
            <a:off x="457201" y="872836"/>
            <a:ext cx="8684202" cy="1323439"/>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1. Structured Data</a:t>
            </a:r>
          </a:p>
          <a:p>
            <a:pPr>
              <a:buNone/>
            </a:pPr>
            <a:r>
              <a:rPr lang="en-US" sz="2000" dirty="0">
                <a:latin typeface="Times New Roman" panose="02020603050405020304" pitchFamily="18" charset="0"/>
                <a:cs typeface="Times New Roman" panose="02020603050405020304" pitchFamily="18" charset="0"/>
              </a:rPr>
              <a:t>Structured data is data that is </a:t>
            </a:r>
            <a:r>
              <a:rPr lang="en-US" sz="2000" b="1" dirty="0">
                <a:latin typeface="Times New Roman" panose="02020603050405020304" pitchFamily="18" charset="0"/>
                <a:cs typeface="Times New Roman" panose="02020603050405020304" pitchFamily="18" charset="0"/>
              </a:rPr>
              <a:t>organized in a fixed format</a:t>
            </a:r>
            <a:r>
              <a:rPr lang="en-US" sz="2000" dirty="0">
                <a:latin typeface="Times New Roman" panose="02020603050405020304" pitchFamily="18" charset="0"/>
                <a:cs typeface="Times New Roman" panose="02020603050405020304" pitchFamily="18" charset="0"/>
              </a:rPr>
              <a:t>, usually in rows and columns.</a:t>
            </a:r>
          </a:p>
          <a:p>
            <a:pPr>
              <a:buNone/>
            </a:pPr>
            <a:r>
              <a:rPr lang="en-US" sz="2000" dirty="0">
                <a:latin typeface="Times New Roman" panose="02020603050405020304" pitchFamily="18" charset="0"/>
                <a:cs typeface="Times New Roman" panose="02020603050405020304" pitchFamily="18" charset="0"/>
              </a:rPr>
              <a:t>Think about an </a:t>
            </a:r>
            <a:r>
              <a:rPr lang="en-US" sz="2000" b="1" dirty="0">
                <a:latin typeface="Times New Roman" panose="02020603050405020304" pitchFamily="18" charset="0"/>
                <a:cs typeface="Times New Roman" panose="02020603050405020304" pitchFamily="18" charset="0"/>
              </a:rPr>
              <a:t>Excel sheet</a:t>
            </a:r>
            <a:r>
              <a:rPr lang="en-US" sz="2000" dirty="0">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9179BA15-E3B8-3435-4E23-6E47C0EECEC8}"/>
              </a:ext>
            </a:extLst>
          </p:cNvPr>
          <p:cNvSpPr txBox="1"/>
          <p:nvPr/>
        </p:nvSpPr>
        <p:spPr>
          <a:xfrm>
            <a:off x="457201" y="301336"/>
            <a:ext cx="3439390" cy="400110"/>
          </a:xfrm>
          <a:prstGeom prst="rect">
            <a:avLst/>
          </a:prstGeom>
          <a:noFill/>
        </p:spPr>
        <p:txBody>
          <a:bodyPr wrap="squar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Types of Data</a:t>
            </a:r>
            <a:endParaRPr lang="en-IN" sz="20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6A44D3E1-37CA-1F96-0319-1CF690063FB7}"/>
              </a:ext>
            </a:extLst>
          </p:cNvPr>
          <p:cNvGraphicFramePr>
            <a:graphicFrameLocks noGrp="1"/>
          </p:cNvGraphicFramePr>
          <p:nvPr>
            <p:extLst>
              <p:ext uri="{D42A27DB-BD31-4B8C-83A1-F6EECF244321}">
                <p14:modId xmlns:p14="http://schemas.microsoft.com/office/powerpoint/2010/main" val="1412223199"/>
              </p:ext>
            </p:extLst>
          </p:nvPr>
        </p:nvGraphicFramePr>
        <p:xfrm>
          <a:off x="457201" y="2448892"/>
          <a:ext cx="10515600" cy="1463040"/>
        </p:xfrm>
        <a:graphic>
          <a:graphicData uri="http://schemas.openxmlformats.org/drawingml/2006/table">
            <a:tbl>
              <a:tblPr/>
              <a:tblGrid>
                <a:gridCol w="2628900">
                  <a:extLst>
                    <a:ext uri="{9D8B030D-6E8A-4147-A177-3AD203B41FA5}">
                      <a16:colId xmlns:a16="http://schemas.microsoft.com/office/drawing/2014/main" val="2954459153"/>
                    </a:ext>
                  </a:extLst>
                </a:gridCol>
                <a:gridCol w="2628900">
                  <a:extLst>
                    <a:ext uri="{9D8B030D-6E8A-4147-A177-3AD203B41FA5}">
                      <a16:colId xmlns:a16="http://schemas.microsoft.com/office/drawing/2014/main" val="3771884361"/>
                    </a:ext>
                  </a:extLst>
                </a:gridCol>
                <a:gridCol w="2628900">
                  <a:extLst>
                    <a:ext uri="{9D8B030D-6E8A-4147-A177-3AD203B41FA5}">
                      <a16:colId xmlns:a16="http://schemas.microsoft.com/office/drawing/2014/main" val="3463328741"/>
                    </a:ext>
                  </a:extLst>
                </a:gridCol>
                <a:gridCol w="2628900">
                  <a:extLst>
                    <a:ext uri="{9D8B030D-6E8A-4147-A177-3AD203B41FA5}">
                      <a16:colId xmlns:a16="http://schemas.microsoft.com/office/drawing/2014/main" val="2185566701"/>
                    </a:ext>
                  </a:extLst>
                </a:gridCol>
              </a:tblGrid>
              <a:tr h="0">
                <a:tc>
                  <a:txBody>
                    <a:bodyPr/>
                    <a:lstStyle/>
                    <a:p>
                      <a:pPr>
                        <a:buNone/>
                      </a:pPr>
                      <a:r>
                        <a:rPr lang="en-IN" b="1">
                          <a:latin typeface="Times New Roman" panose="02020603050405020304" pitchFamily="18" charset="0"/>
                          <a:cs typeface="Times New Roman" panose="02020603050405020304" pitchFamily="18" charset="0"/>
                        </a:rPr>
                        <a:t>Student ID</a:t>
                      </a:r>
                    </a:p>
                  </a:txBody>
                  <a:tcPr anchor="ctr">
                    <a:lnL>
                      <a:noFill/>
                    </a:lnL>
                    <a:lnR>
                      <a:noFill/>
                    </a:lnR>
                    <a:lnT>
                      <a:noFill/>
                    </a:lnT>
                    <a:lnB>
                      <a:noFill/>
                    </a:lnB>
                    <a:noFill/>
                  </a:tcPr>
                </a:tc>
                <a:tc>
                  <a:txBody>
                    <a:bodyPr/>
                    <a:lstStyle/>
                    <a:p>
                      <a:pPr>
                        <a:buNone/>
                      </a:pPr>
                      <a:r>
                        <a:rPr lang="en-IN" b="1">
                          <a:latin typeface="Times New Roman" panose="02020603050405020304" pitchFamily="18" charset="0"/>
                          <a:cs typeface="Times New Roman" panose="02020603050405020304" pitchFamily="18" charset="0"/>
                        </a:rPr>
                        <a:t>Name</a:t>
                      </a:r>
                    </a:p>
                  </a:txBody>
                  <a:tcPr anchor="ctr">
                    <a:lnL>
                      <a:noFill/>
                    </a:lnL>
                    <a:lnR>
                      <a:noFill/>
                    </a:lnR>
                    <a:lnT>
                      <a:noFill/>
                    </a:lnT>
                    <a:lnB>
                      <a:noFill/>
                    </a:lnB>
                    <a:noFill/>
                  </a:tcPr>
                </a:tc>
                <a:tc>
                  <a:txBody>
                    <a:bodyPr/>
                    <a:lstStyle/>
                    <a:p>
                      <a:pPr>
                        <a:buNone/>
                      </a:pPr>
                      <a:r>
                        <a:rPr lang="en-IN" b="1">
                          <a:latin typeface="Times New Roman" panose="02020603050405020304" pitchFamily="18" charset="0"/>
                          <a:cs typeface="Times New Roman" panose="02020603050405020304" pitchFamily="18" charset="0"/>
                        </a:rPr>
                        <a:t>Age</a:t>
                      </a:r>
                    </a:p>
                  </a:txBody>
                  <a:tcPr anchor="ctr">
                    <a:lnL>
                      <a:noFill/>
                    </a:lnL>
                    <a:lnR>
                      <a:noFill/>
                    </a:lnR>
                    <a:lnT>
                      <a:noFill/>
                    </a:lnT>
                    <a:lnB>
                      <a:noFill/>
                    </a:lnB>
                    <a:noFill/>
                  </a:tcPr>
                </a:tc>
                <a:tc>
                  <a:txBody>
                    <a:bodyPr/>
                    <a:lstStyle/>
                    <a:p>
                      <a:pPr>
                        <a:buNone/>
                      </a:pPr>
                      <a:r>
                        <a:rPr lang="en-IN" b="1" dirty="0">
                          <a:latin typeface="Times New Roman" panose="02020603050405020304" pitchFamily="18" charset="0"/>
                          <a:cs typeface="Times New Roman" panose="02020603050405020304" pitchFamily="18" charset="0"/>
                        </a:rPr>
                        <a:t>Marks</a:t>
                      </a:r>
                    </a:p>
                  </a:txBody>
                  <a:tcPr anchor="ctr">
                    <a:lnL>
                      <a:noFill/>
                    </a:lnL>
                    <a:lnR>
                      <a:noFill/>
                    </a:lnR>
                    <a:lnT>
                      <a:noFill/>
                    </a:lnT>
                    <a:lnB>
                      <a:noFill/>
                    </a:lnB>
                    <a:noFill/>
                  </a:tcPr>
                </a:tc>
                <a:extLst>
                  <a:ext uri="{0D108BD9-81ED-4DB2-BD59-A6C34878D82A}">
                    <a16:rowId xmlns:a16="http://schemas.microsoft.com/office/drawing/2014/main" val="1564703669"/>
                  </a:ext>
                </a:extLst>
              </a:tr>
              <a:tr h="0">
                <a:tc>
                  <a:txBody>
                    <a:bodyPr/>
                    <a:lstStyle/>
                    <a:p>
                      <a:pPr>
                        <a:buNone/>
                      </a:pPr>
                      <a:r>
                        <a:rPr lang="en-IN">
                          <a:latin typeface="Times New Roman" panose="02020603050405020304" pitchFamily="18" charset="0"/>
                          <a:cs typeface="Times New Roman" panose="02020603050405020304" pitchFamily="18" charset="0"/>
                        </a:rPr>
                        <a:t>101</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Ravi</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20</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85</a:t>
                      </a:r>
                    </a:p>
                  </a:txBody>
                  <a:tcPr anchor="ctr">
                    <a:lnL>
                      <a:noFill/>
                    </a:lnL>
                    <a:lnR>
                      <a:noFill/>
                    </a:lnR>
                    <a:lnT>
                      <a:noFill/>
                    </a:lnT>
                    <a:lnB>
                      <a:noFill/>
                    </a:lnB>
                    <a:noFill/>
                  </a:tcPr>
                </a:tc>
                <a:extLst>
                  <a:ext uri="{0D108BD9-81ED-4DB2-BD59-A6C34878D82A}">
                    <a16:rowId xmlns:a16="http://schemas.microsoft.com/office/drawing/2014/main" val="810547695"/>
                  </a:ext>
                </a:extLst>
              </a:tr>
              <a:tr h="0">
                <a:tc>
                  <a:txBody>
                    <a:bodyPr/>
                    <a:lstStyle/>
                    <a:p>
                      <a:pPr>
                        <a:buNone/>
                      </a:pPr>
                      <a:r>
                        <a:rPr lang="en-IN" dirty="0">
                          <a:latin typeface="Times New Roman" panose="02020603050405020304" pitchFamily="18" charset="0"/>
                          <a:cs typeface="Times New Roman" panose="02020603050405020304" pitchFamily="18" charset="0"/>
                        </a:rPr>
                        <a:t>102</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Priya</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21</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90</a:t>
                      </a:r>
                    </a:p>
                  </a:txBody>
                  <a:tcPr anchor="ctr">
                    <a:lnL>
                      <a:noFill/>
                    </a:lnL>
                    <a:lnR>
                      <a:noFill/>
                    </a:lnR>
                    <a:lnT>
                      <a:noFill/>
                    </a:lnT>
                    <a:lnB>
                      <a:noFill/>
                    </a:lnB>
                    <a:noFill/>
                  </a:tcPr>
                </a:tc>
                <a:extLst>
                  <a:ext uri="{0D108BD9-81ED-4DB2-BD59-A6C34878D82A}">
                    <a16:rowId xmlns:a16="http://schemas.microsoft.com/office/drawing/2014/main" val="338360864"/>
                  </a:ext>
                </a:extLst>
              </a:tr>
              <a:tr h="0">
                <a:tc>
                  <a:txBody>
                    <a:bodyPr/>
                    <a:lstStyle/>
                    <a:p>
                      <a:pPr>
                        <a:buNone/>
                      </a:pPr>
                      <a:r>
                        <a:rPr lang="en-IN">
                          <a:latin typeface="Times New Roman" panose="02020603050405020304" pitchFamily="18" charset="0"/>
                          <a:cs typeface="Times New Roman" panose="02020603050405020304" pitchFamily="18" charset="0"/>
                        </a:rPr>
                        <a:t>103</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Arun</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20</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78</a:t>
                      </a:r>
                    </a:p>
                  </a:txBody>
                  <a:tcPr anchor="ctr">
                    <a:lnL>
                      <a:noFill/>
                    </a:lnL>
                    <a:lnR>
                      <a:noFill/>
                    </a:lnR>
                    <a:lnT>
                      <a:noFill/>
                    </a:lnT>
                    <a:lnB>
                      <a:noFill/>
                    </a:lnB>
                    <a:noFill/>
                  </a:tcPr>
                </a:tc>
                <a:extLst>
                  <a:ext uri="{0D108BD9-81ED-4DB2-BD59-A6C34878D82A}">
                    <a16:rowId xmlns:a16="http://schemas.microsoft.com/office/drawing/2014/main" val="447626328"/>
                  </a:ext>
                </a:extLst>
              </a:tr>
            </a:tbl>
          </a:graphicData>
        </a:graphic>
      </p:graphicFrame>
      <p:sp>
        <p:nvSpPr>
          <p:cNvPr id="7" name="TextBox 6">
            <a:extLst>
              <a:ext uri="{FF2B5EF4-FFF2-40B4-BE49-F238E27FC236}">
                <a16:creationId xmlns:a16="http://schemas.microsoft.com/office/drawing/2014/main" id="{A726D86C-508A-E0AD-D8DE-F5766638E006}"/>
              </a:ext>
            </a:extLst>
          </p:cNvPr>
          <p:cNvSpPr txBox="1"/>
          <p:nvPr/>
        </p:nvSpPr>
        <p:spPr>
          <a:xfrm>
            <a:off x="457201" y="4164549"/>
            <a:ext cx="8393257" cy="1631216"/>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Everything has a proper place: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Student ID → one column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Name → one column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Age → one column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Marks → one column </a:t>
            </a:r>
          </a:p>
        </p:txBody>
      </p:sp>
      <p:sp>
        <p:nvSpPr>
          <p:cNvPr id="9" name="TextBox 8">
            <a:extLst>
              <a:ext uri="{FF2B5EF4-FFF2-40B4-BE49-F238E27FC236}">
                <a16:creationId xmlns:a16="http://schemas.microsoft.com/office/drawing/2014/main" id="{9548BD11-9E35-3CB9-11BD-22E8A30D959D}"/>
              </a:ext>
            </a:extLst>
          </p:cNvPr>
          <p:cNvSpPr txBox="1"/>
          <p:nvPr/>
        </p:nvSpPr>
        <p:spPr>
          <a:xfrm>
            <a:off x="5715001" y="4164549"/>
            <a:ext cx="6094268" cy="1938992"/>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Examples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Excel tables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SQL databases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Student records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Bank transaction tables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Employee records</a:t>
            </a:r>
          </a:p>
        </p:txBody>
      </p:sp>
    </p:spTree>
    <p:extLst>
      <p:ext uri="{BB962C8B-B14F-4D97-AF65-F5344CB8AC3E}">
        <p14:creationId xmlns:p14="http://schemas.microsoft.com/office/powerpoint/2010/main" val="21342272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511937-9011-D9A3-1E31-11DAB92FEB81}"/>
              </a:ext>
            </a:extLst>
          </p:cNvPr>
          <p:cNvSpPr txBox="1"/>
          <p:nvPr/>
        </p:nvSpPr>
        <p:spPr>
          <a:xfrm>
            <a:off x="550718" y="401333"/>
            <a:ext cx="11430000" cy="4401205"/>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2. Semi-Structured Data</a:t>
            </a:r>
          </a:p>
          <a:p>
            <a:pPr>
              <a:buNone/>
            </a:pPr>
            <a:r>
              <a:rPr lang="en-US" sz="2000" dirty="0">
                <a:latin typeface="Times New Roman" panose="02020603050405020304" pitchFamily="18" charset="0"/>
                <a:cs typeface="Times New Roman" panose="02020603050405020304" pitchFamily="18" charset="0"/>
              </a:rPr>
              <a:t>Semi-structured data </a:t>
            </a:r>
            <a:r>
              <a:rPr lang="en-US" sz="2000" b="1" dirty="0">
                <a:latin typeface="Times New Roman" panose="02020603050405020304" pitchFamily="18" charset="0"/>
                <a:cs typeface="Times New Roman" panose="02020603050405020304" pitchFamily="18" charset="0"/>
              </a:rPr>
              <a:t>does not follow a strict table format</a:t>
            </a:r>
            <a:r>
              <a:rPr lang="en-US" sz="2000" dirty="0">
                <a:latin typeface="Times New Roman" panose="02020603050405020304" pitchFamily="18" charset="0"/>
                <a:cs typeface="Times New Roman" panose="02020603050405020304" pitchFamily="18" charset="0"/>
              </a:rPr>
              <a:t>, but it still contains some organization using </a:t>
            </a:r>
            <a:r>
              <a:rPr lang="en-US" sz="2000" b="1" dirty="0">
                <a:latin typeface="Times New Roman" panose="02020603050405020304" pitchFamily="18" charset="0"/>
                <a:cs typeface="Times New Roman" panose="02020603050405020304" pitchFamily="18" charset="0"/>
              </a:rPr>
              <a:t>tags, keys, or metadata</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Common examples are: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JSON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XML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HTML </a:t>
            </a:r>
          </a:p>
          <a:p>
            <a:pPr>
              <a:buNone/>
            </a:pPr>
            <a:r>
              <a:rPr lang="en-US" sz="2000" dirty="0">
                <a:latin typeface="Times New Roman" panose="02020603050405020304" pitchFamily="18" charset="0"/>
                <a:cs typeface="Times New Roman" panose="02020603050405020304" pitchFamily="18" charset="0"/>
              </a:rPr>
              <a:t>For example, JSON:</a:t>
            </a:r>
          </a:p>
          <a:p>
            <a:pPr rtl="0">
              <a:buNone/>
            </a:pPr>
            <a:r>
              <a:rPr lang="en-US" sz="2000" dirty="0">
                <a:latin typeface="Times New Roman" panose="02020603050405020304" pitchFamily="18" charset="0"/>
                <a:cs typeface="Times New Roman" panose="02020603050405020304" pitchFamily="18" charset="0"/>
              </a:rPr>
              <a:t>{</a:t>
            </a:r>
          </a:p>
          <a:p>
            <a:pPr rtl="0">
              <a:buNone/>
            </a:pPr>
            <a:r>
              <a:rPr lang="en-US" sz="2000" dirty="0">
                <a:latin typeface="Times New Roman" panose="02020603050405020304" pitchFamily="18" charset="0"/>
                <a:cs typeface="Times New Roman" panose="02020603050405020304" pitchFamily="18" charset="0"/>
              </a:rPr>
              <a:t>   "name": "Ravi",</a:t>
            </a:r>
          </a:p>
          <a:p>
            <a:pPr rtl="0">
              <a:buNone/>
            </a:pPr>
            <a:r>
              <a:rPr lang="en-US" sz="2000" dirty="0">
                <a:latin typeface="Times New Roman" panose="02020603050405020304" pitchFamily="18" charset="0"/>
                <a:cs typeface="Times New Roman" panose="02020603050405020304" pitchFamily="18" charset="0"/>
              </a:rPr>
              <a:t>   "age": 20,</a:t>
            </a:r>
          </a:p>
          <a:p>
            <a:pPr rtl="0">
              <a:buNone/>
            </a:pPr>
            <a:r>
              <a:rPr lang="en-US" sz="2000" dirty="0">
                <a:latin typeface="Times New Roman" panose="02020603050405020304" pitchFamily="18" charset="0"/>
                <a:cs typeface="Times New Roman" panose="02020603050405020304" pitchFamily="18" charset="0"/>
              </a:rPr>
              <a:t>   "marks": 85</a:t>
            </a:r>
          </a:p>
          <a:p>
            <a:pPr rtl="0">
              <a:buNone/>
            </a:pP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There are no rows and columns like an Excel table.</a:t>
            </a:r>
          </a:p>
        </p:txBody>
      </p:sp>
      <p:sp>
        <p:nvSpPr>
          <p:cNvPr id="5" name="TextBox 4">
            <a:extLst>
              <a:ext uri="{FF2B5EF4-FFF2-40B4-BE49-F238E27FC236}">
                <a16:creationId xmlns:a16="http://schemas.microsoft.com/office/drawing/2014/main" id="{58CE6B80-82CC-5C08-9189-40F60C33417C}"/>
              </a:ext>
            </a:extLst>
          </p:cNvPr>
          <p:cNvSpPr txBox="1"/>
          <p:nvPr/>
        </p:nvSpPr>
        <p:spPr>
          <a:xfrm>
            <a:off x="1810615" y="4802538"/>
            <a:ext cx="6094268" cy="1938992"/>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But we still know:</a:t>
            </a:r>
          </a:p>
          <a:p>
            <a:pPr rtl="0">
              <a:buNone/>
            </a:pPr>
            <a:r>
              <a:rPr lang="en-US" sz="2000" dirty="0">
                <a:latin typeface="Times New Roman" panose="02020603050405020304" pitchFamily="18" charset="0"/>
                <a:cs typeface="Times New Roman" panose="02020603050405020304" pitchFamily="18" charset="0"/>
              </a:rPr>
              <a:t>name → Ravi</a:t>
            </a:r>
          </a:p>
          <a:p>
            <a:pPr rtl="0">
              <a:buNone/>
            </a:pPr>
            <a:r>
              <a:rPr lang="en-US" sz="2000" dirty="0">
                <a:latin typeface="Times New Roman" panose="02020603050405020304" pitchFamily="18" charset="0"/>
                <a:cs typeface="Times New Roman" panose="02020603050405020304" pitchFamily="18" charset="0"/>
              </a:rPr>
              <a:t>age → 20</a:t>
            </a:r>
          </a:p>
          <a:p>
            <a:pPr rtl="0">
              <a:buNone/>
            </a:pPr>
            <a:r>
              <a:rPr lang="en-US" sz="2000" dirty="0">
                <a:latin typeface="Times New Roman" panose="02020603050405020304" pitchFamily="18" charset="0"/>
                <a:cs typeface="Times New Roman" panose="02020603050405020304" pitchFamily="18" charset="0"/>
              </a:rPr>
              <a:t>marks → 85</a:t>
            </a:r>
          </a:p>
          <a:p>
            <a:pPr>
              <a:buNone/>
            </a:pPr>
            <a:r>
              <a:rPr lang="en-US" sz="2000" dirty="0">
                <a:latin typeface="Times New Roman" panose="02020603050405020304" pitchFamily="18" charset="0"/>
                <a:cs typeface="Times New Roman" panose="02020603050405020304" pitchFamily="18" charset="0"/>
              </a:rPr>
              <a:t>So, it has </a:t>
            </a:r>
            <a:r>
              <a:rPr lang="en-US" sz="2000" b="1" dirty="0">
                <a:latin typeface="Times New Roman" panose="02020603050405020304" pitchFamily="18" charset="0"/>
                <a:cs typeface="Times New Roman" panose="02020603050405020304" pitchFamily="18" charset="0"/>
              </a:rPr>
              <a:t>some structure</a:t>
            </a:r>
            <a:r>
              <a:rPr lang="en-US" sz="2000" dirty="0">
                <a:latin typeface="Times New Roman" panose="02020603050405020304" pitchFamily="18" charset="0"/>
                <a:cs typeface="Times New Roman" panose="02020603050405020304" pitchFamily="18" charset="0"/>
              </a:rPr>
              <a:t>, but not a fixed tabular structure.</a:t>
            </a:r>
          </a:p>
        </p:txBody>
      </p:sp>
    </p:spTree>
    <p:extLst>
      <p:ext uri="{BB962C8B-B14F-4D97-AF65-F5344CB8AC3E}">
        <p14:creationId xmlns:p14="http://schemas.microsoft.com/office/powerpoint/2010/main" val="17175778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8D65E2-C847-30F8-E94F-8346374C0569}"/>
              </a:ext>
            </a:extLst>
          </p:cNvPr>
          <p:cNvSpPr txBox="1"/>
          <p:nvPr/>
        </p:nvSpPr>
        <p:spPr>
          <a:xfrm>
            <a:off x="550718" y="172872"/>
            <a:ext cx="10484428" cy="6247864"/>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3. Unstructured Data</a:t>
            </a:r>
          </a:p>
          <a:p>
            <a:pPr>
              <a:buNone/>
            </a:pPr>
            <a:r>
              <a:rPr lang="en-US" sz="2000" dirty="0">
                <a:latin typeface="Times New Roman" panose="02020603050405020304" pitchFamily="18" charset="0"/>
                <a:cs typeface="Times New Roman" panose="02020603050405020304" pitchFamily="18" charset="0"/>
              </a:rPr>
              <a:t>Unstructured data is data that </a:t>
            </a:r>
            <a:r>
              <a:rPr lang="en-US" sz="2000" b="1" dirty="0">
                <a:latin typeface="Times New Roman" panose="02020603050405020304" pitchFamily="18" charset="0"/>
                <a:cs typeface="Times New Roman" panose="02020603050405020304" pitchFamily="18" charset="0"/>
              </a:rPr>
              <a:t>does not have a predefined structure</a:t>
            </a:r>
            <a:r>
              <a:rPr lang="en-US" sz="2000" dirty="0">
                <a:latin typeface="Times New Roman" panose="02020603050405020304" pitchFamily="18" charset="0"/>
                <a:cs typeface="Times New Roman" panose="02020603050405020304" pitchFamily="18" charset="0"/>
              </a:rPr>
              <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Examples: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Images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Videos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Audio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Emails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Social media posts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PDF documents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Text documents </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 example, consider a photograph:</a:t>
            </a:r>
          </a:p>
          <a:p>
            <a:pPr>
              <a:buNone/>
            </a:pPr>
            <a:r>
              <a:rPr lang="en-US" sz="2000" dirty="0">
                <a:latin typeface="Times New Roman" panose="02020603050405020304" pitchFamily="18" charset="0"/>
                <a:cs typeface="Times New Roman" panose="02020603050405020304" pitchFamily="18" charset="0"/>
              </a:rPr>
              <a:t>📷 A photo does not have columns such as:</a:t>
            </a:r>
          </a:p>
          <a:p>
            <a:pPr rtl="0">
              <a:buNone/>
            </a:pPr>
            <a:r>
              <a:rPr lang="en-US" sz="2000" dirty="0">
                <a:latin typeface="Times New Roman" panose="02020603050405020304" pitchFamily="18" charset="0"/>
                <a:cs typeface="Times New Roman" panose="02020603050405020304" pitchFamily="18" charset="0"/>
              </a:rPr>
              <a:t>Name | Age | Marks</a:t>
            </a:r>
          </a:p>
          <a:p>
            <a:pPr>
              <a:buNone/>
            </a:pPr>
            <a:r>
              <a:rPr lang="en-US" sz="2000" dirty="0">
                <a:latin typeface="Times New Roman" panose="02020603050405020304" pitchFamily="18" charset="0"/>
                <a:cs typeface="Times New Roman" panose="02020603050405020304" pitchFamily="18" charset="0"/>
              </a:rPr>
              <a:t>It is simply an image containing pixels.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Similarly:</a:t>
            </a:r>
          </a:p>
          <a:p>
            <a:pPr>
              <a:buNone/>
            </a:pPr>
            <a:r>
              <a:rPr lang="en-US" sz="2000" dirty="0">
                <a:latin typeface="Times New Roman" panose="02020603050405020304" pitchFamily="18" charset="0"/>
                <a:cs typeface="Times New Roman" panose="02020603050405020304" pitchFamily="18" charset="0"/>
              </a:rPr>
              <a:t>🎵 An audio recording contains sound.</a:t>
            </a:r>
          </a:p>
          <a:p>
            <a:pPr>
              <a:buNone/>
            </a:pPr>
            <a:r>
              <a:rPr lang="en-US" sz="2000" dirty="0">
                <a:latin typeface="Times New Roman" panose="02020603050405020304" pitchFamily="18" charset="0"/>
                <a:cs typeface="Times New Roman" panose="02020603050405020304" pitchFamily="18" charset="0"/>
              </a:rPr>
              <a:t>🎥 A video contains images, sound, etc.</a:t>
            </a:r>
          </a:p>
        </p:txBody>
      </p:sp>
    </p:spTree>
    <p:extLst>
      <p:ext uri="{BB962C8B-B14F-4D97-AF65-F5344CB8AC3E}">
        <p14:creationId xmlns:p14="http://schemas.microsoft.com/office/powerpoint/2010/main" val="31961563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0439D8-0FB8-FA00-8F71-E69C4C50C235}"/>
              </a:ext>
            </a:extLst>
          </p:cNvPr>
          <p:cNvSpPr txBox="1"/>
          <p:nvPr/>
        </p:nvSpPr>
        <p:spPr>
          <a:xfrm>
            <a:off x="729961" y="175735"/>
            <a:ext cx="9037494" cy="1323439"/>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4. Time-Series Data</a:t>
            </a:r>
          </a:p>
          <a:p>
            <a:pPr>
              <a:buNone/>
            </a:pPr>
            <a:r>
              <a:rPr lang="en-US" sz="2000" dirty="0">
                <a:latin typeface="Times New Roman" panose="02020603050405020304" pitchFamily="18" charset="0"/>
                <a:cs typeface="Times New Roman" panose="02020603050405020304" pitchFamily="18" charset="0"/>
              </a:rPr>
              <a:t>Time-series data is data that is </a:t>
            </a:r>
            <a:r>
              <a:rPr lang="en-US" sz="2000" b="1" dirty="0">
                <a:latin typeface="Times New Roman" panose="02020603050405020304" pitchFamily="18" charset="0"/>
                <a:cs typeface="Times New Roman" panose="02020603050405020304" pitchFamily="18" charset="0"/>
              </a:rPr>
              <a:t>collected or recorded over time</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The important thing here is </a:t>
            </a:r>
            <a:r>
              <a:rPr lang="en-US" sz="2000" b="1" dirty="0">
                <a:latin typeface="Times New Roman" panose="02020603050405020304" pitchFamily="18" charset="0"/>
                <a:cs typeface="Times New Roman" panose="02020603050405020304" pitchFamily="18" charset="0"/>
              </a:rPr>
              <a:t>time</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For example, temperature recorded every hour:</a:t>
            </a:r>
          </a:p>
        </p:txBody>
      </p:sp>
      <p:graphicFrame>
        <p:nvGraphicFramePr>
          <p:cNvPr id="4" name="Table 3">
            <a:extLst>
              <a:ext uri="{FF2B5EF4-FFF2-40B4-BE49-F238E27FC236}">
                <a16:creationId xmlns:a16="http://schemas.microsoft.com/office/drawing/2014/main" id="{EAF24C8B-C3E3-D5F1-8299-17C0935348AF}"/>
              </a:ext>
            </a:extLst>
          </p:cNvPr>
          <p:cNvGraphicFramePr>
            <a:graphicFrameLocks noGrp="1"/>
          </p:cNvGraphicFramePr>
          <p:nvPr>
            <p:extLst>
              <p:ext uri="{D42A27DB-BD31-4B8C-83A1-F6EECF244321}">
                <p14:modId xmlns:p14="http://schemas.microsoft.com/office/powerpoint/2010/main" val="1911888640"/>
              </p:ext>
            </p:extLst>
          </p:nvPr>
        </p:nvGraphicFramePr>
        <p:xfrm>
          <a:off x="729961" y="1620421"/>
          <a:ext cx="10515600" cy="1981200"/>
        </p:xfrm>
        <a:graphic>
          <a:graphicData uri="http://schemas.openxmlformats.org/drawingml/2006/table">
            <a:tbl>
              <a:tblPr/>
              <a:tblGrid>
                <a:gridCol w="5257800">
                  <a:extLst>
                    <a:ext uri="{9D8B030D-6E8A-4147-A177-3AD203B41FA5}">
                      <a16:colId xmlns:a16="http://schemas.microsoft.com/office/drawing/2014/main" val="3727770581"/>
                    </a:ext>
                  </a:extLst>
                </a:gridCol>
                <a:gridCol w="5257800">
                  <a:extLst>
                    <a:ext uri="{9D8B030D-6E8A-4147-A177-3AD203B41FA5}">
                      <a16:colId xmlns:a16="http://schemas.microsoft.com/office/drawing/2014/main" val="3071630276"/>
                    </a:ext>
                  </a:extLst>
                </a:gridCol>
              </a:tblGrid>
              <a:tr h="0">
                <a:tc>
                  <a:txBody>
                    <a:bodyPr/>
                    <a:lstStyle/>
                    <a:p>
                      <a:pPr>
                        <a:buNone/>
                      </a:pPr>
                      <a:r>
                        <a:rPr lang="en-IN" sz="2000" b="1">
                          <a:latin typeface="Times New Roman" panose="02020603050405020304" pitchFamily="18" charset="0"/>
                          <a:cs typeface="Times New Roman" panose="02020603050405020304" pitchFamily="18" charset="0"/>
                        </a:rPr>
                        <a:t>Time</a:t>
                      </a:r>
                    </a:p>
                  </a:txBody>
                  <a:tcPr anchor="ctr">
                    <a:lnL>
                      <a:noFill/>
                    </a:lnL>
                    <a:lnR>
                      <a:noFill/>
                    </a:lnR>
                    <a:lnT>
                      <a:noFill/>
                    </a:lnT>
                    <a:lnB>
                      <a:noFill/>
                    </a:lnB>
                    <a:noFill/>
                  </a:tcPr>
                </a:tc>
                <a:tc>
                  <a:txBody>
                    <a:bodyPr/>
                    <a:lstStyle/>
                    <a:p>
                      <a:pPr>
                        <a:buNone/>
                      </a:pPr>
                      <a:r>
                        <a:rPr lang="en-IN" sz="2000" b="1" dirty="0">
                          <a:latin typeface="Times New Roman" panose="02020603050405020304" pitchFamily="18" charset="0"/>
                          <a:cs typeface="Times New Roman" panose="02020603050405020304" pitchFamily="18" charset="0"/>
                        </a:rPr>
                        <a:t>Temperature</a:t>
                      </a:r>
                    </a:p>
                  </a:txBody>
                  <a:tcPr anchor="ctr">
                    <a:lnL>
                      <a:noFill/>
                    </a:lnL>
                    <a:lnR>
                      <a:noFill/>
                    </a:lnR>
                    <a:lnT>
                      <a:noFill/>
                    </a:lnT>
                    <a:lnB>
                      <a:noFill/>
                    </a:lnB>
                    <a:noFill/>
                  </a:tcPr>
                </a:tc>
                <a:extLst>
                  <a:ext uri="{0D108BD9-81ED-4DB2-BD59-A6C34878D82A}">
                    <a16:rowId xmlns:a16="http://schemas.microsoft.com/office/drawing/2014/main" val="3407248371"/>
                  </a:ext>
                </a:extLst>
              </a:tr>
              <a:tr h="0">
                <a:tc>
                  <a:txBody>
                    <a:bodyPr/>
                    <a:lstStyle/>
                    <a:p>
                      <a:pPr>
                        <a:buNone/>
                      </a:pPr>
                      <a:r>
                        <a:rPr lang="en-IN" sz="2000" dirty="0">
                          <a:latin typeface="Times New Roman" panose="02020603050405020304" pitchFamily="18" charset="0"/>
                          <a:cs typeface="Times New Roman" panose="02020603050405020304" pitchFamily="18" charset="0"/>
                        </a:rPr>
                        <a:t>9 AM</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25°C</a:t>
                      </a:r>
                    </a:p>
                  </a:txBody>
                  <a:tcPr anchor="ctr">
                    <a:lnL>
                      <a:noFill/>
                    </a:lnL>
                    <a:lnR>
                      <a:noFill/>
                    </a:lnR>
                    <a:lnT>
                      <a:noFill/>
                    </a:lnT>
                    <a:lnB>
                      <a:noFill/>
                    </a:lnB>
                    <a:noFill/>
                  </a:tcPr>
                </a:tc>
                <a:extLst>
                  <a:ext uri="{0D108BD9-81ED-4DB2-BD59-A6C34878D82A}">
                    <a16:rowId xmlns:a16="http://schemas.microsoft.com/office/drawing/2014/main" val="3879239050"/>
                  </a:ext>
                </a:extLst>
              </a:tr>
              <a:tr h="0">
                <a:tc>
                  <a:txBody>
                    <a:bodyPr/>
                    <a:lstStyle/>
                    <a:p>
                      <a:pPr>
                        <a:buNone/>
                      </a:pPr>
                      <a:r>
                        <a:rPr lang="en-IN" sz="2000">
                          <a:latin typeface="Times New Roman" panose="02020603050405020304" pitchFamily="18" charset="0"/>
                          <a:cs typeface="Times New Roman" panose="02020603050405020304" pitchFamily="18" charset="0"/>
                        </a:rPr>
                        <a:t>10 AM</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27°C</a:t>
                      </a:r>
                    </a:p>
                  </a:txBody>
                  <a:tcPr anchor="ctr">
                    <a:lnL>
                      <a:noFill/>
                    </a:lnL>
                    <a:lnR>
                      <a:noFill/>
                    </a:lnR>
                    <a:lnT>
                      <a:noFill/>
                    </a:lnT>
                    <a:lnB>
                      <a:noFill/>
                    </a:lnB>
                    <a:noFill/>
                  </a:tcPr>
                </a:tc>
                <a:extLst>
                  <a:ext uri="{0D108BD9-81ED-4DB2-BD59-A6C34878D82A}">
                    <a16:rowId xmlns:a16="http://schemas.microsoft.com/office/drawing/2014/main" val="1739677000"/>
                  </a:ext>
                </a:extLst>
              </a:tr>
              <a:tr h="0">
                <a:tc>
                  <a:txBody>
                    <a:bodyPr/>
                    <a:lstStyle/>
                    <a:p>
                      <a:pPr>
                        <a:buNone/>
                      </a:pPr>
                      <a:r>
                        <a:rPr lang="en-IN" sz="2000">
                          <a:latin typeface="Times New Roman" panose="02020603050405020304" pitchFamily="18" charset="0"/>
                          <a:cs typeface="Times New Roman" panose="02020603050405020304" pitchFamily="18" charset="0"/>
                        </a:rPr>
                        <a:t>11 AM</a:t>
                      </a:r>
                    </a:p>
                  </a:txBody>
                  <a:tcPr anchor="ctr">
                    <a:lnL>
                      <a:noFill/>
                    </a:lnL>
                    <a:lnR>
                      <a:noFill/>
                    </a:lnR>
                    <a:lnT>
                      <a:noFill/>
                    </a:lnT>
                    <a:lnB>
                      <a:noFill/>
                    </a:lnB>
                    <a:noFill/>
                  </a:tcPr>
                </a:tc>
                <a:tc>
                  <a:txBody>
                    <a:bodyPr/>
                    <a:lstStyle/>
                    <a:p>
                      <a:pPr>
                        <a:buNone/>
                      </a:pPr>
                      <a:r>
                        <a:rPr lang="en-IN" sz="2000">
                          <a:latin typeface="Times New Roman" panose="02020603050405020304" pitchFamily="18" charset="0"/>
                          <a:cs typeface="Times New Roman" panose="02020603050405020304" pitchFamily="18" charset="0"/>
                        </a:rPr>
                        <a:t>29°C</a:t>
                      </a:r>
                    </a:p>
                  </a:txBody>
                  <a:tcPr anchor="ctr">
                    <a:lnL>
                      <a:noFill/>
                    </a:lnL>
                    <a:lnR>
                      <a:noFill/>
                    </a:lnR>
                    <a:lnT>
                      <a:noFill/>
                    </a:lnT>
                    <a:lnB>
                      <a:noFill/>
                    </a:lnB>
                    <a:noFill/>
                  </a:tcPr>
                </a:tc>
                <a:extLst>
                  <a:ext uri="{0D108BD9-81ED-4DB2-BD59-A6C34878D82A}">
                    <a16:rowId xmlns:a16="http://schemas.microsoft.com/office/drawing/2014/main" val="2366304440"/>
                  </a:ext>
                </a:extLst>
              </a:tr>
              <a:tr h="0">
                <a:tc>
                  <a:txBody>
                    <a:bodyPr/>
                    <a:lstStyle/>
                    <a:p>
                      <a:pPr>
                        <a:buNone/>
                      </a:pPr>
                      <a:r>
                        <a:rPr lang="en-IN" sz="2000">
                          <a:latin typeface="Times New Roman" panose="02020603050405020304" pitchFamily="18" charset="0"/>
                          <a:cs typeface="Times New Roman" panose="02020603050405020304" pitchFamily="18" charset="0"/>
                        </a:rPr>
                        <a:t>12 PM</a:t>
                      </a:r>
                    </a:p>
                  </a:txBody>
                  <a:tcPr anchor="ctr">
                    <a:lnL>
                      <a:noFill/>
                    </a:lnL>
                    <a:lnR>
                      <a:noFill/>
                    </a:lnR>
                    <a:lnT>
                      <a:noFill/>
                    </a:lnT>
                    <a:lnB>
                      <a:noFill/>
                    </a:lnB>
                    <a:noFill/>
                  </a:tcPr>
                </a:tc>
                <a:tc>
                  <a:txBody>
                    <a:bodyPr/>
                    <a:lstStyle/>
                    <a:p>
                      <a:pPr>
                        <a:buNone/>
                      </a:pPr>
                      <a:r>
                        <a:rPr lang="en-IN" sz="2000" dirty="0">
                          <a:latin typeface="Times New Roman" panose="02020603050405020304" pitchFamily="18" charset="0"/>
                          <a:cs typeface="Times New Roman" panose="02020603050405020304" pitchFamily="18" charset="0"/>
                        </a:rPr>
                        <a:t>31°C</a:t>
                      </a:r>
                    </a:p>
                  </a:txBody>
                  <a:tcPr anchor="ctr">
                    <a:lnL>
                      <a:noFill/>
                    </a:lnL>
                    <a:lnR>
                      <a:noFill/>
                    </a:lnR>
                    <a:lnT>
                      <a:noFill/>
                    </a:lnT>
                    <a:lnB>
                      <a:noFill/>
                    </a:lnB>
                    <a:noFill/>
                  </a:tcPr>
                </a:tc>
                <a:extLst>
                  <a:ext uri="{0D108BD9-81ED-4DB2-BD59-A6C34878D82A}">
                    <a16:rowId xmlns:a16="http://schemas.microsoft.com/office/drawing/2014/main" val="3914135502"/>
                  </a:ext>
                </a:extLst>
              </a:tr>
            </a:tbl>
          </a:graphicData>
        </a:graphic>
      </p:graphicFrame>
      <p:sp>
        <p:nvSpPr>
          <p:cNvPr id="6" name="TextBox 5">
            <a:extLst>
              <a:ext uri="{FF2B5EF4-FFF2-40B4-BE49-F238E27FC236}">
                <a16:creationId xmlns:a16="http://schemas.microsoft.com/office/drawing/2014/main" id="{BC821703-EB8F-11EA-14BA-222A56E4B6C8}"/>
              </a:ext>
            </a:extLst>
          </p:cNvPr>
          <p:cNvSpPr txBox="1"/>
          <p:nvPr/>
        </p:nvSpPr>
        <p:spPr>
          <a:xfrm>
            <a:off x="488373" y="3722869"/>
            <a:ext cx="8175047" cy="2862322"/>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Here, the data is connected to time.</a:t>
            </a: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Examples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Stock prices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Daily sales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Weather temperature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Monthly electricity usage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Website visitors per day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Sensor readings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Heart-rate readings over time</a:t>
            </a:r>
          </a:p>
        </p:txBody>
      </p:sp>
      <p:sp>
        <p:nvSpPr>
          <p:cNvPr id="8" name="TextBox 7">
            <a:extLst>
              <a:ext uri="{FF2B5EF4-FFF2-40B4-BE49-F238E27FC236}">
                <a16:creationId xmlns:a16="http://schemas.microsoft.com/office/drawing/2014/main" id="{30288F3F-34B8-1CCF-F1D3-66F737F4167A}"/>
              </a:ext>
            </a:extLst>
          </p:cNvPr>
          <p:cNvSpPr txBox="1"/>
          <p:nvPr/>
        </p:nvSpPr>
        <p:spPr>
          <a:xfrm>
            <a:off x="4374572" y="5381444"/>
            <a:ext cx="7606145"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Time-series data = Data collected in chronological order over time.</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60231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3BD2E9-F42B-4D9B-131C-1AFA576A31F8}"/>
              </a:ext>
            </a:extLst>
          </p:cNvPr>
          <p:cNvSpPr txBox="1"/>
          <p:nvPr/>
        </p:nvSpPr>
        <p:spPr>
          <a:xfrm>
            <a:off x="581891" y="550223"/>
            <a:ext cx="8445211" cy="5016758"/>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Data Sources</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"Where does this data come from?"</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That is what we mean by </a:t>
            </a:r>
            <a:r>
              <a:rPr lang="en-US" sz="2000" b="1" dirty="0">
                <a:latin typeface="Times New Roman" panose="02020603050405020304" pitchFamily="18" charset="0"/>
                <a:cs typeface="Times New Roman" panose="02020603050405020304" pitchFamily="18" charset="0"/>
              </a:rPr>
              <a:t>data sources</a:t>
            </a:r>
            <a:r>
              <a:rPr lang="en-US" sz="2000" dirty="0">
                <a:latin typeface="Times New Roman" panose="02020603050405020304" pitchFamily="18" charset="0"/>
                <a:cs typeface="Times New Roman" panose="02020603050405020304" pitchFamily="18" charset="0"/>
              </a:rPr>
              <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Data sources can be broadly divided into:</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A. Internal Data Sources</a:t>
            </a:r>
          </a:p>
          <a:p>
            <a:pPr>
              <a:buNone/>
            </a:pPr>
            <a:r>
              <a:rPr lang="en-US" sz="2000" dirty="0">
                <a:latin typeface="Times New Roman" panose="02020603050405020304" pitchFamily="18" charset="0"/>
                <a:cs typeface="Times New Roman" panose="02020603050405020304" pitchFamily="18" charset="0"/>
              </a:rPr>
              <a:t>Data generated </a:t>
            </a:r>
            <a:r>
              <a:rPr lang="en-US" sz="2000" b="1" dirty="0">
                <a:latin typeface="Times New Roman" panose="02020603050405020304" pitchFamily="18" charset="0"/>
                <a:cs typeface="Times New Roman" panose="02020603050405020304" pitchFamily="18" charset="0"/>
              </a:rPr>
              <a:t>inside an organization</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Examples: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Company database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Sales records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Employee records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Customer records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Attendance system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Transaction records</a:t>
            </a:r>
          </a:p>
        </p:txBody>
      </p:sp>
      <p:sp>
        <p:nvSpPr>
          <p:cNvPr id="5" name="TextBox 4">
            <a:extLst>
              <a:ext uri="{FF2B5EF4-FFF2-40B4-BE49-F238E27FC236}">
                <a16:creationId xmlns:a16="http://schemas.microsoft.com/office/drawing/2014/main" id="{2EF14615-B63E-7C0D-C882-7C39CFFC366B}"/>
              </a:ext>
            </a:extLst>
          </p:cNvPr>
          <p:cNvSpPr txBox="1"/>
          <p:nvPr/>
        </p:nvSpPr>
        <p:spPr>
          <a:xfrm>
            <a:off x="5979968" y="2624713"/>
            <a:ext cx="6094268" cy="2862322"/>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B. External Data Sources</a:t>
            </a:r>
          </a:p>
          <a:p>
            <a:pPr>
              <a:buNone/>
            </a:pPr>
            <a:r>
              <a:rPr lang="en-US" sz="2000" dirty="0">
                <a:latin typeface="Times New Roman" panose="02020603050405020304" pitchFamily="18" charset="0"/>
                <a:cs typeface="Times New Roman" panose="02020603050405020304" pitchFamily="18" charset="0"/>
              </a:rPr>
              <a:t>Data obtained </a:t>
            </a:r>
            <a:r>
              <a:rPr lang="en-US" sz="2000" b="1" dirty="0">
                <a:latin typeface="Times New Roman" panose="02020603050405020304" pitchFamily="18" charset="0"/>
                <a:cs typeface="Times New Roman" panose="02020603050405020304" pitchFamily="18" charset="0"/>
              </a:rPr>
              <a:t>from outside the organization</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Examples: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Government websites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Social media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Public datasets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Weather services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Online websites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Research organizations</a:t>
            </a:r>
          </a:p>
        </p:txBody>
      </p:sp>
    </p:spTree>
    <p:extLst>
      <p:ext uri="{BB962C8B-B14F-4D97-AF65-F5344CB8AC3E}">
        <p14:creationId xmlns:p14="http://schemas.microsoft.com/office/powerpoint/2010/main" val="40106276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C224A9-FFBC-12F1-D9AD-071277D46A74}"/>
              </a:ext>
            </a:extLst>
          </p:cNvPr>
          <p:cNvSpPr txBox="1"/>
          <p:nvPr/>
        </p:nvSpPr>
        <p:spPr>
          <a:xfrm>
            <a:off x="865043" y="334879"/>
            <a:ext cx="6094268" cy="400110"/>
          </a:xfrm>
          <a:prstGeom prst="rect">
            <a:avLst/>
          </a:prstGeom>
          <a:noFill/>
        </p:spPr>
        <p:txBody>
          <a:bodyPr wrap="square">
            <a:spAutoFit/>
          </a:bodyPr>
          <a:lstStyle/>
          <a:p>
            <a:r>
              <a:rPr lang="en-IN" sz="2000" b="1" dirty="0">
                <a:solidFill>
                  <a:srgbClr val="FF0000"/>
                </a:solidFill>
                <a:latin typeface="Times New Roman" panose="02020603050405020304" pitchFamily="18" charset="0"/>
                <a:cs typeface="Times New Roman" panose="02020603050405020304" pitchFamily="18" charset="0"/>
              </a:rPr>
              <a:t>Common Data Sources</a:t>
            </a:r>
          </a:p>
        </p:txBody>
      </p:sp>
      <p:graphicFrame>
        <p:nvGraphicFramePr>
          <p:cNvPr id="30" name="Table 29">
            <a:extLst>
              <a:ext uri="{FF2B5EF4-FFF2-40B4-BE49-F238E27FC236}">
                <a16:creationId xmlns:a16="http://schemas.microsoft.com/office/drawing/2014/main" id="{2E34EF9C-BDCB-28D9-D274-26141C433C47}"/>
              </a:ext>
            </a:extLst>
          </p:cNvPr>
          <p:cNvGraphicFramePr>
            <a:graphicFrameLocks noGrp="1"/>
          </p:cNvGraphicFramePr>
          <p:nvPr>
            <p:extLst>
              <p:ext uri="{D42A27DB-BD31-4B8C-83A1-F6EECF244321}">
                <p14:modId xmlns:p14="http://schemas.microsoft.com/office/powerpoint/2010/main" val="2822873800"/>
              </p:ext>
            </p:extLst>
          </p:nvPr>
        </p:nvGraphicFramePr>
        <p:xfrm>
          <a:off x="838200" y="1600200"/>
          <a:ext cx="10515600" cy="3657600"/>
        </p:xfrm>
        <a:graphic>
          <a:graphicData uri="http://schemas.openxmlformats.org/drawingml/2006/table">
            <a:tbl>
              <a:tblPr/>
              <a:tblGrid>
                <a:gridCol w="5257800">
                  <a:extLst>
                    <a:ext uri="{9D8B030D-6E8A-4147-A177-3AD203B41FA5}">
                      <a16:colId xmlns:a16="http://schemas.microsoft.com/office/drawing/2014/main" val="4133426066"/>
                    </a:ext>
                  </a:extLst>
                </a:gridCol>
                <a:gridCol w="5257800">
                  <a:extLst>
                    <a:ext uri="{9D8B030D-6E8A-4147-A177-3AD203B41FA5}">
                      <a16:colId xmlns:a16="http://schemas.microsoft.com/office/drawing/2014/main" val="3976965492"/>
                    </a:ext>
                  </a:extLst>
                </a:gridCol>
              </a:tblGrid>
              <a:tr h="0">
                <a:tc>
                  <a:txBody>
                    <a:bodyPr/>
                    <a:lstStyle/>
                    <a:p>
                      <a:pPr>
                        <a:buNone/>
                      </a:pPr>
                      <a:r>
                        <a:rPr lang="en-IN" b="1">
                          <a:latin typeface="Times New Roman" panose="02020603050405020304" pitchFamily="18" charset="0"/>
                          <a:cs typeface="Times New Roman" panose="02020603050405020304" pitchFamily="18" charset="0"/>
                        </a:rPr>
                        <a:t>Data Source</a:t>
                      </a:r>
                    </a:p>
                  </a:txBody>
                  <a:tcPr anchor="ctr">
                    <a:lnL>
                      <a:noFill/>
                    </a:lnL>
                    <a:lnR>
                      <a:noFill/>
                    </a:lnR>
                    <a:lnT>
                      <a:noFill/>
                    </a:lnT>
                    <a:lnB>
                      <a:noFill/>
                    </a:lnB>
                    <a:noFill/>
                  </a:tcPr>
                </a:tc>
                <a:tc>
                  <a:txBody>
                    <a:bodyPr/>
                    <a:lstStyle/>
                    <a:p>
                      <a:pPr>
                        <a:buNone/>
                      </a:pPr>
                      <a:r>
                        <a:rPr lang="en-IN" b="1" dirty="0">
                          <a:latin typeface="Times New Roman" panose="02020603050405020304" pitchFamily="18" charset="0"/>
                          <a:cs typeface="Times New Roman" panose="02020603050405020304" pitchFamily="18" charset="0"/>
                        </a:rPr>
                        <a:t>Example</a:t>
                      </a:r>
                    </a:p>
                  </a:txBody>
                  <a:tcPr anchor="ctr">
                    <a:lnL>
                      <a:noFill/>
                    </a:lnL>
                    <a:lnR>
                      <a:noFill/>
                    </a:lnR>
                    <a:lnT>
                      <a:noFill/>
                    </a:lnT>
                    <a:lnB>
                      <a:noFill/>
                    </a:lnB>
                    <a:noFill/>
                  </a:tcPr>
                </a:tc>
                <a:extLst>
                  <a:ext uri="{0D108BD9-81ED-4DB2-BD59-A6C34878D82A}">
                    <a16:rowId xmlns:a16="http://schemas.microsoft.com/office/drawing/2014/main" val="3839182465"/>
                  </a:ext>
                </a:extLst>
              </a:tr>
              <a:tr h="0">
                <a:tc>
                  <a:txBody>
                    <a:bodyPr/>
                    <a:lstStyle/>
                    <a:p>
                      <a:pPr>
                        <a:buNone/>
                      </a:pPr>
                      <a:r>
                        <a:rPr lang="en-IN">
                          <a:latin typeface="Times New Roman" panose="02020603050405020304" pitchFamily="18" charset="0"/>
                          <a:cs typeface="Times New Roman" panose="02020603050405020304" pitchFamily="18" charset="0"/>
                        </a:rPr>
                        <a:t>Database</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MySQL, PostgreSQL</a:t>
                      </a:r>
                    </a:p>
                  </a:txBody>
                  <a:tcPr anchor="ctr">
                    <a:lnL>
                      <a:noFill/>
                    </a:lnL>
                    <a:lnR>
                      <a:noFill/>
                    </a:lnR>
                    <a:lnT>
                      <a:noFill/>
                    </a:lnT>
                    <a:lnB>
                      <a:noFill/>
                    </a:lnB>
                    <a:noFill/>
                  </a:tcPr>
                </a:tc>
                <a:extLst>
                  <a:ext uri="{0D108BD9-81ED-4DB2-BD59-A6C34878D82A}">
                    <a16:rowId xmlns:a16="http://schemas.microsoft.com/office/drawing/2014/main" val="1836528501"/>
                  </a:ext>
                </a:extLst>
              </a:tr>
              <a:tr h="0">
                <a:tc>
                  <a:txBody>
                    <a:bodyPr/>
                    <a:lstStyle/>
                    <a:p>
                      <a:pPr>
                        <a:buNone/>
                      </a:pPr>
                      <a:r>
                        <a:rPr lang="en-IN">
                          <a:latin typeface="Times New Roman" panose="02020603050405020304" pitchFamily="18" charset="0"/>
                          <a:cs typeface="Times New Roman" panose="02020603050405020304" pitchFamily="18" charset="0"/>
                        </a:rPr>
                        <a:t>Files</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Excel, CSV</a:t>
                      </a:r>
                    </a:p>
                  </a:txBody>
                  <a:tcPr anchor="ctr">
                    <a:lnL>
                      <a:noFill/>
                    </a:lnL>
                    <a:lnR>
                      <a:noFill/>
                    </a:lnR>
                    <a:lnT>
                      <a:noFill/>
                    </a:lnT>
                    <a:lnB>
                      <a:noFill/>
                    </a:lnB>
                    <a:noFill/>
                  </a:tcPr>
                </a:tc>
                <a:extLst>
                  <a:ext uri="{0D108BD9-81ED-4DB2-BD59-A6C34878D82A}">
                    <a16:rowId xmlns:a16="http://schemas.microsoft.com/office/drawing/2014/main" val="126078136"/>
                  </a:ext>
                </a:extLst>
              </a:tr>
              <a:tr h="0">
                <a:tc>
                  <a:txBody>
                    <a:bodyPr/>
                    <a:lstStyle/>
                    <a:p>
                      <a:pPr>
                        <a:buNone/>
                      </a:pPr>
                      <a:r>
                        <a:rPr lang="en-IN">
                          <a:latin typeface="Times New Roman" panose="02020603050405020304" pitchFamily="18" charset="0"/>
                          <a:cs typeface="Times New Roman" panose="02020603050405020304" pitchFamily="18" charset="0"/>
                        </a:rPr>
                        <a:t>Websites</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Web data</a:t>
                      </a:r>
                    </a:p>
                  </a:txBody>
                  <a:tcPr anchor="ctr">
                    <a:lnL>
                      <a:noFill/>
                    </a:lnL>
                    <a:lnR>
                      <a:noFill/>
                    </a:lnR>
                    <a:lnT>
                      <a:noFill/>
                    </a:lnT>
                    <a:lnB>
                      <a:noFill/>
                    </a:lnB>
                    <a:noFill/>
                  </a:tcPr>
                </a:tc>
                <a:extLst>
                  <a:ext uri="{0D108BD9-81ED-4DB2-BD59-A6C34878D82A}">
                    <a16:rowId xmlns:a16="http://schemas.microsoft.com/office/drawing/2014/main" val="3972749514"/>
                  </a:ext>
                </a:extLst>
              </a:tr>
              <a:tr h="0">
                <a:tc>
                  <a:txBody>
                    <a:bodyPr/>
                    <a:lstStyle/>
                    <a:p>
                      <a:pPr>
                        <a:buNone/>
                      </a:pPr>
                      <a:r>
                        <a:rPr lang="en-IN">
                          <a:latin typeface="Times New Roman" panose="02020603050405020304" pitchFamily="18" charset="0"/>
                          <a:cs typeface="Times New Roman" panose="02020603050405020304" pitchFamily="18" charset="0"/>
                        </a:rPr>
                        <a:t>APIs</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Weather API</a:t>
                      </a:r>
                    </a:p>
                  </a:txBody>
                  <a:tcPr anchor="ctr">
                    <a:lnL>
                      <a:noFill/>
                    </a:lnL>
                    <a:lnR>
                      <a:noFill/>
                    </a:lnR>
                    <a:lnT>
                      <a:noFill/>
                    </a:lnT>
                    <a:lnB>
                      <a:noFill/>
                    </a:lnB>
                    <a:noFill/>
                  </a:tcPr>
                </a:tc>
                <a:extLst>
                  <a:ext uri="{0D108BD9-81ED-4DB2-BD59-A6C34878D82A}">
                    <a16:rowId xmlns:a16="http://schemas.microsoft.com/office/drawing/2014/main" val="3152454235"/>
                  </a:ext>
                </a:extLst>
              </a:tr>
              <a:tr h="0">
                <a:tc>
                  <a:txBody>
                    <a:bodyPr/>
                    <a:lstStyle/>
                    <a:p>
                      <a:pPr>
                        <a:buNone/>
                      </a:pPr>
                      <a:r>
                        <a:rPr lang="en-IN">
                          <a:latin typeface="Times New Roman" panose="02020603050405020304" pitchFamily="18" charset="0"/>
                          <a:cs typeface="Times New Roman" panose="02020603050405020304" pitchFamily="18" charset="0"/>
                        </a:rPr>
                        <a:t>Sensors</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Temperature sensor</a:t>
                      </a:r>
                    </a:p>
                  </a:txBody>
                  <a:tcPr anchor="ctr">
                    <a:lnL>
                      <a:noFill/>
                    </a:lnL>
                    <a:lnR>
                      <a:noFill/>
                    </a:lnR>
                    <a:lnT>
                      <a:noFill/>
                    </a:lnT>
                    <a:lnB>
                      <a:noFill/>
                    </a:lnB>
                    <a:noFill/>
                  </a:tcPr>
                </a:tc>
                <a:extLst>
                  <a:ext uri="{0D108BD9-81ED-4DB2-BD59-A6C34878D82A}">
                    <a16:rowId xmlns:a16="http://schemas.microsoft.com/office/drawing/2014/main" val="2518650834"/>
                  </a:ext>
                </a:extLst>
              </a:tr>
              <a:tr h="0">
                <a:tc>
                  <a:txBody>
                    <a:bodyPr/>
                    <a:lstStyle/>
                    <a:p>
                      <a:pPr>
                        <a:buNone/>
                      </a:pPr>
                      <a:r>
                        <a:rPr lang="en-IN">
                          <a:latin typeface="Times New Roman" panose="02020603050405020304" pitchFamily="18" charset="0"/>
                          <a:cs typeface="Times New Roman" panose="02020603050405020304" pitchFamily="18" charset="0"/>
                        </a:rPr>
                        <a:t>Social Media</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Posts, comments</a:t>
                      </a:r>
                    </a:p>
                  </a:txBody>
                  <a:tcPr anchor="ctr">
                    <a:lnL>
                      <a:noFill/>
                    </a:lnL>
                    <a:lnR>
                      <a:noFill/>
                    </a:lnR>
                    <a:lnT>
                      <a:noFill/>
                    </a:lnT>
                    <a:lnB>
                      <a:noFill/>
                    </a:lnB>
                    <a:noFill/>
                  </a:tcPr>
                </a:tc>
                <a:extLst>
                  <a:ext uri="{0D108BD9-81ED-4DB2-BD59-A6C34878D82A}">
                    <a16:rowId xmlns:a16="http://schemas.microsoft.com/office/drawing/2014/main" val="2028141033"/>
                  </a:ext>
                </a:extLst>
              </a:tr>
              <a:tr h="0">
                <a:tc>
                  <a:txBody>
                    <a:bodyPr/>
                    <a:lstStyle/>
                    <a:p>
                      <a:pPr>
                        <a:buNone/>
                      </a:pPr>
                      <a:r>
                        <a:rPr lang="en-IN" dirty="0">
                          <a:latin typeface="Times New Roman" panose="02020603050405020304" pitchFamily="18" charset="0"/>
                          <a:cs typeface="Times New Roman" panose="02020603050405020304" pitchFamily="18" charset="0"/>
                        </a:rPr>
                        <a:t>Surveys</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Google Forms</a:t>
                      </a:r>
                    </a:p>
                  </a:txBody>
                  <a:tcPr anchor="ctr">
                    <a:lnL>
                      <a:noFill/>
                    </a:lnL>
                    <a:lnR>
                      <a:noFill/>
                    </a:lnR>
                    <a:lnT>
                      <a:noFill/>
                    </a:lnT>
                    <a:lnB>
                      <a:noFill/>
                    </a:lnB>
                    <a:noFill/>
                  </a:tcPr>
                </a:tc>
                <a:extLst>
                  <a:ext uri="{0D108BD9-81ED-4DB2-BD59-A6C34878D82A}">
                    <a16:rowId xmlns:a16="http://schemas.microsoft.com/office/drawing/2014/main" val="2292840493"/>
                  </a:ext>
                </a:extLst>
              </a:tr>
              <a:tr h="0">
                <a:tc>
                  <a:txBody>
                    <a:bodyPr/>
                    <a:lstStyle/>
                    <a:p>
                      <a:pPr>
                        <a:buNone/>
                      </a:pPr>
                      <a:r>
                        <a:rPr lang="en-IN">
                          <a:latin typeface="Times New Roman" panose="02020603050405020304" pitchFamily="18" charset="0"/>
                          <a:cs typeface="Times New Roman" panose="02020603050405020304" pitchFamily="18" charset="0"/>
                        </a:rPr>
                        <a:t>Applications</a:t>
                      </a:r>
                    </a:p>
                  </a:txBody>
                  <a:tcPr anchor="ctr">
                    <a:lnL>
                      <a:noFill/>
                    </a:lnL>
                    <a:lnR>
                      <a:noFill/>
                    </a:lnR>
                    <a:lnT>
                      <a:noFill/>
                    </a:lnT>
                    <a:lnB>
                      <a:noFill/>
                    </a:lnB>
                    <a:noFill/>
                  </a:tcPr>
                </a:tc>
                <a:tc>
                  <a:txBody>
                    <a:bodyPr/>
                    <a:lstStyle/>
                    <a:p>
                      <a:pPr>
                        <a:buNone/>
                      </a:pPr>
                      <a:r>
                        <a:rPr lang="en-IN">
                          <a:latin typeface="Times New Roman" panose="02020603050405020304" pitchFamily="18" charset="0"/>
                          <a:cs typeface="Times New Roman" panose="02020603050405020304" pitchFamily="18" charset="0"/>
                        </a:rPr>
                        <a:t>Mobile app data</a:t>
                      </a:r>
                    </a:p>
                  </a:txBody>
                  <a:tcPr anchor="ctr">
                    <a:lnL>
                      <a:noFill/>
                    </a:lnL>
                    <a:lnR>
                      <a:noFill/>
                    </a:lnR>
                    <a:lnT>
                      <a:noFill/>
                    </a:lnT>
                    <a:lnB>
                      <a:noFill/>
                    </a:lnB>
                    <a:noFill/>
                  </a:tcPr>
                </a:tc>
                <a:extLst>
                  <a:ext uri="{0D108BD9-81ED-4DB2-BD59-A6C34878D82A}">
                    <a16:rowId xmlns:a16="http://schemas.microsoft.com/office/drawing/2014/main" val="1631776860"/>
                  </a:ext>
                </a:extLst>
              </a:tr>
              <a:tr h="0">
                <a:tc>
                  <a:txBody>
                    <a:bodyPr/>
                    <a:lstStyle/>
                    <a:p>
                      <a:pPr>
                        <a:buNone/>
                      </a:pPr>
                      <a:r>
                        <a:rPr lang="en-IN">
                          <a:latin typeface="Times New Roman" panose="02020603050405020304" pitchFamily="18" charset="0"/>
                          <a:cs typeface="Times New Roman" panose="02020603050405020304" pitchFamily="18" charset="0"/>
                        </a:rPr>
                        <a:t>Cloud</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Cloud databases/storage</a:t>
                      </a:r>
                    </a:p>
                  </a:txBody>
                  <a:tcPr anchor="ctr">
                    <a:lnL>
                      <a:noFill/>
                    </a:lnL>
                    <a:lnR>
                      <a:noFill/>
                    </a:lnR>
                    <a:lnT>
                      <a:noFill/>
                    </a:lnT>
                    <a:lnB>
                      <a:noFill/>
                    </a:lnB>
                    <a:noFill/>
                  </a:tcPr>
                </a:tc>
                <a:extLst>
                  <a:ext uri="{0D108BD9-81ED-4DB2-BD59-A6C34878D82A}">
                    <a16:rowId xmlns:a16="http://schemas.microsoft.com/office/drawing/2014/main" val="2878972465"/>
                  </a:ext>
                </a:extLst>
              </a:tr>
            </a:tbl>
          </a:graphicData>
        </a:graphic>
      </p:graphicFrame>
    </p:spTree>
    <p:extLst>
      <p:ext uri="{BB962C8B-B14F-4D97-AF65-F5344CB8AC3E}">
        <p14:creationId xmlns:p14="http://schemas.microsoft.com/office/powerpoint/2010/main" val="26602156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1AB315-D81F-8C03-1DCF-CB41AF84B511}"/>
              </a:ext>
            </a:extLst>
          </p:cNvPr>
          <p:cNvSpPr txBox="1"/>
          <p:nvPr/>
        </p:nvSpPr>
        <p:spPr>
          <a:xfrm>
            <a:off x="405245" y="387386"/>
            <a:ext cx="7676284" cy="4708981"/>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Data Formats</a:t>
            </a:r>
          </a:p>
          <a:p>
            <a:pPr>
              <a:buNone/>
            </a:pPr>
            <a:r>
              <a:rPr lang="en-US" sz="2000" dirty="0">
                <a:latin typeface="Times New Roman" panose="02020603050405020304" pitchFamily="18" charset="0"/>
                <a:cs typeface="Times New Roman" panose="02020603050405020304" pitchFamily="18" charset="0"/>
              </a:rPr>
              <a:t>Now the next question is,</a:t>
            </a:r>
          </a:p>
          <a:p>
            <a:pPr>
              <a:buNone/>
            </a:pPr>
            <a:r>
              <a:rPr lang="en-US" sz="2000" dirty="0">
                <a:latin typeface="Times New Roman" panose="02020603050405020304" pitchFamily="18" charset="0"/>
                <a:cs typeface="Times New Roman" panose="02020603050405020304" pitchFamily="18" charset="0"/>
              </a:rPr>
              <a:t>"How is data stored?"</a:t>
            </a:r>
          </a:p>
          <a:p>
            <a:pPr>
              <a:buNone/>
            </a:pPr>
            <a:r>
              <a:rPr lang="en-US" sz="2000" dirty="0">
                <a:latin typeface="Times New Roman" panose="02020603050405020304" pitchFamily="18" charset="0"/>
                <a:cs typeface="Times New Roman" panose="02020603050405020304" pitchFamily="18" charset="0"/>
              </a:rPr>
              <a:t>The answer is </a:t>
            </a:r>
            <a:r>
              <a:rPr lang="en-US" sz="2000" b="1" dirty="0">
                <a:latin typeface="Times New Roman" panose="02020603050405020304" pitchFamily="18" charset="0"/>
                <a:cs typeface="Times New Roman" panose="02020603050405020304" pitchFamily="18" charset="0"/>
              </a:rPr>
              <a:t>data formats</a:t>
            </a:r>
            <a:r>
              <a:rPr lang="en-US" sz="2000" dirty="0">
                <a:latin typeface="Times New Roman" panose="02020603050405020304" pitchFamily="18" charset="0"/>
                <a:cs typeface="Times New Roman" panose="02020603050405020304" pitchFamily="18" charset="0"/>
              </a:rPr>
              <a: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Some common formats are:</a:t>
            </a:r>
          </a:p>
          <a:p>
            <a:pPr>
              <a:buNone/>
            </a:pPr>
            <a:r>
              <a:rPr lang="en-US" sz="2000" b="1" dirty="0">
                <a:latin typeface="Times New Roman" panose="02020603050405020304" pitchFamily="18" charset="0"/>
                <a:cs typeface="Times New Roman" panose="02020603050405020304" pitchFamily="18" charset="0"/>
              </a:rPr>
              <a:t>CSV</a:t>
            </a:r>
          </a:p>
          <a:p>
            <a:pPr>
              <a:buNone/>
            </a:pPr>
            <a:r>
              <a:rPr lang="en-US" sz="2000" b="1" dirty="0">
                <a:latin typeface="Times New Roman" panose="02020603050405020304" pitchFamily="18" charset="0"/>
                <a:cs typeface="Times New Roman" panose="02020603050405020304" pitchFamily="18" charset="0"/>
              </a:rPr>
              <a:t>CSV = Comma-Separated Values</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Example:</a:t>
            </a:r>
          </a:p>
          <a:p>
            <a:pPr rtl="0">
              <a:buNone/>
            </a:pPr>
            <a:r>
              <a:rPr lang="en-US" sz="2000" dirty="0" err="1">
                <a:latin typeface="Times New Roman" panose="02020603050405020304" pitchFamily="18" charset="0"/>
                <a:cs typeface="Times New Roman" panose="02020603050405020304" pitchFamily="18" charset="0"/>
              </a:rPr>
              <a:t>ID,Name,Marks</a:t>
            </a:r>
            <a:endParaRPr lang="en-US" sz="2000" dirty="0">
              <a:latin typeface="Times New Roman" panose="02020603050405020304" pitchFamily="18" charset="0"/>
              <a:cs typeface="Times New Roman" panose="02020603050405020304" pitchFamily="18" charset="0"/>
            </a:endParaRPr>
          </a:p>
          <a:p>
            <a:pPr rtl="0">
              <a:buNone/>
            </a:pPr>
            <a:r>
              <a:rPr lang="en-US" sz="2000" dirty="0">
                <a:latin typeface="Times New Roman" panose="02020603050405020304" pitchFamily="18" charset="0"/>
                <a:cs typeface="Times New Roman" panose="02020603050405020304" pitchFamily="18" charset="0"/>
              </a:rPr>
              <a:t>101,Ravi,85</a:t>
            </a:r>
          </a:p>
          <a:p>
            <a:pPr rtl="0">
              <a:buNone/>
            </a:pPr>
            <a:r>
              <a:rPr lang="en-US" sz="2000" dirty="0">
                <a:latin typeface="Times New Roman" panose="02020603050405020304" pitchFamily="18" charset="0"/>
                <a:cs typeface="Times New Roman" panose="02020603050405020304" pitchFamily="18" charset="0"/>
              </a:rPr>
              <a:t>102,Priya,90</a:t>
            </a:r>
          </a:p>
          <a:p>
            <a:pPr rtl="0">
              <a:buNone/>
            </a:pPr>
            <a:r>
              <a:rPr lang="en-US" sz="2000" dirty="0">
                <a:latin typeface="Times New Roman" panose="02020603050405020304" pitchFamily="18" charset="0"/>
                <a:cs typeface="Times New Roman" panose="02020603050405020304" pitchFamily="18" charset="0"/>
              </a:rPr>
              <a:t>103,Arun,78</a:t>
            </a:r>
          </a:p>
          <a:p>
            <a:pPr>
              <a:buNone/>
            </a:pPr>
            <a:r>
              <a:rPr lang="en-US" sz="2000" dirty="0">
                <a:latin typeface="Times New Roman" panose="02020603050405020304" pitchFamily="18" charset="0"/>
                <a:cs typeface="Times New Roman" panose="02020603050405020304" pitchFamily="18" charset="0"/>
              </a:rPr>
              <a:t>Usually used for </a:t>
            </a:r>
            <a:r>
              <a:rPr lang="en-US" sz="2000" b="1" dirty="0">
                <a:latin typeface="Times New Roman" panose="02020603050405020304" pitchFamily="18" charset="0"/>
                <a:cs typeface="Times New Roman" panose="02020603050405020304" pitchFamily="18" charset="0"/>
              </a:rPr>
              <a:t>tabular/structured data</a:t>
            </a:r>
            <a:r>
              <a:rPr lang="en-US" sz="20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67FF83A6-2C5B-DE55-6731-9F1DE631781C}"/>
              </a:ext>
            </a:extLst>
          </p:cNvPr>
          <p:cNvSpPr txBox="1"/>
          <p:nvPr/>
        </p:nvSpPr>
        <p:spPr>
          <a:xfrm>
            <a:off x="5692487" y="1972435"/>
            <a:ext cx="6094268" cy="163121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Excel</a:t>
            </a:r>
          </a:p>
          <a:p>
            <a:pPr>
              <a:buNone/>
            </a:pPr>
            <a:r>
              <a:rPr lang="en-US" sz="2000" dirty="0">
                <a:latin typeface="Times New Roman" panose="02020603050405020304" pitchFamily="18" charset="0"/>
                <a:cs typeface="Times New Roman" panose="02020603050405020304" pitchFamily="18" charset="0"/>
              </a:rPr>
              <a:t>Example:</a:t>
            </a:r>
          </a:p>
          <a:p>
            <a:pPr rtl="0">
              <a:buNone/>
            </a:pPr>
            <a:r>
              <a:rPr lang="en-US" sz="2000" dirty="0">
                <a:latin typeface="Times New Roman" panose="02020603050405020304" pitchFamily="18" charset="0"/>
                <a:cs typeface="Times New Roman" panose="02020603050405020304" pitchFamily="18" charset="0"/>
              </a:rPr>
              <a:t>Student.xlsx</a:t>
            </a:r>
          </a:p>
          <a:p>
            <a:pPr>
              <a:buNone/>
            </a:pPr>
            <a:r>
              <a:rPr lang="en-US" sz="2000" dirty="0">
                <a:latin typeface="Times New Roman" panose="02020603050405020304" pitchFamily="18" charset="0"/>
                <a:cs typeface="Times New Roman" panose="02020603050405020304" pitchFamily="18" charset="0"/>
              </a:rPr>
              <a:t>Contains rows, columns, formulas, multiple sheets, etc.</a:t>
            </a:r>
          </a:p>
          <a:p>
            <a:pPr>
              <a:buNone/>
            </a:pPr>
            <a:r>
              <a:rPr lang="en-US" sz="2000" dirty="0">
                <a:latin typeface="Times New Roman" panose="02020603050405020304" pitchFamily="18" charset="0"/>
                <a:cs typeface="Times New Roman" panose="02020603050405020304" pitchFamily="18" charset="0"/>
              </a:rPr>
              <a:t>Used commonly for structured data.</a:t>
            </a:r>
          </a:p>
        </p:txBody>
      </p:sp>
      <p:sp>
        <p:nvSpPr>
          <p:cNvPr id="7" name="TextBox 6">
            <a:extLst>
              <a:ext uri="{FF2B5EF4-FFF2-40B4-BE49-F238E27FC236}">
                <a16:creationId xmlns:a16="http://schemas.microsoft.com/office/drawing/2014/main" id="{C8D77F36-33EF-4E19-4B47-2802562DF8F4}"/>
              </a:ext>
            </a:extLst>
          </p:cNvPr>
          <p:cNvSpPr txBox="1"/>
          <p:nvPr/>
        </p:nvSpPr>
        <p:spPr>
          <a:xfrm>
            <a:off x="5692487" y="3957870"/>
            <a:ext cx="6094268" cy="2308324"/>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JSON</a:t>
            </a:r>
          </a:p>
          <a:p>
            <a:pPr>
              <a:buNone/>
            </a:pPr>
            <a:r>
              <a:rPr lang="en-US" dirty="0">
                <a:latin typeface="Times New Roman" panose="02020603050405020304" pitchFamily="18" charset="0"/>
                <a:cs typeface="Times New Roman" panose="02020603050405020304" pitchFamily="18" charset="0"/>
              </a:rPr>
              <a:t>Example:</a:t>
            </a:r>
          </a:p>
          <a:p>
            <a:pPr rtl="0">
              <a:buNone/>
            </a:pPr>
            <a:r>
              <a:rPr lang="en-US" dirty="0">
                <a:latin typeface="Times New Roman" panose="02020603050405020304" pitchFamily="18" charset="0"/>
                <a:cs typeface="Times New Roman" panose="02020603050405020304" pitchFamily="18" charset="0"/>
              </a:rPr>
              <a:t>{</a:t>
            </a:r>
          </a:p>
          <a:p>
            <a:pPr rtl="0">
              <a:buNone/>
            </a:pPr>
            <a:r>
              <a:rPr lang="en-US" dirty="0">
                <a:latin typeface="Times New Roman" panose="02020603050405020304" pitchFamily="18" charset="0"/>
                <a:cs typeface="Times New Roman" panose="02020603050405020304" pitchFamily="18" charset="0"/>
              </a:rPr>
              <a:t>   "name": "Ravi",</a:t>
            </a:r>
          </a:p>
          <a:p>
            <a:pPr rtl="0">
              <a:buNone/>
            </a:pPr>
            <a:r>
              <a:rPr lang="en-US" dirty="0">
                <a:latin typeface="Times New Roman" panose="02020603050405020304" pitchFamily="18" charset="0"/>
                <a:cs typeface="Times New Roman" panose="02020603050405020304" pitchFamily="18" charset="0"/>
              </a:rPr>
              <a:t>   "age": 20,</a:t>
            </a:r>
          </a:p>
          <a:p>
            <a:pPr rtl="0">
              <a:buNone/>
            </a:pPr>
            <a:r>
              <a:rPr lang="en-US" dirty="0">
                <a:latin typeface="Times New Roman" panose="02020603050405020304" pitchFamily="18" charset="0"/>
                <a:cs typeface="Times New Roman" panose="02020603050405020304" pitchFamily="18" charset="0"/>
              </a:rPr>
              <a:t>   "marks": 85</a:t>
            </a:r>
          </a:p>
          <a:p>
            <a:pPr rtl="0">
              <a:buNone/>
            </a:pPr>
            <a:r>
              <a:rPr lang="en-US" dirty="0">
                <a:latin typeface="Times New Roman" panose="02020603050405020304" pitchFamily="18" charset="0"/>
                <a:cs typeface="Times New Roman" panose="02020603050405020304" pitchFamily="18" charset="0"/>
              </a:rPr>
              <a:t>}</a:t>
            </a:r>
          </a:p>
          <a:p>
            <a:pPr>
              <a:buNone/>
            </a:pPr>
            <a:r>
              <a:rPr lang="en-US" dirty="0">
                <a:latin typeface="Times New Roman" panose="02020603050405020304" pitchFamily="18" charset="0"/>
                <a:cs typeface="Times New Roman" panose="02020603050405020304" pitchFamily="18" charset="0"/>
              </a:rPr>
              <a:t>Commonly used for </a:t>
            </a:r>
            <a:r>
              <a:rPr lang="en-US" b="1" dirty="0">
                <a:latin typeface="Times New Roman" panose="02020603050405020304" pitchFamily="18" charset="0"/>
                <a:cs typeface="Times New Roman" panose="02020603050405020304" pitchFamily="18" charset="0"/>
              </a:rPr>
              <a:t>web applications and APIs</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367315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552690-ABA0-2A9B-8625-F47B7D137589}"/>
              </a:ext>
            </a:extLst>
          </p:cNvPr>
          <p:cNvSpPr txBox="1"/>
          <p:nvPr/>
        </p:nvSpPr>
        <p:spPr>
          <a:xfrm>
            <a:off x="761134" y="342129"/>
            <a:ext cx="6094268" cy="255454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XML</a:t>
            </a:r>
          </a:p>
          <a:p>
            <a:pPr>
              <a:buNone/>
            </a:pPr>
            <a:r>
              <a:rPr lang="en-US" sz="2000" dirty="0">
                <a:latin typeface="Times New Roman" panose="02020603050405020304" pitchFamily="18" charset="0"/>
                <a:cs typeface="Times New Roman" panose="02020603050405020304" pitchFamily="18" charset="0"/>
              </a:rPr>
              <a:t>Example:</a:t>
            </a:r>
          </a:p>
          <a:p>
            <a:pPr rtl="0">
              <a:buNone/>
            </a:pPr>
            <a:r>
              <a:rPr lang="en-US" sz="2000" dirty="0">
                <a:latin typeface="Times New Roman" panose="02020603050405020304" pitchFamily="18" charset="0"/>
                <a:cs typeface="Times New Roman" panose="02020603050405020304" pitchFamily="18" charset="0"/>
              </a:rPr>
              <a:t>&lt;student&gt;</a:t>
            </a:r>
          </a:p>
          <a:p>
            <a:pPr rtl="0">
              <a:buNone/>
            </a:pPr>
            <a:r>
              <a:rPr lang="en-US" sz="2000" dirty="0">
                <a:latin typeface="Times New Roman" panose="02020603050405020304" pitchFamily="18" charset="0"/>
                <a:cs typeface="Times New Roman" panose="02020603050405020304" pitchFamily="18" charset="0"/>
              </a:rPr>
              <a:t>   &lt;name&gt;Ravi&lt;/name&gt;</a:t>
            </a:r>
          </a:p>
          <a:p>
            <a:pPr rtl="0">
              <a:buNone/>
            </a:pPr>
            <a:r>
              <a:rPr lang="en-US" sz="2000" dirty="0">
                <a:latin typeface="Times New Roman" panose="02020603050405020304" pitchFamily="18" charset="0"/>
                <a:cs typeface="Times New Roman" panose="02020603050405020304" pitchFamily="18" charset="0"/>
              </a:rPr>
              <a:t>   &lt;age&gt;20&lt;/age&gt;</a:t>
            </a:r>
          </a:p>
          <a:p>
            <a:pPr rtl="0">
              <a:buNone/>
            </a:pPr>
            <a:r>
              <a:rPr lang="en-US" sz="2000" dirty="0">
                <a:latin typeface="Times New Roman" panose="02020603050405020304" pitchFamily="18" charset="0"/>
                <a:cs typeface="Times New Roman" panose="02020603050405020304" pitchFamily="18" charset="0"/>
              </a:rPr>
              <a:t>   &lt;marks&gt;85&lt;/marks&gt;</a:t>
            </a:r>
          </a:p>
          <a:p>
            <a:pPr rtl="0">
              <a:buNone/>
            </a:pPr>
            <a:r>
              <a:rPr lang="en-US" sz="2000" dirty="0">
                <a:latin typeface="Times New Roman" panose="02020603050405020304" pitchFamily="18" charset="0"/>
                <a:cs typeface="Times New Roman" panose="02020603050405020304" pitchFamily="18" charset="0"/>
              </a:rPr>
              <a:t>&lt;/student&gt;</a:t>
            </a:r>
          </a:p>
          <a:p>
            <a:pPr>
              <a:buNone/>
            </a:pPr>
            <a:r>
              <a:rPr lang="en-US" sz="2000" dirty="0">
                <a:latin typeface="Times New Roman" panose="02020603050405020304" pitchFamily="18" charset="0"/>
                <a:cs typeface="Times New Roman" panose="02020603050405020304" pitchFamily="18" charset="0"/>
              </a:rPr>
              <a:t>Uses </a:t>
            </a:r>
            <a:r>
              <a:rPr lang="en-US" sz="2000" b="1" dirty="0">
                <a:latin typeface="Times New Roman" panose="02020603050405020304" pitchFamily="18" charset="0"/>
                <a:cs typeface="Times New Roman" panose="02020603050405020304" pitchFamily="18" charset="0"/>
              </a:rPr>
              <a:t>tags</a:t>
            </a:r>
            <a:r>
              <a:rPr lang="en-US" sz="2000" dirty="0">
                <a:latin typeface="Times New Roman" panose="02020603050405020304" pitchFamily="18" charset="0"/>
                <a:cs typeface="Times New Roman" panose="02020603050405020304" pitchFamily="18" charset="0"/>
              </a:rPr>
              <a:t> to organize information.</a:t>
            </a:r>
          </a:p>
        </p:txBody>
      </p:sp>
      <p:sp>
        <p:nvSpPr>
          <p:cNvPr id="5" name="TextBox 4">
            <a:extLst>
              <a:ext uri="{FF2B5EF4-FFF2-40B4-BE49-F238E27FC236}">
                <a16:creationId xmlns:a16="http://schemas.microsoft.com/office/drawing/2014/main" id="{21AB3CC0-E4A5-62DF-FBFF-E4964BDBB994}"/>
              </a:ext>
            </a:extLst>
          </p:cNvPr>
          <p:cNvSpPr txBox="1"/>
          <p:nvPr/>
        </p:nvSpPr>
        <p:spPr>
          <a:xfrm>
            <a:off x="6097732" y="342129"/>
            <a:ext cx="6094268" cy="2246769"/>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Text</a:t>
            </a:r>
          </a:p>
          <a:p>
            <a:pPr>
              <a:buNone/>
            </a:pPr>
            <a:r>
              <a:rPr lang="en-US" sz="2000" dirty="0">
                <a:latin typeface="Times New Roman" panose="02020603050405020304" pitchFamily="18" charset="0"/>
                <a:cs typeface="Times New Roman" panose="02020603050405020304" pitchFamily="18" charset="0"/>
              </a:rPr>
              <a:t>Examples:</a:t>
            </a:r>
          </a:p>
          <a:p>
            <a:pPr rtl="0">
              <a:buNone/>
            </a:pPr>
            <a:r>
              <a:rPr lang="en-US" sz="2000" dirty="0">
                <a:latin typeface="Times New Roman" panose="02020603050405020304" pitchFamily="18" charset="0"/>
                <a:cs typeface="Times New Roman" panose="02020603050405020304" pitchFamily="18" charset="0"/>
              </a:rPr>
              <a:t>.txt</a:t>
            </a:r>
          </a:p>
          <a:p>
            <a:pPr rtl="0">
              <a:buNone/>
            </a:pPr>
            <a:r>
              <a:rPr lang="en-US" sz="2000" dirty="0">
                <a:latin typeface="Times New Roman" panose="02020603050405020304" pitchFamily="18" charset="0"/>
                <a:cs typeface="Times New Roman" panose="02020603050405020304" pitchFamily="18" charset="0"/>
              </a:rPr>
              <a:t>.docx</a:t>
            </a:r>
          </a:p>
          <a:p>
            <a:pPr rtl="0">
              <a:buNone/>
            </a:pPr>
            <a:r>
              <a:rPr lang="en-US" sz="2000" dirty="0">
                <a:latin typeface="Times New Roman" panose="02020603050405020304" pitchFamily="18" charset="0"/>
                <a:cs typeface="Times New Roman" panose="02020603050405020304" pitchFamily="18" charset="0"/>
              </a:rPr>
              <a:t>.pdf</a:t>
            </a:r>
          </a:p>
          <a:p>
            <a:pPr>
              <a:buNone/>
            </a:pPr>
            <a:r>
              <a:rPr lang="en-US" sz="2000" dirty="0">
                <a:latin typeface="Times New Roman" panose="02020603050405020304" pitchFamily="18" charset="0"/>
                <a:cs typeface="Times New Roman" panose="02020603050405020304" pitchFamily="18" charset="0"/>
              </a:rPr>
              <a:t>Can contain written information such as reports, documents, and messages.</a:t>
            </a:r>
          </a:p>
        </p:txBody>
      </p:sp>
      <p:sp>
        <p:nvSpPr>
          <p:cNvPr id="7" name="TextBox 6">
            <a:extLst>
              <a:ext uri="{FF2B5EF4-FFF2-40B4-BE49-F238E27FC236}">
                <a16:creationId xmlns:a16="http://schemas.microsoft.com/office/drawing/2014/main" id="{E4324697-F0CE-BD95-92D5-705E4A78CEFF}"/>
              </a:ext>
            </a:extLst>
          </p:cNvPr>
          <p:cNvSpPr txBox="1"/>
          <p:nvPr/>
        </p:nvSpPr>
        <p:spPr>
          <a:xfrm>
            <a:off x="761134" y="3429000"/>
            <a:ext cx="6094268" cy="1938992"/>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Image</a:t>
            </a:r>
          </a:p>
          <a:p>
            <a:pPr>
              <a:buNone/>
            </a:pPr>
            <a:r>
              <a:rPr lang="en-IN" sz="2000" dirty="0">
                <a:latin typeface="Times New Roman" panose="02020603050405020304" pitchFamily="18" charset="0"/>
                <a:cs typeface="Times New Roman" panose="02020603050405020304" pitchFamily="18" charset="0"/>
              </a:rPr>
              <a:t>Examples:</a:t>
            </a:r>
          </a:p>
          <a:p>
            <a:pPr rtl="0">
              <a:buNone/>
            </a:pPr>
            <a:r>
              <a:rPr lang="en-IN" sz="2000" dirty="0">
                <a:latin typeface="Times New Roman" panose="02020603050405020304" pitchFamily="18" charset="0"/>
                <a:cs typeface="Times New Roman" panose="02020603050405020304" pitchFamily="18" charset="0"/>
              </a:rPr>
              <a:t>.jpg</a:t>
            </a:r>
          </a:p>
          <a:p>
            <a:pPr rtl="0">
              <a:buNone/>
            </a:pP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png</a:t>
            </a:r>
            <a:endParaRPr lang="en-IN" sz="2000" dirty="0">
              <a:latin typeface="Times New Roman" panose="02020603050405020304" pitchFamily="18" charset="0"/>
              <a:cs typeface="Times New Roman" panose="02020603050405020304" pitchFamily="18" charset="0"/>
            </a:endParaRPr>
          </a:p>
          <a:p>
            <a:pPr rtl="0">
              <a:buNone/>
            </a:pPr>
            <a:r>
              <a:rPr lang="en-IN" sz="2000" dirty="0">
                <a:latin typeface="Times New Roman" panose="02020603050405020304" pitchFamily="18" charset="0"/>
                <a:cs typeface="Times New Roman" panose="02020603050405020304" pitchFamily="18" charset="0"/>
              </a:rPr>
              <a:t>.jpeg</a:t>
            </a:r>
          </a:p>
          <a:p>
            <a:pPr>
              <a:buNone/>
            </a:pPr>
            <a:r>
              <a:rPr lang="en-IN" sz="2000" dirty="0">
                <a:latin typeface="Times New Roman" panose="02020603050405020304" pitchFamily="18" charset="0"/>
                <a:cs typeface="Times New Roman" panose="02020603050405020304" pitchFamily="18" charset="0"/>
              </a:rPr>
              <a:t>Contains visual information.</a:t>
            </a:r>
          </a:p>
        </p:txBody>
      </p:sp>
      <p:sp>
        <p:nvSpPr>
          <p:cNvPr id="9" name="TextBox 8">
            <a:extLst>
              <a:ext uri="{FF2B5EF4-FFF2-40B4-BE49-F238E27FC236}">
                <a16:creationId xmlns:a16="http://schemas.microsoft.com/office/drawing/2014/main" id="{8C96A6B8-607B-5739-7117-1433C7533D24}"/>
              </a:ext>
            </a:extLst>
          </p:cNvPr>
          <p:cNvSpPr txBox="1"/>
          <p:nvPr/>
        </p:nvSpPr>
        <p:spPr>
          <a:xfrm>
            <a:off x="6097732" y="2690336"/>
            <a:ext cx="6094268" cy="1631216"/>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Audio</a:t>
            </a:r>
          </a:p>
          <a:p>
            <a:pPr>
              <a:buNone/>
            </a:pPr>
            <a:r>
              <a:rPr lang="en-IN" sz="2000" dirty="0">
                <a:latin typeface="Times New Roman" panose="02020603050405020304" pitchFamily="18" charset="0"/>
                <a:cs typeface="Times New Roman" panose="02020603050405020304" pitchFamily="18" charset="0"/>
              </a:rPr>
              <a:t>Examples:</a:t>
            </a:r>
          </a:p>
          <a:p>
            <a:pPr rtl="0">
              <a:buNone/>
            </a:pPr>
            <a:r>
              <a:rPr lang="en-IN" sz="2000" dirty="0">
                <a:latin typeface="Times New Roman" panose="02020603050405020304" pitchFamily="18" charset="0"/>
                <a:cs typeface="Times New Roman" panose="02020603050405020304" pitchFamily="18" charset="0"/>
              </a:rPr>
              <a:t>.mp3</a:t>
            </a:r>
          </a:p>
          <a:p>
            <a:pPr rtl="0">
              <a:buNone/>
            </a:pPr>
            <a:r>
              <a:rPr lang="en-IN" sz="2000" dirty="0">
                <a:latin typeface="Times New Roman" panose="02020603050405020304" pitchFamily="18" charset="0"/>
                <a:cs typeface="Times New Roman" panose="02020603050405020304" pitchFamily="18" charset="0"/>
              </a:rPr>
              <a:t>.wav</a:t>
            </a:r>
          </a:p>
          <a:p>
            <a:pPr>
              <a:buNone/>
            </a:pPr>
            <a:r>
              <a:rPr lang="en-IN" sz="2000" dirty="0">
                <a:latin typeface="Times New Roman" panose="02020603050405020304" pitchFamily="18" charset="0"/>
                <a:cs typeface="Times New Roman" panose="02020603050405020304" pitchFamily="18" charset="0"/>
              </a:rPr>
              <a:t>Contains sound.</a:t>
            </a:r>
          </a:p>
        </p:txBody>
      </p:sp>
      <p:sp>
        <p:nvSpPr>
          <p:cNvPr id="11" name="TextBox 10">
            <a:extLst>
              <a:ext uri="{FF2B5EF4-FFF2-40B4-BE49-F238E27FC236}">
                <a16:creationId xmlns:a16="http://schemas.microsoft.com/office/drawing/2014/main" id="{7502364E-7B91-19C0-3072-3CB8E7CEF130}"/>
              </a:ext>
            </a:extLst>
          </p:cNvPr>
          <p:cNvSpPr txBox="1"/>
          <p:nvPr/>
        </p:nvSpPr>
        <p:spPr>
          <a:xfrm>
            <a:off x="5935807" y="4609237"/>
            <a:ext cx="6094268" cy="1938992"/>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Video</a:t>
            </a:r>
          </a:p>
          <a:p>
            <a:pPr>
              <a:buNone/>
            </a:pPr>
            <a:r>
              <a:rPr lang="en-US" sz="2000" dirty="0">
                <a:latin typeface="Times New Roman" panose="02020603050405020304" pitchFamily="18" charset="0"/>
                <a:cs typeface="Times New Roman" panose="02020603050405020304" pitchFamily="18" charset="0"/>
              </a:rPr>
              <a:t>Examples:</a:t>
            </a:r>
          </a:p>
          <a:p>
            <a:pPr rtl="0">
              <a:buNone/>
            </a:pPr>
            <a:r>
              <a:rPr lang="en-US" sz="2000" dirty="0">
                <a:latin typeface="Times New Roman" panose="02020603050405020304" pitchFamily="18" charset="0"/>
                <a:cs typeface="Times New Roman" panose="02020603050405020304" pitchFamily="18" charset="0"/>
              </a:rPr>
              <a:t>.mp4</a:t>
            </a:r>
          </a:p>
          <a:p>
            <a:pPr rtl="0">
              <a:buNone/>
            </a:pPr>
            <a:r>
              <a:rPr lang="en-US" sz="2000" dirty="0">
                <a:latin typeface="Times New Roman" panose="02020603050405020304" pitchFamily="18" charset="0"/>
                <a:cs typeface="Times New Roman" panose="02020603050405020304" pitchFamily="18" charset="0"/>
              </a:rPr>
              <a:t>.avi</a:t>
            </a:r>
          </a:p>
          <a:p>
            <a:pPr rtl="0">
              <a:buNone/>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mkv</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Contains video information, often along with audio.</a:t>
            </a:r>
          </a:p>
        </p:txBody>
      </p:sp>
    </p:spTree>
    <p:extLst>
      <p:ext uri="{BB962C8B-B14F-4D97-AF65-F5344CB8AC3E}">
        <p14:creationId xmlns:p14="http://schemas.microsoft.com/office/powerpoint/2010/main" val="34823620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994CDF-426E-065C-189A-850D9D38201E}"/>
              </a:ext>
            </a:extLst>
          </p:cNvPr>
          <p:cNvSpPr txBox="1"/>
          <p:nvPr/>
        </p:nvSpPr>
        <p:spPr>
          <a:xfrm>
            <a:off x="238991" y="466543"/>
            <a:ext cx="11388436" cy="2123658"/>
          </a:xfrm>
          <a:prstGeom prst="rect">
            <a:avLst/>
          </a:prstGeom>
          <a:noFill/>
        </p:spPr>
        <p:txBody>
          <a:bodyPr wrap="square">
            <a:spAutoFit/>
          </a:bodyPr>
          <a:lstStyle/>
          <a:p>
            <a:r>
              <a:rPr lang="en-US" sz="2200" b="1" dirty="0">
                <a:solidFill>
                  <a:srgbClr val="FF0000"/>
                </a:solidFill>
                <a:latin typeface="Times New Roman" panose="02020603050405020304" pitchFamily="18" charset="0"/>
                <a:cs typeface="Times New Roman" panose="02020603050405020304" pitchFamily="18" charset="0"/>
              </a:rPr>
              <a:t>Python for data analytics: NumPy, Pandas, reading CSV/JSON files, indexing, filtering, grouping and aggregation. </a:t>
            </a:r>
          </a:p>
          <a:p>
            <a:endParaRPr lang="en-US" sz="2200" b="1" dirty="0">
              <a:solidFill>
                <a:srgbClr val="FF0000"/>
              </a:solidFill>
              <a:latin typeface="Times New Roman" panose="02020603050405020304" pitchFamily="18" charset="0"/>
              <a:cs typeface="Times New Roman" panose="02020603050405020304" pitchFamily="18" charset="0"/>
            </a:endParaRPr>
          </a:p>
          <a:p>
            <a:endParaRPr lang="en-US" sz="2200" b="1" dirty="0">
              <a:solidFill>
                <a:srgbClr val="FF0000"/>
              </a:solidFill>
              <a:latin typeface="Times New Roman" panose="02020603050405020304" pitchFamily="18" charset="0"/>
              <a:cs typeface="Times New Roman" panose="02020603050405020304" pitchFamily="18" charset="0"/>
            </a:endParaRPr>
          </a:p>
          <a:p>
            <a:endParaRPr lang="en-US" sz="2200" b="1" dirty="0">
              <a:solidFill>
                <a:srgbClr val="FF0000"/>
              </a:solidFill>
              <a:latin typeface="Times New Roman" panose="02020603050405020304" pitchFamily="18" charset="0"/>
              <a:cs typeface="Times New Roman" panose="02020603050405020304" pitchFamily="18" charset="0"/>
            </a:endParaRPr>
          </a:p>
          <a:p>
            <a:endParaRPr lang="en-IN" sz="2200" b="1" dirty="0">
              <a:solidFill>
                <a:srgbClr val="FF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EFCFB1F-16AD-D61A-06D6-6E6FB1198481}"/>
              </a:ext>
            </a:extLst>
          </p:cNvPr>
          <p:cNvPicPr>
            <a:picLocks noChangeAspect="1"/>
          </p:cNvPicPr>
          <p:nvPr/>
        </p:nvPicPr>
        <p:blipFill>
          <a:blip r:embed="rId2"/>
          <a:stretch>
            <a:fillRect/>
          </a:stretch>
        </p:blipFill>
        <p:spPr>
          <a:xfrm>
            <a:off x="238991" y="1528372"/>
            <a:ext cx="4233016" cy="3296741"/>
          </a:xfrm>
          <a:prstGeom prst="rect">
            <a:avLst/>
          </a:prstGeom>
        </p:spPr>
      </p:pic>
    </p:spTree>
    <p:extLst>
      <p:ext uri="{BB962C8B-B14F-4D97-AF65-F5344CB8AC3E}">
        <p14:creationId xmlns:p14="http://schemas.microsoft.com/office/powerpoint/2010/main" val="5152298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9714AE-2EB7-344B-946D-09596AFCC690}"/>
              </a:ext>
            </a:extLst>
          </p:cNvPr>
          <p:cNvSpPr txBox="1"/>
          <p:nvPr/>
        </p:nvSpPr>
        <p:spPr>
          <a:xfrm>
            <a:off x="729095" y="979530"/>
            <a:ext cx="10733809" cy="3139321"/>
          </a:xfrm>
          <a:prstGeom prst="rect">
            <a:avLst/>
          </a:prstGeom>
          <a:noFill/>
        </p:spPr>
        <p:txBody>
          <a:bodyPr wrap="square">
            <a:spAutoFit/>
          </a:bodyPr>
          <a:lstStyle/>
          <a:p>
            <a:pPr algn="just">
              <a:buNone/>
            </a:pPr>
            <a:r>
              <a:rPr lang="en-US" sz="2200" b="1" dirty="0">
                <a:latin typeface="Times New Roman" panose="02020603050405020304" pitchFamily="18" charset="0"/>
                <a:cs typeface="Times New Roman" panose="02020603050405020304" pitchFamily="18" charset="0"/>
              </a:rPr>
              <a:t>"Suppose you are working as a Data Analyst in an e-commerce company. The company has a large amount of sales data. The management wants to know which products are selling well, which region has the highest sales, whether there are missing or duplicate records, and how sales information can be combined with product and regional information.“</a:t>
            </a:r>
          </a:p>
          <a:p>
            <a:pPr algn="just">
              <a:buNone/>
            </a:pPr>
            <a:endParaRPr lang="en-US" sz="2200" b="1" dirty="0">
              <a:latin typeface="Times New Roman" panose="02020603050405020304" pitchFamily="18" charset="0"/>
              <a:cs typeface="Times New Roman" panose="02020603050405020304" pitchFamily="18" charset="0"/>
            </a:endParaRPr>
          </a:p>
          <a:p>
            <a:pPr algn="just">
              <a:buNone/>
            </a:pPr>
            <a:endParaRPr lang="en-US" sz="2200" dirty="0">
              <a:latin typeface="Times New Roman" panose="02020603050405020304" pitchFamily="18" charset="0"/>
              <a:cs typeface="Times New Roman" panose="02020603050405020304" pitchFamily="18" charset="0"/>
            </a:endParaRPr>
          </a:p>
          <a:p>
            <a:pPr algn="just">
              <a:buNone/>
            </a:pPr>
            <a:r>
              <a:rPr lang="en-US" sz="2200" b="1" dirty="0">
                <a:latin typeface="Times New Roman" panose="02020603050405020304" pitchFamily="18" charset="0"/>
                <a:cs typeface="Times New Roman" panose="02020603050405020304" pitchFamily="18" charset="0"/>
              </a:rPr>
              <a:t>"Today we will learn how Python can help us answer these business questions using NumPy and Pandas."</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05711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DAEE08-4E5E-9C64-B98C-7F38887DB54E}"/>
              </a:ext>
            </a:extLst>
          </p:cNvPr>
          <p:cNvSpPr txBox="1"/>
          <p:nvPr/>
        </p:nvSpPr>
        <p:spPr>
          <a:xfrm>
            <a:off x="927388" y="553088"/>
            <a:ext cx="6094268" cy="430887"/>
          </a:xfrm>
          <a:prstGeom prst="rect">
            <a:avLst/>
          </a:prstGeom>
          <a:noFill/>
        </p:spPr>
        <p:txBody>
          <a:bodyPr wrap="square">
            <a:spAutoFit/>
          </a:bodyPr>
          <a:lstStyle/>
          <a:p>
            <a:r>
              <a:rPr lang="en-IN" sz="2200" b="1" dirty="0">
                <a:solidFill>
                  <a:srgbClr val="FF0000"/>
                </a:solidFill>
                <a:latin typeface="Times New Roman" panose="02020603050405020304" pitchFamily="18" charset="0"/>
                <a:cs typeface="Times New Roman" panose="02020603050405020304" pitchFamily="18" charset="0"/>
              </a:rPr>
              <a:t>NUMPY</a:t>
            </a:r>
          </a:p>
        </p:txBody>
      </p:sp>
      <p:sp>
        <p:nvSpPr>
          <p:cNvPr id="5" name="TextBox 4">
            <a:extLst>
              <a:ext uri="{FF2B5EF4-FFF2-40B4-BE49-F238E27FC236}">
                <a16:creationId xmlns:a16="http://schemas.microsoft.com/office/drawing/2014/main" id="{7FA56CF2-761C-C250-CAF7-E23509473FAD}"/>
              </a:ext>
            </a:extLst>
          </p:cNvPr>
          <p:cNvSpPr txBox="1"/>
          <p:nvPr/>
        </p:nvSpPr>
        <p:spPr>
          <a:xfrm>
            <a:off x="1010515" y="1120676"/>
            <a:ext cx="10700039" cy="2246769"/>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NumPy is a Python library used for efficient numerical computing and working with arrays.</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rtl="0">
              <a:buNone/>
            </a:pPr>
            <a:r>
              <a:rPr lang="en-US" sz="2000" dirty="0">
                <a:latin typeface="Times New Roman" panose="02020603050405020304" pitchFamily="18" charset="0"/>
                <a:cs typeface="Times New Roman" panose="02020603050405020304" pitchFamily="18" charset="0"/>
              </a:rPr>
              <a:t>NumPy</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Numerical Python</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Work with numerical data</a:t>
            </a:r>
          </a:p>
        </p:txBody>
      </p:sp>
      <p:sp>
        <p:nvSpPr>
          <p:cNvPr id="7" name="TextBox 6">
            <a:extLst>
              <a:ext uri="{FF2B5EF4-FFF2-40B4-BE49-F238E27FC236}">
                <a16:creationId xmlns:a16="http://schemas.microsoft.com/office/drawing/2014/main" id="{DFD7F7E9-CBAD-0CC7-4043-1390397269E6}"/>
              </a:ext>
            </a:extLst>
          </p:cNvPr>
          <p:cNvSpPr txBox="1"/>
          <p:nvPr/>
        </p:nvSpPr>
        <p:spPr>
          <a:xfrm>
            <a:off x="5748771" y="1783185"/>
            <a:ext cx="6094268" cy="440120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Uses</a:t>
            </a:r>
          </a:p>
          <a:p>
            <a:pPr>
              <a:buNone/>
            </a:pPr>
            <a:r>
              <a:rPr lang="en-US" sz="2000" dirty="0">
                <a:latin typeface="Times New Roman" panose="02020603050405020304" pitchFamily="18" charset="0"/>
                <a:cs typeface="Times New Roman" panose="02020603050405020304" pitchFamily="18" charset="0"/>
              </a:rPr>
              <a:t>NumPy is used for:</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Creating numerical arrays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Mathematical calculations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Array operations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Statistical calculations </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 example:</a:t>
            </a:r>
          </a:p>
          <a:p>
            <a:pPr rtl="0">
              <a:buNone/>
            </a:pPr>
            <a:r>
              <a:rPr lang="en-US" sz="2000" dirty="0">
                <a:latin typeface="Times New Roman" panose="02020603050405020304" pitchFamily="18" charset="0"/>
                <a:cs typeface="Times New Roman" panose="02020603050405020304" pitchFamily="18" charset="0"/>
              </a:rPr>
              <a:t>Sales = [50000, 5000, 8000, 12000]</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Questions: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is the total sales?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is the average sales?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What is the highest sales?</a:t>
            </a:r>
          </a:p>
        </p:txBody>
      </p:sp>
      <p:sp>
        <p:nvSpPr>
          <p:cNvPr id="9" name="TextBox 8">
            <a:extLst>
              <a:ext uri="{FF2B5EF4-FFF2-40B4-BE49-F238E27FC236}">
                <a16:creationId xmlns:a16="http://schemas.microsoft.com/office/drawing/2014/main" id="{E472382F-C525-8873-B94C-5A8FDE31D181}"/>
              </a:ext>
            </a:extLst>
          </p:cNvPr>
          <p:cNvSpPr txBox="1"/>
          <p:nvPr/>
        </p:nvSpPr>
        <p:spPr>
          <a:xfrm>
            <a:off x="3048865" y="553088"/>
            <a:ext cx="8794173"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It stands for Numerical Python, NumPy helps us perform calculations on numerical data efficiently. (OR)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20083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8683A2-005D-E0EB-6165-9E5447FC3D10}"/>
              </a:ext>
            </a:extLst>
          </p:cNvPr>
          <p:cNvPicPr>
            <a:picLocks noChangeAspect="1"/>
          </p:cNvPicPr>
          <p:nvPr/>
        </p:nvPicPr>
        <p:blipFill>
          <a:blip r:embed="rId2"/>
          <a:stretch>
            <a:fillRect/>
          </a:stretch>
        </p:blipFill>
        <p:spPr>
          <a:xfrm>
            <a:off x="914460" y="308333"/>
            <a:ext cx="4031613" cy="6241333"/>
          </a:xfrm>
          <a:prstGeom prst="rect">
            <a:avLst/>
          </a:prstGeom>
        </p:spPr>
      </p:pic>
      <p:pic>
        <p:nvPicPr>
          <p:cNvPr id="5" name="Picture 4">
            <a:extLst>
              <a:ext uri="{FF2B5EF4-FFF2-40B4-BE49-F238E27FC236}">
                <a16:creationId xmlns:a16="http://schemas.microsoft.com/office/drawing/2014/main" id="{3D36F358-D153-F295-F1D9-8EF77A362611}"/>
              </a:ext>
            </a:extLst>
          </p:cNvPr>
          <p:cNvPicPr>
            <a:picLocks noChangeAspect="1"/>
          </p:cNvPicPr>
          <p:nvPr/>
        </p:nvPicPr>
        <p:blipFill>
          <a:blip r:embed="rId3"/>
          <a:stretch>
            <a:fillRect/>
          </a:stretch>
        </p:blipFill>
        <p:spPr>
          <a:xfrm>
            <a:off x="5461376" y="308333"/>
            <a:ext cx="2468603" cy="2704157"/>
          </a:xfrm>
          <a:prstGeom prst="rect">
            <a:avLst/>
          </a:prstGeom>
        </p:spPr>
      </p:pic>
      <p:pic>
        <p:nvPicPr>
          <p:cNvPr id="7" name="Picture 6">
            <a:extLst>
              <a:ext uri="{FF2B5EF4-FFF2-40B4-BE49-F238E27FC236}">
                <a16:creationId xmlns:a16="http://schemas.microsoft.com/office/drawing/2014/main" id="{3253C24E-CF71-4807-29B7-668B4ECEE835}"/>
              </a:ext>
            </a:extLst>
          </p:cNvPr>
          <p:cNvPicPr>
            <a:picLocks noChangeAspect="1"/>
          </p:cNvPicPr>
          <p:nvPr/>
        </p:nvPicPr>
        <p:blipFill>
          <a:blip r:embed="rId4"/>
          <a:stretch>
            <a:fillRect/>
          </a:stretch>
        </p:blipFill>
        <p:spPr>
          <a:xfrm>
            <a:off x="8297162" y="1633505"/>
            <a:ext cx="3516542" cy="4916161"/>
          </a:xfrm>
          <a:prstGeom prst="rect">
            <a:avLst/>
          </a:prstGeom>
        </p:spPr>
      </p:pic>
      <p:sp>
        <p:nvSpPr>
          <p:cNvPr id="2" name="TextBox 1">
            <a:extLst>
              <a:ext uri="{FF2B5EF4-FFF2-40B4-BE49-F238E27FC236}">
                <a16:creationId xmlns:a16="http://schemas.microsoft.com/office/drawing/2014/main" id="{6742CE24-810E-28E1-43B7-36E5E5A4601F}"/>
              </a:ext>
            </a:extLst>
          </p:cNvPr>
          <p:cNvSpPr txBox="1"/>
          <p:nvPr/>
        </p:nvSpPr>
        <p:spPr>
          <a:xfrm>
            <a:off x="8297162" y="1080655"/>
            <a:ext cx="1813193"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OUTPUT</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23000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F89CFF-7575-A875-8356-C3A27AAF3432}"/>
              </a:ext>
            </a:extLst>
          </p:cNvPr>
          <p:cNvSpPr txBox="1"/>
          <p:nvPr/>
        </p:nvSpPr>
        <p:spPr>
          <a:xfrm>
            <a:off x="1226127" y="958611"/>
            <a:ext cx="10546773" cy="2246769"/>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"NumPy allows us to perform calculations on the entire array without writing a loop for every element."</a:t>
            </a: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Then transition:</a:t>
            </a:r>
          </a:p>
          <a:p>
            <a:pPr>
              <a:buNone/>
            </a:pPr>
            <a:r>
              <a:rPr lang="en-US" sz="2000" dirty="0">
                <a:latin typeface="Times New Roman" panose="02020603050405020304" pitchFamily="18" charset="0"/>
                <a:cs typeface="Times New Roman" panose="02020603050405020304" pitchFamily="18" charset="0"/>
              </a:rPr>
              <a:t>"But our real sales data contains not only numbers. It contains product names, categories, regions, dates, sales and profit. For this type of tabular data, Pandas is more useful."</a:t>
            </a:r>
          </a:p>
        </p:txBody>
      </p:sp>
    </p:spTree>
    <p:extLst>
      <p:ext uri="{BB962C8B-B14F-4D97-AF65-F5344CB8AC3E}">
        <p14:creationId xmlns:p14="http://schemas.microsoft.com/office/powerpoint/2010/main" val="33472240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4752E7-CC7F-34E9-C881-E458ABC77AB4}"/>
              </a:ext>
            </a:extLst>
          </p:cNvPr>
          <p:cNvSpPr txBox="1"/>
          <p:nvPr/>
        </p:nvSpPr>
        <p:spPr>
          <a:xfrm>
            <a:off x="654628" y="304121"/>
            <a:ext cx="11045536" cy="2862322"/>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Pandas</a:t>
            </a:r>
          </a:p>
          <a:p>
            <a:pPr>
              <a:buNone/>
            </a:pPr>
            <a:r>
              <a:rPr lang="en-US" sz="2000" b="1" dirty="0">
                <a:latin typeface="Times New Roman" panose="02020603050405020304" pitchFamily="18" charset="0"/>
                <a:cs typeface="Times New Roman" panose="02020603050405020304" pitchFamily="18" charset="0"/>
              </a:rPr>
              <a:t>Pandas is a Python library used to store, manipulate, analyze and visualize structured or tabular data.</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Introduce two important structures:</a:t>
            </a:r>
          </a:p>
          <a:p>
            <a:pPr>
              <a:buNone/>
            </a:pPr>
            <a:r>
              <a:rPr lang="en-US" sz="2000" b="1" dirty="0">
                <a:latin typeface="Times New Roman" panose="02020603050405020304" pitchFamily="18" charset="0"/>
                <a:cs typeface="Times New Roman" panose="02020603050405020304" pitchFamily="18" charset="0"/>
              </a:rPr>
              <a:t>Series</a:t>
            </a:r>
          </a:p>
          <a:p>
            <a:pPr>
              <a:buNone/>
            </a:pPr>
            <a:r>
              <a:rPr lang="en-US" sz="2000" dirty="0">
                <a:latin typeface="Times New Roman" panose="02020603050405020304" pitchFamily="18" charset="0"/>
                <a:cs typeface="Times New Roman" panose="02020603050405020304" pitchFamily="18" charset="0"/>
              </a:rPr>
              <a:t>A single column of data. (or) </a:t>
            </a:r>
            <a:r>
              <a:rPr lang="en-US" sz="2000" dirty="0"/>
              <a:t>"</a:t>
            </a:r>
            <a:r>
              <a:rPr lang="en-US" sz="2000" dirty="0">
                <a:latin typeface="Times New Roman" panose="02020603050405020304" pitchFamily="18" charset="0"/>
                <a:cs typeface="Times New Roman" panose="02020603050405020304" pitchFamily="18" charset="0"/>
              </a:rPr>
              <a:t>A Series is similar to one column in a table."</a:t>
            </a:r>
          </a:p>
          <a:p>
            <a:pPr>
              <a:buNone/>
            </a:pPr>
            <a:r>
              <a:rPr lang="en-US" sz="2000" b="1" dirty="0" err="1">
                <a:latin typeface="Times New Roman" panose="02020603050405020304" pitchFamily="18" charset="0"/>
                <a:cs typeface="Times New Roman" panose="02020603050405020304" pitchFamily="18" charset="0"/>
              </a:rPr>
              <a:t>DataFrame</a:t>
            </a:r>
            <a:endParaRPr lang="en-US" sz="2000" b="1"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 complete table containing rows and columns.</a:t>
            </a:r>
          </a:p>
        </p:txBody>
      </p:sp>
      <p:pic>
        <p:nvPicPr>
          <p:cNvPr id="5" name="Picture 4">
            <a:extLst>
              <a:ext uri="{FF2B5EF4-FFF2-40B4-BE49-F238E27FC236}">
                <a16:creationId xmlns:a16="http://schemas.microsoft.com/office/drawing/2014/main" id="{C52B6379-1D40-1FA6-3E2E-476F3326F4C5}"/>
              </a:ext>
            </a:extLst>
          </p:cNvPr>
          <p:cNvPicPr>
            <a:picLocks noChangeAspect="1"/>
          </p:cNvPicPr>
          <p:nvPr/>
        </p:nvPicPr>
        <p:blipFill>
          <a:blip r:embed="rId2"/>
          <a:stretch>
            <a:fillRect/>
          </a:stretch>
        </p:blipFill>
        <p:spPr>
          <a:xfrm>
            <a:off x="654628" y="4181595"/>
            <a:ext cx="3748674" cy="1751613"/>
          </a:xfrm>
          <a:prstGeom prst="rect">
            <a:avLst/>
          </a:prstGeom>
        </p:spPr>
      </p:pic>
      <p:sp>
        <p:nvSpPr>
          <p:cNvPr id="7" name="TextBox 6">
            <a:extLst>
              <a:ext uri="{FF2B5EF4-FFF2-40B4-BE49-F238E27FC236}">
                <a16:creationId xmlns:a16="http://schemas.microsoft.com/office/drawing/2014/main" id="{2A8A1E7B-8B68-0C29-A2E5-0D8D6F3432C3}"/>
              </a:ext>
            </a:extLst>
          </p:cNvPr>
          <p:cNvSpPr txBox="1"/>
          <p:nvPr/>
        </p:nvSpPr>
        <p:spPr>
          <a:xfrm>
            <a:off x="654628" y="3541477"/>
            <a:ext cx="6094268"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Coding – Series</a:t>
            </a:r>
          </a:p>
        </p:txBody>
      </p:sp>
      <p:pic>
        <p:nvPicPr>
          <p:cNvPr id="9" name="Picture 8">
            <a:extLst>
              <a:ext uri="{FF2B5EF4-FFF2-40B4-BE49-F238E27FC236}">
                <a16:creationId xmlns:a16="http://schemas.microsoft.com/office/drawing/2014/main" id="{ED1E8A8D-39B2-101D-4C96-6BC62D044FF9}"/>
              </a:ext>
            </a:extLst>
          </p:cNvPr>
          <p:cNvPicPr>
            <a:picLocks noChangeAspect="1"/>
          </p:cNvPicPr>
          <p:nvPr/>
        </p:nvPicPr>
        <p:blipFill>
          <a:blip r:embed="rId3"/>
          <a:stretch>
            <a:fillRect/>
          </a:stretch>
        </p:blipFill>
        <p:spPr>
          <a:xfrm>
            <a:off x="5597176" y="4083236"/>
            <a:ext cx="2541945" cy="1849972"/>
          </a:xfrm>
          <a:prstGeom prst="rect">
            <a:avLst/>
          </a:prstGeom>
        </p:spPr>
      </p:pic>
    </p:spTree>
    <p:extLst>
      <p:ext uri="{BB962C8B-B14F-4D97-AF65-F5344CB8AC3E}">
        <p14:creationId xmlns:p14="http://schemas.microsoft.com/office/powerpoint/2010/main" val="40150416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F0CA0E-F218-B560-868B-B76A55E53A9B}"/>
              </a:ext>
            </a:extLst>
          </p:cNvPr>
          <p:cNvSpPr txBox="1"/>
          <p:nvPr/>
        </p:nvSpPr>
        <p:spPr>
          <a:xfrm>
            <a:off x="937779" y="449180"/>
            <a:ext cx="609426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Coding – </a:t>
            </a:r>
            <a:r>
              <a:rPr lang="en-IN" sz="2000" b="1" dirty="0" err="1">
                <a:latin typeface="Times New Roman" panose="02020603050405020304" pitchFamily="18" charset="0"/>
                <a:cs typeface="Times New Roman" panose="02020603050405020304" pitchFamily="18" charset="0"/>
              </a:rPr>
              <a:t>DataFrame</a:t>
            </a:r>
            <a:endParaRPr lang="en-IN" sz="2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F260758-814E-8AC2-05A5-708AE657F68E}"/>
              </a:ext>
            </a:extLst>
          </p:cNvPr>
          <p:cNvPicPr>
            <a:picLocks noChangeAspect="1"/>
          </p:cNvPicPr>
          <p:nvPr/>
        </p:nvPicPr>
        <p:blipFill>
          <a:blip r:embed="rId2"/>
          <a:stretch>
            <a:fillRect/>
          </a:stretch>
        </p:blipFill>
        <p:spPr>
          <a:xfrm>
            <a:off x="937779" y="1076562"/>
            <a:ext cx="5191840" cy="2487519"/>
          </a:xfrm>
          <a:prstGeom prst="rect">
            <a:avLst/>
          </a:prstGeom>
        </p:spPr>
      </p:pic>
      <p:pic>
        <p:nvPicPr>
          <p:cNvPr id="7" name="Picture 6">
            <a:extLst>
              <a:ext uri="{FF2B5EF4-FFF2-40B4-BE49-F238E27FC236}">
                <a16:creationId xmlns:a16="http://schemas.microsoft.com/office/drawing/2014/main" id="{5FF2E91E-E9C5-F12D-0684-A44D24307E25}"/>
              </a:ext>
            </a:extLst>
          </p:cNvPr>
          <p:cNvPicPr>
            <a:picLocks noChangeAspect="1"/>
          </p:cNvPicPr>
          <p:nvPr/>
        </p:nvPicPr>
        <p:blipFill>
          <a:blip r:embed="rId3"/>
          <a:stretch>
            <a:fillRect/>
          </a:stretch>
        </p:blipFill>
        <p:spPr>
          <a:xfrm>
            <a:off x="6714164" y="1403966"/>
            <a:ext cx="4622317" cy="1832709"/>
          </a:xfrm>
          <a:prstGeom prst="rect">
            <a:avLst/>
          </a:prstGeom>
        </p:spPr>
      </p:pic>
      <p:sp>
        <p:nvSpPr>
          <p:cNvPr id="9" name="TextBox 8">
            <a:extLst>
              <a:ext uri="{FF2B5EF4-FFF2-40B4-BE49-F238E27FC236}">
                <a16:creationId xmlns:a16="http://schemas.microsoft.com/office/drawing/2014/main" id="{82010A2D-D082-AE3D-2C0C-019CE631F6C1}"/>
              </a:ext>
            </a:extLst>
          </p:cNvPr>
          <p:cNvSpPr txBox="1"/>
          <p:nvPr/>
        </p:nvSpPr>
        <p:spPr>
          <a:xfrm>
            <a:off x="820882" y="4415090"/>
            <a:ext cx="8081529" cy="369332"/>
          </a:xfrm>
          <a:prstGeom prst="rect">
            <a:avLst/>
          </a:prstGeom>
          <a:noFill/>
        </p:spPr>
        <p:txBody>
          <a:bodyPr wrap="square">
            <a:spAutoFit/>
          </a:bodyPr>
          <a:lstStyle/>
          <a:p>
            <a:r>
              <a:rPr lang="en-US" dirty="0"/>
              <a:t>"</a:t>
            </a:r>
            <a:r>
              <a:rPr lang="en-US" dirty="0">
                <a:latin typeface="Times New Roman" panose="02020603050405020304" pitchFamily="18" charset="0"/>
                <a:cs typeface="Times New Roman" panose="02020603050405020304" pitchFamily="18" charset="0"/>
              </a:rPr>
              <a:t>A </a:t>
            </a:r>
            <a:r>
              <a:rPr lang="en-US" dirty="0" err="1">
                <a:latin typeface="Times New Roman" panose="02020603050405020304" pitchFamily="18" charset="0"/>
                <a:cs typeface="Times New Roman" panose="02020603050405020304" pitchFamily="18" charset="0"/>
              </a:rPr>
              <a:t>DataFrame</a:t>
            </a:r>
            <a:r>
              <a:rPr lang="en-US" dirty="0">
                <a:latin typeface="Times New Roman" panose="02020603050405020304" pitchFamily="18" charset="0"/>
                <a:cs typeface="Times New Roman" panose="02020603050405020304" pitchFamily="18" charset="0"/>
              </a:rPr>
              <a:t> is a two-dimensional table consisting of rows and columns."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37972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5C7E3F-9AED-5E7D-B70C-72B2719BC371}"/>
              </a:ext>
            </a:extLst>
          </p:cNvPr>
          <p:cNvSpPr txBox="1"/>
          <p:nvPr/>
        </p:nvSpPr>
        <p:spPr>
          <a:xfrm>
            <a:off x="561109" y="695144"/>
            <a:ext cx="10754591"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"Instead of creating our sales data manually, suppose the company gives us a CSV file."</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72DF2A3-AC31-E6F2-187C-C244260BB583}"/>
              </a:ext>
            </a:extLst>
          </p:cNvPr>
          <p:cNvSpPr txBox="1"/>
          <p:nvPr/>
        </p:nvSpPr>
        <p:spPr>
          <a:xfrm>
            <a:off x="706582" y="1578648"/>
            <a:ext cx="10183091" cy="1938992"/>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Reading a Real CSV Dataset</a:t>
            </a:r>
          </a:p>
          <a:p>
            <a:pPr>
              <a:buNone/>
            </a:pPr>
            <a:r>
              <a:rPr lang="en-US" sz="2000" b="1" dirty="0">
                <a:latin typeface="Times New Roman" panose="02020603050405020304" pitchFamily="18" charset="0"/>
                <a:cs typeface="Times New Roman" panose="02020603050405020304" pitchFamily="18" charset="0"/>
              </a:rPr>
              <a:t>CSV stands for Comma-Separated Values. It is one of the most commonly used formats for storing tabular data.</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Pandas provides:</a:t>
            </a:r>
          </a:p>
          <a:p>
            <a:pPr rtl="0">
              <a:buNone/>
            </a:pPr>
            <a:r>
              <a:rPr lang="en-US" sz="2000" b="1" dirty="0">
                <a:latin typeface="Times New Roman" panose="02020603050405020304" pitchFamily="18" charset="0"/>
                <a:cs typeface="Times New Roman" panose="02020603050405020304" pitchFamily="18" charset="0"/>
              </a:rPr>
              <a:t>pd.read_csv()  </a:t>
            </a:r>
            <a:r>
              <a:rPr lang="en-US" sz="2000" dirty="0">
                <a:latin typeface="Times New Roman" panose="02020603050405020304" pitchFamily="18" charset="0"/>
                <a:cs typeface="Times New Roman" panose="02020603050405020304" pitchFamily="18" charset="0"/>
              </a:rPr>
              <a:t>to read CSV files.</a:t>
            </a:r>
          </a:p>
        </p:txBody>
      </p:sp>
      <p:pic>
        <p:nvPicPr>
          <p:cNvPr id="7" name="Picture 6">
            <a:extLst>
              <a:ext uri="{FF2B5EF4-FFF2-40B4-BE49-F238E27FC236}">
                <a16:creationId xmlns:a16="http://schemas.microsoft.com/office/drawing/2014/main" id="{0A4D5625-9699-99F5-C2B3-26E9B14579ED}"/>
              </a:ext>
            </a:extLst>
          </p:cNvPr>
          <p:cNvPicPr>
            <a:picLocks noChangeAspect="1"/>
          </p:cNvPicPr>
          <p:nvPr/>
        </p:nvPicPr>
        <p:blipFill>
          <a:blip r:embed="rId2"/>
          <a:stretch>
            <a:fillRect/>
          </a:stretch>
        </p:blipFill>
        <p:spPr>
          <a:xfrm>
            <a:off x="706582" y="4001034"/>
            <a:ext cx="4222794" cy="1767204"/>
          </a:xfrm>
          <a:prstGeom prst="rect">
            <a:avLst/>
          </a:prstGeom>
        </p:spPr>
      </p:pic>
      <p:pic>
        <p:nvPicPr>
          <p:cNvPr id="9" name="Picture 8">
            <a:extLst>
              <a:ext uri="{FF2B5EF4-FFF2-40B4-BE49-F238E27FC236}">
                <a16:creationId xmlns:a16="http://schemas.microsoft.com/office/drawing/2014/main" id="{B64D19E6-F25F-7C62-2571-3A20DCAC3724}"/>
              </a:ext>
            </a:extLst>
          </p:cNvPr>
          <p:cNvPicPr>
            <a:picLocks noChangeAspect="1"/>
          </p:cNvPicPr>
          <p:nvPr/>
        </p:nvPicPr>
        <p:blipFill>
          <a:blip r:embed="rId3"/>
          <a:stretch>
            <a:fillRect/>
          </a:stretch>
        </p:blipFill>
        <p:spPr>
          <a:xfrm>
            <a:off x="5425552" y="3597925"/>
            <a:ext cx="6882735" cy="2948348"/>
          </a:xfrm>
          <a:prstGeom prst="rect">
            <a:avLst/>
          </a:prstGeom>
        </p:spPr>
      </p:pic>
    </p:spTree>
    <p:extLst>
      <p:ext uri="{BB962C8B-B14F-4D97-AF65-F5344CB8AC3E}">
        <p14:creationId xmlns:p14="http://schemas.microsoft.com/office/powerpoint/2010/main" val="42626332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8B3002-7C67-C09F-AEAE-C34E6BE64267}"/>
              </a:ext>
            </a:extLst>
          </p:cNvPr>
          <p:cNvSpPr txBox="1"/>
          <p:nvPr/>
        </p:nvSpPr>
        <p:spPr>
          <a:xfrm>
            <a:off x="800099" y="539832"/>
            <a:ext cx="11003973" cy="4001095"/>
          </a:xfrm>
          <a:prstGeom prst="rect">
            <a:avLst/>
          </a:prstGeom>
          <a:noFill/>
        </p:spPr>
        <p:txBody>
          <a:bodyPr wrap="square">
            <a:spAutoFit/>
          </a:bodyPr>
          <a:lstStyle/>
          <a:p>
            <a:pPr>
              <a:buNone/>
            </a:pPr>
            <a:r>
              <a:rPr lang="en-IN" sz="2000" b="1" dirty="0">
                <a:solidFill>
                  <a:srgbClr val="FF0000"/>
                </a:solidFill>
                <a:latin typeface="Times New Roman" panose="02020603050405020304" pitchFamily="18" charset="0"/>
                <a:cs typeface="Times New Roman" panose="02020603050405020304" pitchFamily="18" charset="0"/>
              </a:rPr>
              <a:t>Reading JSON Files</a:t>
            </a:r>
          </a:p>
          <a:p>
            <a:pPr>
              <a:buNone/>
            </a:pPr>
            <a:endParaRPr lang="en-IN" b="1"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JSON is another commonly used format for storing and exchanging data, especially between applications and APIs.</a:t>
            </a:r>
            <a:endParaRPr lang="en-IN" dirty="0">
              <a:latin typeface="Times New Roman" panose="02020603050405020304" pitchFamily="18" charset="0"/>
              <a:cs typeface="Times New Roman" panose="02020603050405020304" pitchFamily="18" charset="0"/>
            </a:endParaRPr>
          </a:p>
          <a:p>
            <a:pPr>
              <a:buNone/>
            </a:pPr>
            <a:endParaRPr lang="en-IN" b="1"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Coding</a:t>
            </a:r>
          </a:p>
          <a:p>
            <a:pPr rtl="0">
              <a:buNone/>
            </a:pPr>
            <a:r>
              <a:rPr lang="en-IN" dirty="0" err="1">
                <a:latin typeface="Times New Roman" panose="02020603050405020304" pitchFamily="18" charset="0"/>
                <a:cs typeface="Times New Roman" panose="02020603050405020304" pitchFamily="18" charset="0"/>
              </a:rPr>
              <a:t>json_df</a:t>
            </a:r>
            <a:r>
              <a:rPr lang="en-IN" dirty="0">
                <a:latin typeface="Times New Roman" panose="02020603050405020304" pitchFamily="18" charset="0"/>
                <a:cs typeface="Times New Roman" panose="02020603050405020304" pitchFamily="18" charset="0"/>
              </a:rPr>
              <a:t> = pd.read_json("</a:t>
            </a:r>
            <a:r>
              <a:rPr lang="en-IN" dirty="0" err="1">
                <a:latin typeface="Times New Roman" panose="02020603050405020304" pitchFamily="18" charset="0"/>
                <a:cs typeface="Times New Roman" panose="02020603050405020304" pitchFamily="18" charset="0"/>
              </a:rPr>
              <a:t>sales_data.json</a:t>
            </a:r>
            <a:r>
              <a:rPr lang="en-IN" dirty="0">
                <a:latin typeface="Times New Roman" panose="02020603050405020304" pitchFamily="18" charset="0"/>
                <a:cs typeface="Times New Roman" panose="02020603050405020304" pitchFamily="18" charset="0"/>
              </a:rPr>
              <a:t>")</a:t>
            </a:r>
          </a:p>
          <a:p>
            <a:pPr rtl="0">
              <a:buNone/>
            </a:pPr>
            <a:endParaRPr lang="en-IN" dirty="0">
              <a:latin typeface="Times New Roman" panose="02020603050405020304" pitchFamily="18" charset="0"/>
              <a:cs typeface="Times New Roman" panose="02020603050405020304" pitchFamily="18" charset="0"/>
            </a:endParaRPr>
          </a:p>
          <a:p>
            <a:pPr rtl="0">
              <a:buNone/>
            </a:pPr>
            <a:r>
              <a:rPr lang="en-IN" dirty="0">
                <a:latin typeface="Times New Roman" panose="02020603050405020304" pitchFamily="18" charset="0"/>
                <a:cs typeface="Times New Roman" panose="02020603050405020304" pitchFamily="18" charset="0"/>
              </a:rPr>
              <a:t>print("JSON DATASET:")</a:t>
            </a:r>
          </a:p>
          <a:p>
            <a:pPr rtl="0">
              <a:buNone/>
            </a:pPr>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json_df</a:t>
            </a:r>
            <a:r>
              <a:rPr lang="en-IN" dirty="0">
                <a:latin typeface="Times New Roman" panose="02020603050405020304" pitchFamily="18" charset="0"/>
                <a:cs typeface="Times New Roman" panose="02020603050405020304" pitchFamily="18" charset="0"/>
              </a:rPr>
              <a:t>)</a:t>
            </a: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a:p>
            <a:pPr rtl="0">
              <a:buNone/>
            </a:pPr>
            <a:r>
              <a:rPr lang="en-IN" b="1" dirty="0">
                <a:latin typeface="Times New Roman" panose="02020603050405020304" pitchFamily="18" charset="0"/>
                <a:cs typeface="Times New Roman" panose="02020603050405020304" pitchFamily="18" charset="0"/>
              </a:rPr>
              <a:t>CSV  → </a:t>
            </a:r>
            <a:r>
              <a:rPr lang="en-IN" b="1" dirty="0" err="1">
                <a:latin typeface="Times New Roman" panose="02020603050405020304" pitchFamily="18" charset="0"/>
                <a:cs typeface="Times New Roman" panose="02020603050405020304" pitchFamily="18" charset="0"/>
              </a:rPr>
              <a:t>pd.read_csv</a:t>
            </a:r>
            <a:r>
              <a:rPr lang="en-IN" b="1" dirty="0">
                <a:latin typeface="Times New Roman" panose="02020603050405020304" pitchFamily="18" charset="0"/>
                <a:cs typeface="Times New Roman" panose="02020603050405020304" pitchFamily="18" charset="0"/>
              </a:rPr>
              <a:t>()</a:t>
            </a:r>
          </a:p>
          <a:p>
            <a:pPr rtl="0">
              <a:buNone/>
            </a:pPr>
            <a:r>
              <a:rPr lang="en-IN" b="1" dirty="0">
                <a:latin typeface="Times New Roman" panose="02020603050405020304" pitchFamily="18" charset="0"/>
                <a:cs typeface="Times New Roman" panose="02020603050405020304" pitchFamily="18" charset="0"/>
              </a:rPr>
              <a:t>JSON → </a:t>
            </a:r>
            <a:r>
              <a:rPr lang="en-IN" b="1" dirty="0" err="1">
                <a:latin typeface="Times New Roman" panose="02020603050405020304" pitchFamily="18" charset="0"/>
                <a:cs typeface="Times New Roman" panose="02020603050405020304" pitchFamily="18" charset="0"/>
              </a:rPr>
              <a:t>pd.read_json</a:t>
            </a:r>
            <a:r>
              <a:rPr lang="en-IN"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145242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F1F172-C50D-9D76-6BB5-B5D35165192E}"/>
              </a:ext>
            </a:extLst>
          </p:cNvPr>
          <p:cNvSpPr txBox="1"/>
          <p:nvPr/>
        </p:nvSpPr>
        <p:spPr>
          <a:xfrm>
            <a:off x="675409" y="432506"/>
            <a:ext cx="10723418" cy="2554545"/>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Understanding the Dataset</a:t>
            </a:r>
          </a:p>
          <a:p>
            <a:pPr>
              <a:buNone/>
            </a:pPr>
            <a:r>
              <a:rPr lang="en-US" sz="2000" dirty="0">
                <a:latin typeface="Times New Roman" panose="02020603050405020304" pitchFamily="18" charset="0"/>
                <a:cs typeface="Times New Roman" panose="02020603050405020304" pitchFamily="18" charset="0"/>
              </a:rPr>
              <a:t>"After loading the data, a data analyst should never immediately start making conclusions. First, we need to understand the dataset."</a:t>
            </a:r>
          </a:p>
          <a:p>
            <a:pPr>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1. First 5 Records</a:t>
            </a:r>
          </a:p>
          <a:p>
            <a:pPr>
              <a:buNone/>
            </a:pPr>
            <a:r>
              <a:rPr lang="en-US" sz="2000" dirty="0">
                <a:latin typeface="Times New Roman" panose="02020603050405020304" pitchFamily="18" charset="0"/>
                <a:cs typeface="Times New Roman" panose="02020603050405020304" pitchFamily="18" charset="0"/>
              </a:rPr>
              <a:t>head() displays the first five rows by default.</a:t>
            </a:r>
          </a:p>
          <a:p>
            <a:pPr>
              <a:buNone/>
            </a:pPr>
            <a:r>
              <a:rPr lang="en-US" sz="2000" dirty="0">
                <a:latin typeface="Times New Roman" panose="02020603050405020304" pitchFamily="18" charset="0"/>
                <a:cs typeface="Times New Roman" panose="02020603050405020304" pitchFamily="18" charset="0"/>
              </a:rPr>
              <a:t>"This gives us a quick look at what the dataset contains."</a:t>
            </a:r>
          </a:p>
        </p:txBody>
      </p:sp>
      <p:pic>
        <p:nvPicPr>
          <p:cNvPr id="5" name="Picture 4">
            <a:extLst>
              <a:ext uri="{FF2B5EF4-FFF2-40B4-BE49-F238E27FC236}">
                <a16:creationId xmlns:a16="http://schemas.microsoft.com/office/drawing/2014/main" id="{CAB092CC-B306-7D92-782E-426DD0AE4DAD}"/>
              </a:ext>
            </a:extLst>
          </p:cNvPr>
          <p:cNvPicPr>
            <a:picLocks noChangeAspect="1"/>
          </p:cNvPicPr>
          <p:nvPr/>
        </p:nvPicPr>
        <p:blipFill>
          <a:blip r:embed="rId2"/>
          <a:stretch>
            <a:fillRect/>
          </a:stretch>
        </p:blipFill>
        <p:spPr>
          <a:xfrm>
            <a:off x="765245" y="3623937"/>
            <a:ext cx="7492961" cy="2236535"/>
          </a:xfrm>
          <a:prstGeom prst="rect">
            <a:avLst/>
          </a:prstGeom>
        </p:spPr>
      </p:pic>
    </p:spTree>
    <p:extLst>
      <p:ext uri="{BB962C8B-B14F-4D97-AF65-F5344CB8AC3E}">
        <p14:creationId xmlns:p14="http://schemas.microsoft.com/office/powerpoint/2010/main" val="34631010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2C4D8B-A3EF-CA7C-703D-28B208894A71}"/>
              </a:ext>
            </a:extLst>
          </p:cNvPr>
          <p:cNvSpPr txBox="1"/>
          <p:nvPr/>
        </p:nvSpPr>
        <p:spPr>
          <a:xfrm>
            <a:off x="685800" y="341991"/>
            <a:ext cx="7800975" cy="70788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2. Last 5 Records</a:t>
            </a:r>
          </a:p>
          <a:p>
            <a:pPr>
              <a:buNone/>
            </a:pPr>
            <a:r>
              <a:rPr lang="en-US" sz="2000" dirty="0">
                <a:latin typeface="Times New Roman" panose="02020603050405020304" pitchFamily="18" charset="0"/>
                <a:cs typeface="Times New Roman" panose="02020603050405020304" pitchFamily="18" charset="0"/>
              </a:rPr>
              <a:t>"tail() displays the last five records."</a:t>
            </a:r>
          </a:p>
        </p:txBody>
      </p:sp>
      <p:pic>
        <p:nvPicPr>
          <p:cNvPr id="5" name="Picture 4">
            <a:extLst>
              <a:ext uri="{FF2B5EF4-FFF2-40B4-BE49-F238E27FC236}">
                <a16:creationId xmlns:a16="http://schemas.microsoft.com/office/drawing/2014/main" id="{C6687E82-FD43-36ED-EAB3-4FBCD6666F06}"/>
              </a:ext>
            </a:extLst>
          </p:cNvPr>
          <p:cNvPicPr>
            <a:picLocks noChangeAspect="1"/>
          </p:cNvPicPr>
          <p:nvPr/>
        </p:nvPicPr>
        <p:blipFill>
          <a:blip r:embed="rId2"/>
          <a:stretch>
            <a:fillRect/>
          </a:stretch>
        </p:blipFill>
        <p:spPr>
          <a:xfrm>
            <a:off x="685800" y="1373591"/>
            <a:ext cx="6847843" cy="1851811"/>
          </a:xfrm>
          <a:prstGeom prst="rect">
            <a:avLst/>
          </a:prstGeom>
        </p:spPr>
      </p:pic>
      <p:sp>
        <p:nvSpPr>
          <p:cNvPr id="7" name="TextBox 6">
            <a:extLst>
              <a:ext uri="{FF2B5EF4-FFF2-40B4-BE49-F238E27FC236}">
                <a16:creationId xmlns:a16="http://schemas.microsoft.com/office/drawing/2014/main" id="{A10616DB-326D-4085-1F2A-2B12D93452C4}"/>
              </a:ext>
            </a:extLst>
          </p:cNvPr>
          <p:cNvSpPr txBox="1"/>
          <p:nvPr/>
        </p:nvSpPr>
        <p:spPr>
          <a:xfrm>
            <a:off x="813088" y="3632599"/>
            <a:ext cx="6094268"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3. Dataset Shape</a:t>
            </a:r>
          </a:p>
        </p:txBody>
      </p:sp>
      <p:pic>
        <p:nvPicPr>
          <p:cNvPr id="9" name="Picture 8">
            <a:extLst>
              <a:ext uri="{FF2B5EF4-FFF2-40B4-BE49-F238E27FC236}">
                <a16:creationId xmlns:a16="http://schemas.microsoft.com/office/drawing/2014/main" id="{3A763EF6-3E38-E2BA-C3D4-6A1FAEBF09FC}"/>
              </a:ext>
            </a:extLst>
          </p:cNvPr>
          <p:cNvPicPr>
            <a:picLocks noChangeAspect="1"/>
          </p:cNvPicPr>
          <p:nvPr/>
        </p:nvPicPr>
        <p:blipFill>
          <a:blip r:embed="rId3"/>
          <a:stretch>
            <a:fillRect/>
          </a:stretch>
        </p:blipFill>
        <p:spPr>
          <a:xfrm>
            <a:off x="887611" y="4419519"/>
            <a:ext cx="2841421" cy="1131949"/>
          </a:xfrm>
          <a:prstGeom prst="rect">
            <a:avLst/>
          </a:prstGeom>
        </p:spPr>
      </p:pic>
      <p:sp>
        <p:nvSpPr>
          <p:cNvPr id="11" name="TextBox 10">
            <a:extLst>
              <a:ext uri="{FF2B5EF4-FFF2-40B4-BE49-F238E27FC236}">
                <a16:creationId xmlns:a16="http://schemas.microsoft.com/office/drawing/2014/main" id="{859E55F7-2493-C7C6-B252-770FBE5CF89C}"/>
              </a:ext>
            </a:extLst>
          </p:cNvPr>
          <p:cNvSpPr txBox="1"/>
          <p:nvPr/>
        </p:nvSpPr>
        <p:spPr>
          <a:xfrm>
            <a:off x="5727989" y="3497517"/>
            <a:ext cx="609426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4. Column Names</a:t>
            </a:r>
          </a:p>
        </p:txBody>
      </p:sp>
      <p:pic>
        <p:nvPicPr>
          <p:cNvPr id="13" name="Picture 12">
            <a:extLst>
              <a:ext uri="{FF2B5EF4-FFF2-40B4-BE49-F238E27FC236}">
                <a16:creationId xmlns:a16="http://schemas.microsoft.com/office/drawing/2014/main" id="{90DAD5C2-D675-7222-64D8-636FFEDFE323}"/>
              </a:ext>
            </a:extLst>
          </p:cNvPr>
          <p:cNvPicPr>
            <a:picLocks noChangeAspect="1"/>
          </p:cNvPicPr>
          <p:nvPr/>
        </p:nvPicPr>
        <p:blipFill>
          <a:blip r:embed="rId4"/>
          <a:stretch>
            <a:fillRect/>
          </a:stretch>
        </p:blipFill>
        <p:spPr>
          <a:xfrm>
            <a:off x="5530546" y="4225989"/>
            <a:ext cx="6549594" cy="1210923"/>
          </a:xfrm>
          <a:prstGeom prst="rect">
            <a:avLst/>
          </a:prstGeom>
        </p:spPr>
      </p:pic>
      <p:sp>
        <p:nvSpPr>
          <p:cNvPr id="15" name="TextBox 14">
            <a:extLst>
              <a:ext uri="{FF2B5EF4-FFF2-40B4-BE49-F238E27FC236}">
                <a16:creationId xmlns:a16="http://schemas.microsoft.com/office/drawing/2014/main" id="{97E425E5-D441-67FB-812F-7EC8E5A879D7}"/>
              </a:ext>
            </a:extLst>
          </p:cNvPr>
          <p:cNvSpPr txBox="1"/>
          <p:nvPr/>
        </p:nvSpPr>
        <p:spPr>
          <a:xfrm>
            <a:off x="5353916" y="5823400"/>
            <a:ext cx="609426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"This tells us what information is available in our dataset."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7807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5F228A-FA87-B9A6-787A-37D3C02A630B}"/>
              </a:ext>
            </a:extLst>
          </p:cNvPr>
          <p:cNvSpPr txBox="1"/>
          <p:nvPr/>
        </p:nvSpPr>
        <p:spPr>
          <a:xfrm>
            <a:off x="719571" y="459570"/>
            <a:ext cx="609426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5. Data Types</a:t>
            </a:r>
          </a:p>
        </p:txBody>
      </p:sp>
      <p:pic>
        <p:nvPicPr>
          <p:cNvPr id="5" name="Picture 4">
            <a:extLst>
              <a:ext uri="{FF2B5EF4-FFF2-40B4-BE49-F238E27FC236}">
                <a16:creationId xmlns:a16="http://schemas.microsoft.com/office/drawing/2014/main" id="{220377C6-5ADA-56BA-BB55-8CB61943E8BF}"/>
              </a:ext>
            </a:extLst>
          </p:cNvPr>
          <p:cNvPicPr>
            <a:picLocks noChangeAspect="1"/>
          </p:cNvPicPr>
          <p:nvPr/>
        </p:nvPicPr>
        <p:blipFill>
          <a:blip r:embed="rId2"/>
          <a:stretch>
            <a:fillRect/>
          </a:stretch>
        </p:blipFill>
        <p:spPr>
          <a:xfrm>
            <a:off x="719571" y="1131839"/>
            <a:ext cx="2990859" cy="2504979"/>
          </a:xfrm>
          <a:prstGeom prst="rect">
            <a:avLst/>
          </a:prstGeom>
        </p:spPr>
      </p:pic>
      <p:sp>
        <p:nvSpPr>
          <p:cNvPr id="7" name="TextBox 6">
            <a:extLst>
              <a:ext uri="{FF2B5EF4-FFF2-40B4-BE49-F238E27FC236}">
                <a16:creationId xmlns:a16="http://schemas.microsoft.com/office/drawing/2014/main" id="{F35EFFA2-541E-D6A5-E120-CC6D67F18B0E}"/>
              </a:ext>
            </a:extLst>
          </p:cNvPr>
          <p:cNvSpPr txBox="1"/>
          <p:nvPr/>
        </p:nvSpPr>
        <p:spPr>
          <a:xfrm>
            <a:off x="2662671" y="626428"/>
            <a:ext cx="8933584"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"This tells us whether each column contains integers, decimal values, strings, dates, etc."</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85038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6FD69F-3991-AD2A-FF72-51FDB9529FCF}"/>
              </a:ext>
            </a:extLst>
          </p:cNvPr>
          <p:cNvSpPr txBox="1"/>
          <p:nvPr/>
        </p:nvSpPr>
        <p:spPr>
          <a:xfrm>
            <a:off x="488373" y="539556"/>
            <a:ext cx="11294918" cy="1015663"/>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Indexing</a:t>
            </a:r>
          </a:p>
          <a:p>
            <a:pPr>
              <a:buNone/>
            </a:pPr>
            <a:r>
              <a:rPr lang="en-US" sz="2000" b="1" dirty="0">
                <a:latin typeface="Times New Roman" panose="02020603050405020304" pitchFamily="18" charset="0"/>
                <a:cs typeface="Times New Roman" panose="02020603050405020304" pitchFamily="18" charset="0"/>
              </a:rPr>
              <a:t>Indexing means selecting specific rows, columns or values from a </a:t>
            </a:r>
            <a:r>
              <a:rPr lang="en-US" sz="2000" b="1" dirty="0" err="1">
                <a:latin typeface="Times New Roman" panose="02020603050405020304" pitchFamily="18" charset="0"/>
                <a:cs typeface="Times New Roman" panose="02020603050405020304" pitchFamily="18" charset="0"/>
              </a:rPr>
              <a:t>DataFrame</a:t>
            </a:r>
            <a:r>
              <a:rPr lang="en-US" sz="2000" b="1"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"Suppose the manager doesn't want the entire dataset. She only wants the Product Name column."</a:t>
            </a:r>
          </a:p>
        </p:txBody>
      </p:sp>
      <p:pic>
        <p:nvPicPr>
          <p:cNvPr id="5" name="Picture 4">
            <a:extLst>
              <a:ext uri="{FF2B5EF4-FFF2-40B4-BE49-F238E27FC236}">
                <a16:creationId xmlns:a16="http://schemas.microsoft.com/office/drawing/2014/main" id="{757CA698-051D-560B-05F5-53F09AB4E3B1}"/>
              </a:ext>
            </a:extLst>
          </p:cNvPr>
          <p:cNvPicPr>
            <a:picLocks noChangeAspect="1"/>
          </p:cNvPicPr>
          <p:nvPr/>
        </p:nvPicPr>
        <p:blipFill>
          <a:blip r:embed="rId2"/>
          <a:stretch>
            <a:fillRect/>
          </a:stretch>
        </p:blipFill>
        <p:spPr>
          <a:xfrm>
            <a:off x="488373" y="2940214"/>
            <a:ext cx="4793152" cy="3387886"/>
          </a:xfrm>
          <a:prstGeom prst="rect">
            <a:avLst/>
          </a:prstGeom>
        </p:spPr>
      </p:pic>
      <p:sp>
        <p:nvSpPr>
          <p:cNvPr id="7" name="TextBox 6">
            <a:extLst>
              <a:ext uri="{FF2B5EF4-FFF2-40B4-BE49-F238E27FC236}">
                <a16:creationId xmlns:a16="http://schemas.microsoft.com/office/drawing/2014/main" id="{8AB79D3C-63AE-8224-AA27-B75D6EF902BA}"/>
              </a:ext>
            </a:extLst>
          </p:cNvPr>
          <p:cNvSpPr txBox="1"/>
          <p:nvPr/>
        </p:nvSpPr>
        <p:spPr>
          <a:xfrm>
            <a:off x="488373" y="2178674"/>
            <a:ext cx="6094268" cy="369332"/>
          </a:xfrm>
          <a:prstGeom prst="rect">
            <a:avLst/>
          </a:prstGeom>
          <a:noFill/>
        </p:spPr>
        <p:txBody>
          <a:bodyPr wrap="square">
            <a:spAutoFit/>
          </a:bodyPr>
          <a:lstStyle/>
          <a:p>
            <a:r>
              <a:rPr lang="en-IN" b="1" dirty="0"/>
              <a:t>Column Indexing</a:t>
            </a:r>
          </a:p>
        </p:txBody>
      </p:sp>
      <p:pic>
        <p:nvPicPr>
          <p:cNvPr id="9" name="Picture 8">
            <a:extLst>
              <a:ext uri="{FF2B5EF4-FFF2-40B4-BE49-F238E27FC236}">
                <a16:creationId xmlns:a16="http://schemas.microsoft.com/office/drawing/2014/main" id="{453C92A8-5075-E629-CC5D-DA4B440B9370}"/>
              </a:ext>
            </a:extLst>
          </p:cNvPr>
          <p:cNvPicPr>
            <a:picLocks noChangeAspect="1"/>
          </p:cNvPicPr>
          <p:nvPr/>
        </p:nvPicPr>
        <p:blipFill>
          <a:blip r:embed="rId3"/>
          <a:stretch>
            <a:fillRect/>
          </a:stretch>
        </p:blipFill>
        <p:spPr>
          <a:xfrm>
            <a:off x="7377296" y="3171461"/>
            <a:ext cx="4405995" cy="3514667"/>
          </a:xfrm>
          <a:prstGeom prst="rect">
            <a:avLst/>
          </a:prstGeom>
        </p:spPr>
      </p:pic>
      <p:sp>
        <p:nvSpPr>
          <p:cNvPr id="11" name="TextBox 10">
            <a:extLst>
              <a:ext uri="{FF2B5EF4-FFF2-40B4-BE49-F238E27FC236}">
                <a16:creationId xmlns:a16="http://schemas.microsoft.com/office/drawing/2014/main" id="{70B04587-912A-0174-FD83-0455DBC63BCF}"/>
              </a:ext>
            </a:extLst>
          </p:cNvPr>
          <p:cNvSpPr txBox="1"/>
          <p:nvPr/>
        </p:nvSpPr>
        <p:spPr>
          <a:xfrm>
            <a:off x="5550333" y="2178674"/>
            <a:ext cx="6094268" cy="369332"/>
          </a:xfrm>
          <a:prstGeom prst="rect">
            <a:avLst/>
          </a:prstGeom>
          <a:noFill/>
        </p:spPr>
        <p:txBody>
          <a:bodyPr wrap="square">
            <a:spAutoFit/>
          </a:bodyPr>
          <a:lstStyle/>
          <a:p>
            <a:r>
              <a:rPr lang="en-IN" b="1" dirty="0"/>
              <a:t>Multiple Columns</a:t>
            </a:r>
          </a:p>
        </p:txBody>
      </p:sp>
      <p:sp>
        <p:nvSpPr>
          <p:cNvPr id="13" name="TextBox 12">
            <a:extLst>
              <a:ext uri="{FF2B5EF4-FFF2-40B4-BE49-F238E27FC236}">
                <a16:creationId xmlns:a16="http://schemas.microsoft.com/office/drawing/2014/main" id="{2CCA7B3B-164D-A9D8-60F4-4CF957082ACB}"/>
              </a:ext>
            </a:extLst>
          </p:cNvPr>
          <p:cNvSpPr txBox="1"/>
          <p:nvPr/>
        </p:nvSpPr>
        <p:spPr>
          <a:xfrm>
            <a:off x="5281525" y="2536568"/>
            <a:ext cx="6094268"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We can select more than one column by giving the column names inside a list."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43410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2039C6-5895-69F5-F179-A88BBBE6CDDA}"/>
              </a:ext>
            </a:extLst>
          </p:cNvPr>
          <p:cNvPicPr>
            <a:picLocks noChangeAspect="1"/>
          </p:cNvPicPr>
          <p:nvPr/>
        </p:nvPicPr>
        <p:blipFill>
          <a:blip r:embed="rId2"/>
          <a:stretch>
            <a:fillRect/>
          </a:stretch>
        </p:blipFill>
        <p:spPr>
          <a:xfrm>
            <a:off x="696191" y="755605"/>
            <a:ext cx="3460968" cy="2362777"/>
          </a:xfrm>
          <a:prstGeom prst="rect">
            <a:avLst/>
          </a:prstGeom>
        </p:spPr>
      </p:pic>
      <p:sp>
        <p:nvSpPr>
          <p:cNvPr id="5" name="TextBox 4">
            <a:extLst>
              <a:ext uri="{FF2B5EF4-FFF2-40B4-BE49-F238E27FC236}">
                <a16:creationId xmlns:a16="http://schemas.microsoft.com/office/drawing/2014/main" id="{421AAF83-56D4-9D64-9D3C-59F5C2C29AAD}"/>
              </a:ext>
            </a:extLst>
          </p:cNvPr>
          <p:cNvSpPr txBox="1"/>
          <p:nvPr/>
        </p:nvSpPr>
        <p:spPr>
          <a:xfrm>
            <a:off x="696191" y="199798"/>
            <a:ext cx="6094268" cy="369332"/>
          </a:xfrm>
          <a:prstGeom prst="rect">
            <a:avLst/>
          </a:prstGeom>
          <a:noFill/>
        </p:spPr>
        <p:txBody>
          <a:bodyPr wrap="square">
            <a:spAutoFit/>
          </a:bodyPr>
          <a:lstStyle/>
          <a:p>
            <a:r>
              <a:rPr lang="en-IN" b="1" dirty="0"/>
              <a:t>Row Indexing</a:t>
            </a:r>
          </a:p>
        </p:txBody>
      </p:sp>
      <p:sp>
        <p:nvSpPr>
          <p:cNvPr id="7" name="TextBox 6">
            <a:extLst>
              <a:ext uri="{FF2B5EF4-FFF2-40B4-BE49-F238E27FC236}">
                <a16:creationId xmlns:a16="http://schemas.microsoft.com/office/drawing/2014/main" id="{2B1F5104-BFB9-848E-4A5E-0DDDAA79EA0D}"/>
              </a:ext>
            </a:extLst>
          </p:cNvPr>
          <p:cNvSpPr txBox="1"/>
          <p:nvPr/>
        </p:nvSpPr>
        <p:spPr>
          <a:xfrm>
            <a:off x="4626552" y="947943"/>
            <a:ext cx="6094268"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iloc</a:t>
            </a:r>
            <a:r>
              <a:rPr lang="en-US" sz="2000" dirty="0">
                <a:latin typeface="Times New Roman" panose="02020603050405020304" pitchFamily="18" charset="0"/>
                <a:cs typeface="Times New Roman" panose="02020603050405020304" pitchFamily="18" charset="0"/>
              </a:rPr>
              <a:t> selects data based on its numerical position."</a:t>
            </a:r>
            <a:endParaRPr lang="en-IN"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9A6D99AE-3721-CDA0-2307-058249BC47A9}"/>
              </a:ext>
            </a:extLst>
          </p:cNvPr>
          <p:cNvPicPr>
            <a:picLocks noChangeAspect="1"/>
          </p:cNvPicPr>
          <p:nvPr/>
        </p:nvPicPr>
        <p:blipFill>
          <a:blip r:embed="rId3"/>
          <a:stretch>
            <a:fillRect/>
          </a:stretch>
        </p:blipFill>
        <p:spPr>
          <a:xfrm>
            <a:off x="801727" y="4056926"/>
            <a:ext cx="4169698" cy="1284002"/>
          </a:xfrm>
          <a:prstGeom prst="rect">
            <a:avLst/>
          </a:prstGeom>
        </p:spPr>
      </p:pic>
      <p:sp>
        <p:nvSpPr>
          <p:cNvPr id="11" name="TextBox 10">
            <a:extLst>
              <a:ext uri="{FF2B5EF4-FFF2-40B4-BE49-F238E27FC236}">
                <a16:creationId xmlns:a16="http://schemas.microsoft.com/office/drawing/2014/main" id="{6D12B6F1-B45D-8733-4A4A-3F0EA82C7706}"/>
              </a:ext>
            </a:extLst>
          </p:cNvPr>
          <p:cNvSpPr txBox="1"/>
          <p:nvPr/>
        </p:nvSpPr>
        <p:spPr>
          <a:xfrm>
            <a:off x="801727" y="3554953"/>
            <a:ext cx="6094268" cy="369332"/>
          </a:xfrm>
          <a:prstGeom prst="rect">
            <a:avLst/>
          </a:prstGeom>
          <a:noFill/>
        </p:spPr>
        <p:txBody>
          <a:bodyPr wrap="square">
            <a:spAutoFit/>
          </a:bodyPr>
          <a:lstStyle/>
          <a:p>
            <a:r>
              <a:rPr lang="en-IN" b="1" dirty="0"/>
              <a:t>Specific Value</a:t>
            </a:r>
          </a:p>
        </p:txBody>
      </p:sp>
      <p:sp>
        <p:nvSpPr>
          <p:cNvPr id="13" name="TextBox 12">
            <a:extLst>
              <a:ext uri="{FF2B5EF4-FFF2-40B4-BE49-F238E27FC236}">
                <a16:creationId xmlns:a16="http://schemas.microsoft.com/office/drawing/2014/main" id="{B7153BC6-8759-1A5D-C2C0-031CCA1EC36E}"/>
              </a:ext>
            </a:extLst>
          </p:cNvPr>
          <p:cNvSpPr txBox="1"/>
          <p:nvPr/>
        </p:nvSpPr>
        <p:spPr>
          <a:xfrm>
            <a:off x="4709678" y="3601119"/>
            <a:ext cx="6928139"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"This gives the value located at that row and column position."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30417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8CEAF3-230C-B7F6-0F4D-65FAB9638CE1}"/>
              </a:ext>
            </a:extLst>
          </p:cNvPr>
          <p:cNvPicPr>
            <a:picLocks noChangeAspect="1"/>
          </p:cNvPicPr>
          <p:nvPr/>
        </p:nvPicPr>
        <p:blipFill>
          <a:blip r:embed="rId2"/>
          <a:stretch>
            <a:fillRect/>
          </a:stretch>
        </p:blipFill>
        <p:spPr>
          <a:xfrm>
            <a:off x="627175" y="597297"/>
            <a:ext cx="8453743" cy="4720083"/>
          </a:xfrm>
          <a:prstGeom prst="rect">
            <a:avLst/>
          </a:prstGeom>
        </p:spPr>
      </p:pic>
      <p:sp>
        <p:nvSpPr>
          <p:cNvPr id="5" name="TextBox 4">
            <a:extLst>
              <a:ext uri="{FF2B5EF4-FFF2-40B4-BE49-F238E27FC236}">
                <a16:creationId xmlns:a16="http://schemas.microsoft.com/office/drawing/2014/main" id="{30406FA9-F08A-6E16-6E67-29120AAD4D85}"/>
              </a:ext>
            </a:extLst>
          </p:cNvPr>
          <p:cNvSpPr txBox="1"/>
          <p:nvPr/>
        </p:nvSpPr>
        <p:spPr>
          <a:xfrm>
            <a:off x="627174" y="197187"/>
            <a:ext cx="10117025" cy="400110"/>
          </a:xfrm>
          <a:prstGeom prst="rect">
            <a:avLst/>
          </a:prstGeom>
          <a:noFill/>
        </p:spPr>
        <p:txBody>
          <a:bodyPr wrap="square">
            <a:spAutoFit/>
          </a:bodyPr>
          <a:lstStyle/>
          <a:p>
            <a:r>
              <a:rPr lang="en-IN" sz="2000" b="1" dirty="0">
                <a:solidFill>
                  <a:srgbClr val="FF0000"/>
                </a:solidFill>
                <a:latin typeface="Times New Roman" panose="02020603050405020304" pitchFamily="18" charset="0"/>
                <a:cs typeface="Times New Roman" panose="02020603050405020304" pitchFamily="18" charset="0"/>
              </a:rPr>
              <a:t>Slicing </a:t>
            </a:r>
            <a:r>
              <a:rPr lang="en-IN" sz="2000" b="1" dirty="0">
                <a:latin typeface="Times New Roman" panose="02020603050405020304" pitchFamily="18" charset="0"/>
                <a:cs typeface="Times New Roman" panose="02020603050405020304" pitchFamily="18" charset="0"/>
              </a:rPr>
              <a:t>( when you want to extract a group of elements) </a:t>
            </a:r>
            <a:r>
              <a:rPr lang="en-IN" sz="2000" b="1" dirty="0">
                <a:solidFill>
                  <a:srgbClr val="FF0000"/>
                </a:solidFill>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7F1B97D0-5270-122A-E6EA-5938DF40C6F0}"/>
              </a:ext>
            </a:extLst>
          </p:cNvPr>
          <p:cNvPicPr>
            <a:picLocks noChangeAspect="1"/>
          </p:cNvPicPr>
          <p:nvPr/>
        </p:nvPicPr>
        <p:blipFill>
          <a:blip r:embed="rId3"/>
          <a:stretch>
            <a:fillRect/>
          </a:stretch>
        </p:blipFill>
        <p:spPr>
          <a:xfrm>
            <a:off x="3379603" y="5317380"/>
            <a:ext cx="5829367" cy="1271201"/>
          </a:xfrm>
          <a:prstGeom prst="rect">
            <a:avLst/>
          </a:prstGeom>
        </p:spPr>
      </p:pic>
    </p:spTree>
    <p:extLst>
      <p:ext uri="{BB962C8B-B14F-4D97-AF65-F5344CB8AC3E}">
        <p14:creationId xmlns:p14="http://schemas.microsoft.com/office/powerpoint/2010/main" val="3307110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8A17D4-95C5-4491-0B61-C51334C86F9C}"/>
              </a:ext>
            </a:extLst>
          </p:cNvPr>
          <p:cNvSpPr txBox="1"/>
          <p:nvPr/>
        </p:nvSpPr>
        <p:spPr>
          <a:xfrm>
            <a:off x="374072" y="106557"/>
            <a:ext cx="11066319" cy="1323439"/>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Filtering</a:t>
            </a:r>
          </a:p>
          <a:p>
            <a:pPr>
              <a:buNone/>
            </a:pPr>
            <a:r>
              <a:rPr lang="en-US" sz="2000" b="1" dirty="0">
                <a:latin typeface="Times New Roman" panose="02020603050405020304" pitchFamily="18" charset="0"/>
                <a:cs typeface="Times New Roman" panose="02020603050405020304" pitchFamily="18" charset="0"/>
              </a:rPr>
              <a:t>"The manager wants to see only the transactions where sales are greater than ₹10,000."</a:t>
            </a:r>
            <a:endParaRPr lang="en-US" sz="2000" dirty="0">
              <a:latin typeface="Times New Roman" panose="02020603050405020304" pitchFamily="18" charset="0"/>
              <a:cs typeface="Times New Roman" panose="02020603050405020304" pitchFamily="18" charset="0"/>
            </a:endParaRP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Filtering means selecting only the rows that satisfy a particular condition.</a:t>
            </a: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171F9D6-B85C-A426-707B-E33BD05357C9}"/>
              </a:ext>
            </a:extLst>
          </p:cNvPr>
          <p:cNvPicPr>
            <a:picLocks noChangeAspect="1"/>
          </p:cNvPicPr>
          <p:nvPr/>
        </p:nvPicPr>
        <p:blipFill>
          <a:blip r:embed="rId2"/>
          <a:stretch>
            <a:fillRect/>
          </a:stretch>
        </p:blipFill>
        <p:spPr>
          <a:xfrm>
            <a:off x="3156505" y="1429996"/>
            <a:ext cx="6683686" cy="5261439"/>
          </a:xfrm>
          <a:prstGeom prst="rect">
            <a:avLst/>
          </a:prstGeom>
        </p:spPr>
      </p:pic>
      <p:pic>
        <p:nvPicPr>
          <p:cNvPr id="7" name="Picture 6">
            <a:extLst>
              <a:ext uri="{FF2B5EF4-FFF2-40B4-BE49-F238E27FC236}">
                <a16:creationId xmlns:a16="http://schemas.microsoft.com/office/drawing/2014/main" id="{A793F3D6-80EC-CF13-BBC9-35F59A1F5AE5}"/>
              </a:ext>
            </a:extLst>
          </p:cNvPr>
          <p:cNvPicPr>
            <a:picLocks noChangeAspect="1"/>
          </p:cNvPicPr>
          <p:nvPr/>
        </p:nvPicPr>
        <p:blipFill>
          <a:blip r:embed="rId3"/>
          <a:stretch>
            <a:fillRect/>
          </a:stretch>
        </p:blipFill>
        <p:spPr>
          <a:xfrm>
            <a:off x="374072" y="2605168"/>
            <a:ext cx="2782433" cy="1660765"/>
          </a:xfrm>
          <a:prstGeom prst="rect">
            <a:avLst/>
          </a:prstGeom>
        </p:spPr>
      </p:pic>
    </p:spTree>
    <p:extLst>
      <p:ext uri="{BB962C8B-B14F-4D97-AF65-F5344CB8AC3E}">
        <p14:creationId xmlns:p14="http://schemas.microsoft.com/office/powerpoint/2010/main" val="29153067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8EB528-CC9D-BB3F-013E-E8B2FC82A91D}"/>
              </a:ext>
            </a:extLst>
          </p:cNvPr>
          <p:cNvSpPr txBox="1"/>
          <p:nvPr/>
        </p:nvSpPr>
        <p:spPr>
          <a:xfrm>
            <a:off x="1114425" y="660554"/>
            <a:ext cx="8912802" cy="70788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Multiple Conditions</a:t>
            </a:r>
          </a:p>
          <a:p>
            <a:pPr>
              <a:buNone/>
            </a:pPr>
            <a:r>
              <a:rPr lang="en-US" sz="2000" dirty="0">
                <a:latin typeface="Times New Roman" panose="02020603050405020304" pitchFamily="18" charset="0"/>
                <a:cs typeface="Times New Roman" panose="02020603050405020304" pitchFamily="18" charset="0"/>
              </a:rPr>
              <a:t>"Show North region transactions where sales are greater than ₹10,000."</a:t>
            </a:r>
          </a:p>
        </p:txBody>
      </p:sp>
      <p:pic>
        <p:nvPicPr>
          <p:cNvPr id="5" name="Picture 4">
            <a:extLst>
              <a:ext uri="{FF2B5EF4-FFF2-40B4-BE49-F238E27FC236}">
                <a16:creationId xmlns:a16="http://schemas.microsoft.com/office/drawing/2014/main" id="{A1F1D293-36CC-EB29-F88B-505B217B26CC}"/>
              </a:ext>
            </a:extLst>
          </p:cNvPr>
          <p:cNvPicPr>
            <a:picLocks noChangeAspect="1"/>
          </p:cNvPicPr>
          <p:nvPr/>
        </p:nvPicPr>
        <p:blipFill>
          <a:blip r:embed="rId2"/>
          <a:stretch>
            <a:fillRect/>
          </a:stretch>
        </p:blipFill>
        <p:spPr>
          <a:xfrm>
            <a:off x="1559775" y="1764325"/>
            <a:ext cx="7960562" cy="3329350"/>
          </a:xfrm>
          <a:prstGeom prst="rect">
            <a:avLst/>
          </a:prstGeom>
        </p:spPr>
      </p:pic>
    </p:spTree>
    <p:extLst>
      <p:ext uri="{BB962C8B-B14F-4D97-AF65-F5344CB8AC3E}">
        <p14:creationId xmlns:p14="http://schemas.microsoft.com/office/powerpoint/2010/main" val="11950128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D39971-4403-FDA1-2C76-17AA9034325D}"/>
              </a:ext>
            </a:extLst>
          </p:cNvPr>
          <p:cNvSpPr txBox="1"/>
          <p:nvPr/>
        </p:nvSpPr>
        <p:spPr>
          <a:xfrm>
            <a:off x="519545" y="353291"/>
            <a:ext cx="11294919" cy="3539430"/>
          </a:xfrm>
          <a:prstGeom prst="rect">
            <a:avLst/>
          </a:prstGeom>
          <a:noFill/>
        </p:spPr>
        <p:txBody>
          <a:bodyPr wrap="square">
            <a:spAutoFit/>
          </a:bodyPr>
          <a:lstStyle/>
          <a:p>
            <a:pPr>
              <a:buNone/>
            </a:pPr>
            <a:r>
              <a:rPr lang="en-US" sz="2200" b="1" dirty="0">
                <a:solidFill>
                  <a:srgbClr val="FF0000"/>
                </a:solidFill>
                <a:latin typeface="Times New Roman" panose="02020603050405020304" pitchFamily="18" charset="0"/>
                <a:cs typeface="Times New Roman" panose="02020603050405020304" pitchFamily="18" charset="0"/>
              </a:rPr>
              <a:t>Exploratory Data Analysis</a:t>
            </a:r>
          </a:p>
          <a:p>
            <a:pPr>
              <a:buNone/>
            </a:pPr>
            <a:endParaRPr lang="en-US" sz="2200" b="1" dirty="0">
              <a:solidFill>
                <a:srgbClr val="FF0000"/>
              </a:solidFill>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"Exploratory Data Analysis, or EDA, means examining and understanding the dataset before performing further analysis.“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EDA helps us: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Understand the data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Find patterns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Find missing values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Find duplicate records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Understand numerical values </a:t>
            </a:r>
          </a:p>
        </p:txBody>
      </p:sp>
    </p:spTree>
    <p:extLst>
      <p:ext uri="{BB962C8B-B14F-4D97-AF65-F5344CB8AC3E}">
        <p14:creationId xmlns:p14="http://schemas.microsoft.com/office/powerpoint/2010/main" val="24113134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817131-D2A5-C2FB-9247-04F342282123}"/>
              </a:ext>
            </a:extLst>
          </p:cNvPr>
          <p:cNvSpPr txBox="1"/>
          <p:nvPr/>
        </p:nvSpPr>
        <p:spPr>
          <a:xfrm>
            <a:off x="665019" y="429089"/>
            <a:ext cx="10661072" cy="5509200"/>
          </a:xfrm>
          <a:prstGeom prst="rect">
            <a:avLst/>
          </a:prstGeom>
          <a:noFill/>
        </p:spPr>
        <p:txBody>
          <a:bodyPr wrap="square">
            <a:spAutoFit/>
          </a:bodyPr>
          <a:lstStyle/>
          <a:p>
            <a:pPr>
              <a:buNone/>
            </a:pPr>
            <a:r>
              <a:rPr lang="en-US" sz="2200" b="1" dirty="0">
                <a:solidFill>
                  <a:srgbClr val="FF0000"/>
                </a:solidFill>
                <a:latin typeface="Times New Roman" panose="02020603050405020304" pitchFamily="18" charset="0"/>
                <a:cs typeface="Times New Roman" panose="02020603050405020304" pitchFamily="18" charset="0"/>
              </a:rPr>
              <a:t>Descriptive Statistics</a:t>
            </a:r>
          </a:p>
          <a:p>
            <a:pPr>
              <a:buNone/>
            </a:pPr>
            <a:r>
              <a:rPr lang="en-US" sz="2200" dirty="0">
                <a:latin typeface="Times New Roman" panose="02020603050405020304" pitchFamily="18" charset="0"/>
                <a:cs typeface="Times New Roman" panose="02020603050405020304" pitchFamily="18" charset="0"/>
              </a:rPr>
              <a:t>describe() gives statistical information such as:</a:t>
            </a:r>
          </a:p>
          <a:p>
            <a:pPr>
              <a:buNone/>
            </a:pPr>
            <a:endParaRPr lang="en-US" sz="2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Count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Mean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Standard deviation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Minimum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25%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50%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75% </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Maximum </a:t>
            </a:r>
          </a:p>
          <a:p>
            <a:endParaRPr lang="en-US" sz="2200" dirty="0">
              <a:latin typeface="Times New Roman" panose="02020603050405020304" pitchFamily="18" charset="0"/>
              <a:cs typeface="Times New Roman" panose="02020603050405020304" pitchFamily="18" charset="0"/>
            </a:endParaRPr>
          </a:p>
          <a:p>
            <a:pPr>
              <a:buNone/>
            </a:pPr>
            <a:endParaRPr lang="en-US" sz="2200" dirty="0">
              <a:latin typeface="Times New Roman" panose="02020603050405020304" pitchFamily="18" charset="0"/>
              <a:cs typeface="Times New Roman" panose="02020603050405020304" pitchFamily="18" charset="0"/>
            </a:endParaRPr>
          </a:p>
          <a:p>
            <a:pPr>
              <a:buNone/>
            </a:pPr>
            <a:endParaRPr lang="en-US" sz="2200" dirty="0">
              <a:latin typeface="Times New Roman" panose="02020603050405020304" pitchFamily="18" charset="0"/>
              <a:cs typeface="Times New Roman" panose="02020603050405020304" pitchFamily="18" charset="0"/>
            </a:endParaRPr>
          </a:p>
          <a:p>
            <a:pPr>
              <a:buNone/>
            </a:pPr>
            <a:r>
              <a:rPr lang="en-US" sz="2200" dirty="0">
                <a:latin typeface="Times New Roman" panose="02020603050405020304" pitchFamily="18" charset="0"/>
                <a:cs typeface="Times New Roman" panose="02020603050405020304" pitchFamily="18" charset="0"/>
              </a:rPr>
              <a:t>"This helps us understand the distribution of numerical columns such as Quantity, Sales and Profit."</a:t>
            </a:r>
          </a:p>
        </p:txBody>
      </p:sp>
      <p:pic>
        <p:nvPicPr>
          <p:cNvPr id="5" name="Picture 4">
            <a:extLst>
              <a:ext uri="{FF2B5EF4-FFF2-40B4-BE49-F238E27FC236}">
                <a16:creationId xmlns:a16="http://schemas.microsoft.com/office/drawing/2014/main" id="{F1E57723-3856-E7EF-0E2D-0518827B83F4}"/>
              </a:ext>
            </a:extLst>
          </p:cNvPr>
          <p:cNvPicPr>
            <a:picLocks noChangeAspect="1"/>
          </p:cNvPicPr>
          <p:nvPr/>
        </p:nvPicPr>
        <p:blipFill>
          <a:blip r:embed="rId2"/>
          <a:stretch>
            <a:fillRect/>
          </a:stretch>
        </p:blipFill>
        <p:spPr>
          <a:xfrm>
            <a:off x="6038016" y="1284720"/>
            <a:ext cx="5288075" cy="3120830"/>
          </a:xfrm>
          <a:prstGeom prst="rect">
            <a:avLst/>
          </a:prstGeom>
        </p:spPr>
      </p:pic>
    </p:spTree>
    <p:extLst>
      <p:ext uri="{BB962C8B-B14F-4D97-AF65-F5344CB8AC3E}">
        <p14:creationId xmlns:p14="http://schemas.microsoft.com/office/powerpoint/2010/main" val="1052804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ABE38F-77AE-5B90-28F8-B2BE2395292F}"/>
              </a:ext>
            </a:extLst>
          </p:cNvPr>
          <p:cNvSpPr txBox="1"/>
          <p:nvPr/>
        </p:nvSpPr>
        <p:spPr>
          <a:xfrm>
            <a:off x="238992" y="418283"/>
            <a:ext cx="8175047" cy="1323439"/>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Missing Values</a:t>
            </a:r>
          </a:p>
          <a:p>
            <a:pPr>
              <a:buNone/>
            </a:pPr>
            <a:endParaRPr lang="en-US" sz="2000" b="1" dirty="0">
              <a:solidFill>
                <a:srgbClr val="FF0000"/>
              </a:solidFill>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isnull</a:t>
            </a:r>
            <a:r>
              <a:rPr lang="en-US" sz="2000" dirty="0">
                <a:latin typeface="Times New Roman" panose="02020603050405020304" pitchFamily="18" charset="0"/>
                <a:cs typeface="Times New Roman" panose="02020603050405020304" pitchFamily="18" charset="0"/>
              </a:rPr>
              <a:t>() checks whether a value is missing."</a:t>
            </a:r>
          </a:p>
          <a:p>
            <a:pPr>
              <a:buNone/>
            </a:pPr>
            <a:r>
              <a:rPr lang="en-US" sz="2000" dirty="0">
                <a:latin typeface="Times New Roman" panose="02020603050405020304" pitchFamily="18" charset="0"/>
                <a:cs typeface="Times New Roman" panose="02020603050405020304" pitchFamily="18" charset="0"/>
              </a:rPr>
              <a:t>"sum() counts how many missing values are present in each column."</a:t>
            </a:r>
          </a:p>
        </p:txBody>
      </p:sp>
      <p:pic>
        <p:nvPicPr>
          <p:cNvPr id="5" name="Picture 4">
            <a:extLst>
              <a:ext uri="{FF2B5EF4-FFF2-40B4-BE49-F238E27FC236}">
                <a16:creationId xmlns:a16="http://schemas.microsoft.com/office/drawing/2014/main" id="{BD40A464-98FE-3966-F54F-24CD76579809}"/>
              </a:ext>
            </a:extLst>
          </p:cNvPr>
          <p:cNvPicPr>
            <a:picLocks noChangeAspect="1"/>
          </p:cNvPicPr>
          <p:nvPr/>
        </p:nvPicPr>
        <p:blipFill>
          <a:blip r:embed="rId2"/>
          <a:stretch>
            <a:fillRect/>
          </a:stretch>
        </p:blipFill>
        <p:spPr>
          <a:xfrm>
            <a:off x="7907988" y="540474"/>
            <a:ext cx="3955832" cy="2402495"/>
          </a:xfrm>
          <a:prstGeom prst="rect">
            <a:avLst/>
          </a:prstGeom>
        </p:spPr>
      </p:pic>
      <p:sp>
        <p:nvSpPr>
          <p:cNvPr id="7" name="TextBox 6">
            <a:extLst>
              <a:ext uri="{FF2B5EF4-FFF2-40B4-BE49-F238E27FC236}">
                <a16:creationId xmlns:a16="http://schemas.microsoft.com/office/drawing/2014/main" id="{1BA3C5F5-18E0-C8AC-3E25-70F1220BA0D3}"/>
              </a:ext>
            </a:extLst>
          </p:cNvPr>
          <p:cNvSpPr txBox="1"/>
          <p:nvPr/>
        </p:nvSpPr>
        <p:spPr>
          <a:xfrm>
            <a:off x="532533" y="2942969"/>
            <a:ext cx="7780193" cy="677108"/>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Display Rows With Missing Values</a:t>
            </a:r>
          </a:p>
          <a:p>
            <a:pPr>
              <a:buNone/>
            </a:pPr>
            <a:r>
              <a:rPr lang="en-US" dirty="0">
                <a:latin typeface="Times New Roman" panose="02020603050405020304" pitchFamily="18" charset="0"/>
                <a:cs typeface="Times New Roman" panose="02020603050405020304" pitchFamily="18" charset="0"/>
              </a:rPr>
              <a:t>"This shows the complete records where at least one value is missing."</a:t>
            </a:r>
          </a:p>
        </p:txBody>
      </p:sp>
      <p:pic>
        <p:nvPicPr>
          <p:cNvPr id="9" name="Picture 8">
            <a:extLst>
              <a:ext uri="{FF2B5EF4-FFF2-40B4-BE49-F238E27FC236}">
                <a16:creationId xmlns:a16="http://schemas.microsoft.com/office/drawing/2014/main" id="{10C76777-E993-D4CC-9BFE-57C6B9DE83AB}"/>
              </a:ext>
            </a:extLst>
          </p:cNvPr>
          <p:cNvPicPr>
            <a:picLocks noChangeAspect="1"/>
          </p:cNvPicPr>
          <p:nvPr/>
        </p:nvPicPr>
        <p:blipFill>
          <a:blip r:embed="rId3"/>
          <a:stretch>
            <a:fillRect/>
          </a:stretch>
        </p:blipFill>
        <p:spPr>
          <a:xfrm>
            <a:off x="691439" y="4144216"/>
            <a:ext cx="8066790" cy="1499801"/>
          </a:xfrm>
          <a:prstGeom prst="rect">
            <a:avLst/>
          </a:prstGeom>
        </p:spPr>
      </p:pic>
    </p:spTree>
    <p:extLst>
      <p:ext uri="{BB962C8B-B14F-4D97-AF65-F5344CB8AC3E}">
        <p14:creationId xmlns:p14="http://schemas.microsoft.com/office/powerpoint/2010/main" val="6739551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59AC66-4CC1-0A6C-EA1A-27D34B729FB5}"/>
              </a:ext>
            </a:extLst>
          </p:cNvPr>
          <p:cNvPicPr>
            <a:picLocks noChangeAspect="1"/>
          </p:cNvPicPr>
          <p:nvPr/>
        </p:nvPicPr>
        <p:blipFill>
          <a:blip r:embed="rId2"/>
          <a:stretch>
            <a:fillRect/>
          </a:stretch>
        </p:blipFill>
        <p:spPr>
          <a:xfrm>
            <a:off x="989734" y="1725502"/>
            <a:ext cx="8127813" cy="2867280"/>
          </a:xfrm>
          <a:prstGeom prst="rect">
            <a:avLst/>
          </a:prstGeom>
        </p:spPr>
      </p:pic>
      <p:sp>
        <p:nvSpPr>
          <p:cNvPr id="5" name="TextBox 4">
            <a:extLst>
              <a:ext uri="{FF2B5EF4-FFF2-40B4-BE49-F238E27FC236}">
                <a16:creationId xmlns:a16="http://schemas.microsoft.com/office/drawing/2014/main" id="{61B468C9-AF39-5C93-39B5-D771A22C9A0C}"/>
              </a:ext>
            </a:extLst>
          </p:cNvPr>
          <p:cNvSpPr txBox="1"/>
          <p:nvPr/>
        </p:nvSpPr>
        <p:spPr>
          <a:xfrm>
            <a:off x="989734" y="968725"/>
            <a:ext cx="6094268" cy="430887"/>
          </a:xfrm>
          <a:prstGeom prst="rect">
            <a:avLst/>
          </a:prstGeom>
          <a:noFill/>
        </p:spPr>
        <p:txBody>
          <a:bodyPr wrap="square">
            <a:spAutoFit/>
          </a:bodyPr>
          <a:lstStyle/>
          <a:p>
            <a:r>
              <a:rPr lang="en-IN" sz="2200" b="1" dirty="0">
                <a:solidFill>
                  <a:srgbClr val="FF0000"/>
                </a:solidFill>
                <a:latin typeface="Times New Roman" panose="02020603050405020304" pitchFamily="18" charset="0"/>
                <a:cs typeface="Times New Roman" panose="02020603050405020304" pitchFamily="18" charset="0"/>
              </a:rPr>
              <a:t>Duplicate Records</a:t>
            </a:r>
          </a:p>
        </p:txBody>
      </p:sp>
      <p:sp>
        <p:nvSpPr>
          <p:cNvPr id="7" name="TextBox 6">
            <a:extLst>
              <a:ext uri="{FF2B5EF4-FFF2-40B4-BE49-F238E27FC236}">
                <a16:creationId xmlns:a16="http://schemas.microsoft.com/office/drawing/2014/main" id="{9749AFDF-F347-0622-8682-DEBFBDED2732}"/>
              </a:ext>
            </a:extLst>
          </p:cNvPr>
          <p:cNvSpPr txBox="1"/>
          <p:nvPr/>
        </p:nvSpPr>
        <p:spPr>
          <a:xfrm>
            <a:off x="5107998" y="1955862"/>
            <a:ext cx="6094268"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"duplicated() identifies repeated rows."</a:t>
            </a:r>
          </a:p>
        </p:txBody>
      </p:sp>
      <p:sp>
        <p:nvSpPr>
          <p:cNvPr id="9" name="TextBox 8">
            <a:extLst>
              <a:ext uri="{FF2B5EF4-FFF2-40B4-BE49-F238E27FC236}">
                <a16:creationId xmlns:a16="http://schemas.microsoft.com/office/drawing/2014/main" id="{B8A5DA2D-87B9-1B6B-B62F-32100D7CD7E6}"/>
              </a:ext>
            </a:extLst>
          </p:cNvPr>
          <p:cNvSpPr txBox="1"/>
          <p:nvPr/>
        </p:nvSpPr>
        <p:spPr>
          <a:xfrm>
            <a:off x="5457825" y="3429000"/>
            <a:ext cx="609426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This displays the actual duplicate records.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66999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FDF62D-2562-8D8B-0A30-8225AB839BE9}"/>
              </a:ext>
            </a:extLst>
          </p:cNvPr>
          <p:cNvSpPr txBox="1"/>
          <p:nvPr/>
        </p:nvSpPr>
        <p:spPr>
          <a:xfrm>
            <a:off x="509154" y="331876"/>
            <a:ext cx="11398828" cy="1969770"/>
          </a:xfrm>
          <a:prstGeom prst="rect">
            <a:avLst/>
          </a:prstGeom>
          <a:noFill/>
        </p:spPr>
        <p:txBody>
          <a:bodyPr wrap="square">
            <a:spAutoFit/>
          </a:bodyPr>
          <a:lstStyle/>
          <a:p>
            <a:pPr>
              <a:buNone/>
            </a:pPr>
            <a:r>
              <a:rPr lang="en-US" sz="2200" b="1" dirty="0">
                <a:solidFill>
                  <a:srgbClr val="FF0000"/>
                </a:solidFill>
                <a:latin typeface="Times New Roman" panose="02020603050405020304" pitchFamily="18" charset="0"/>
                <a:cs typeface="Times New Roman" panose="02020603050405020304" pitchFamily="18" charset="0"/>
              </a:rPr>
              <a:t>Grouping and Aggregation</a:t>
            </a:r>
          </a:p>
          <a:p>
            <a:pPr>
              <a:buNone/>
            </a:pPr>
            <a:r>
              <a:rPr lang="en-US" sz="2000" b="1" dirty="0">
                <a:latin typeface="Times New Roman" panose="02020603050405020304" pitchFamily="18" charset="0"/>
                <a:cs typeface="Times New Roman" panose="02020603050405020304" pitchFamily="18" charset="0"/>
              </a:rPr>
              <a:t>"Suppose the manager doesn't want to see every transaction. She wants to know the total sales for each region.“</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Grouping means dividing the data into groups based on a particular column.</a:t>
            </a: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Aggregation means performing a calculation such as sum, mean, maximum or minimum on each group.</a:t>
            </a: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4E23AC7-0795-2D81-AF79-6D6D3EECD89F}"/>
              </a:ext>
            </a:extLst>
          </p:cNvPr>
          <p:cNvPicPr>
            <a:picLocks noChangeAspect="1"/>
          </p:cNvPicPr>
          <p:nvPr/>
        </p:nvPicPr>
        <p:blipFill>
          <a:blip r:embed="rId2"/>
          <a:stretch>
            <a:fillRect/>
          </a:stretch>
        </p:blipFill>
        <p:spPr>
          <a:xfrm>
            <a:off x="661386" y="2935372"/>
            <a:ext cx="6158110" cy="2596066"/>
          </a:xfrm>
          <a:prstGeom prst="rect">
            <a:avLst/>
          </a:prstGeom>
        </p:spPr>
      </p:pic>
      <p:sp>
        <p:nvSpPr>
          <p:cNvPr id="7" name="TextBox 6">
            <a:extLst>
              <a:ext uri="{FF2B5EF4-FFF2-40B4-BE49-F238E27FC236}">
                <a16:creationId xmlns:a16="http://schemas.microsoft.com/office/drawing/2014/main" id="{E9FBC5A0-A204-4BCD-7DCD-B1198F783793}"/>
              </a:ext>
            </a:extLst>
          </p:cNvPr>
          <p:cNvSpPr txBox="1"/>
          <p:nvPr/>
        </p:nvSpPr>
        <p:spPr>
          <a:xfrm>
            <a:off x="584488" y="2433843"/>
            <a:ext cx="6094268" cy="369332"/>
          </a:xfrm>
          <a:prstGeom prst="rect">
            <a:avLst/>
          </a:prstGeom>
          <a:noFill/>
        </p:spPr>
        <p:txBody>
          <a:bodyPr wrap="square">
            <a:spAutoFit/>
          </a:bodyPr>
          <a:lstStyle/>
          <a:p>
            <a:r>
              <a:rPr lang="en-IN" b="1" dirty="0">
                <a:latin typeface="Tahoma" panose="020B0604030504040204" pitchFamily="34" charset="0"/>
                <a:ea typeface="Tahoma" panose="020B0604030504040204" pitchFamily="34" charset="0"/>
                <a:cs typeface="Tahoma" panose="020B0604030504040204" pitchFamily="34" charset="0"/>
              </a:rPr>
              <a:t>Total Sales by Region</a:t>
            </a:r>
          </a:p>
        </p:txBody>
      </p:sp>
      <p:pic>
        <p:nvPicPr>
          <p:cNvPr id="9" name="Picture 8">
            <a:extLst>
              <a:ext uri="{FF2B5EF4-FFF2-40B4-BE49-F238E27FC236}">
                <a16:creationId xmlns:a16="http://schemas.microsoft.com/office/drawing/2014/main" id="{64780DBD-9A01-FE35-1744-92345213FCF6}"/>
              </a:ext>
            </a:extLst>
          </p:cNvPr>
          <p:cNvPicPr>
            <a:picLocks noChangeAspect="1"/>
          </p:cNvPicPr>
          <p:nvPr/>
        </p:nvPicPr>
        <p:blipFill>
          <a:blip r:embed="rId3"/>
          <a:stretch>
            <a:fillRect/>
          </a:stretch>
        </p:blipFill>
        <p:spPr>
          <a:xfrm>
            <a:off x="7067922" y="2618509"/>
            <a:ext cx="5124078" cy="3078579"/>
          </a:xfrm>
          <a:prstGeom prst="rect">
            <a:avLst/>
          </a:prstGeom>
        </p:spPr>
      </p:pic>
    </p:spTree>
    <p:extLst>
      <p:ext uri="{BB962C8B-B14F-4D97-AF65-F5344CB8AC3E}">
        <p14:creationId xmlns:p14="http://schemas.microsoft.com/office/powerpoint/2010/main" val="22729437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91A415-73C6-BEC3-C904-A2003C7ADCEB}"/>
              </a:ext>
            </a:extLst>
          </p:cNvPr>
          <p:cNvPicPr>
            <a:picLocks noChangeAspect="1"/>
          </p:cNvPicPr>
          <p:nvPr/>
        </p:nvPicPr>
        <p:blipFill>
          <a:blip r:embed="rId2"/>
          <a:stretch>
            <a:fillRect/>
          </a:stretch>
        </p:blipFill>
        <p:spPr>
          <a:xfrm>
            <a:off x="748145" y="1029699"/>
            <a:ext cx="4844409" cy="2259448"/>
          </a:xfrm>
          <a:prstGeom prst="rect">
            <a:avLst/>
          </a:prstGeom>
        </p:spPr>
      </p:pic>
      <p:pic>
        <p:nvPicPr>
          <p:cNvPr id="5" name="Picture 4">
            <a:extLst>
              <a:ext uri="{FF2B5EF4-FFF2-40B4-BE49-F238E27FC236}">
                <a16:creationId xmlns:a16="http://schemas.microsoft.com/office/drawing/2014/main" id="{A8C17D54-3411-57C8-2D26-FA00B5824034}"/>
              </a:ext>
            </a:extLst>
          </p:cNvPr>
          <p:cNvPicPr>
            <a:picLocks noChangeAspect="1"/>
          </p:cNvPicPr>
          <p:nvPr/>
        </p:nvPicPr>
        <p:blipFill>
          <a:blip r:embed="rId3"/>
          <a:stretch>
            <a:fillRect/>
          </a:stretch>
        </p:blipFill>
        <p:spPr>
          <a:xfrm>
            <a:off x="6599448" y="1075406"/>
            <a:ext cx="4990568" cy="2168034"/>
          </a:xfrm>
          <a:prstGeom prst="rect">
            <a:avLst/>
          </a:prstGeom>
        </p:spPr>
      </p:pic>
      <p:sp>
        <p:nvSpPr>
          <p:cNvPr id="7" name="TextBox 6">
            <a:extLst>
              <a:ext uri="{FF2B5EF4-FFF2-40B4-BE49-F238E27FC236}">
                <a16:creationId xmlns:a16="http://schemas.microsoft.com/office/drawing/2014/main" id="{DA60897C-49DD-28CB-10CA-B983AFA69A7D}"/>
              </a:ext>
            </a:extLst>
          </p:cNvPr>
          <p:cNvSpPr txBox="1"/>
          <p:nvPr/>
        </p:nvSpPr>
        <p:spPr>
          <a:xfrm>
            <a:off x="748145" y="438788"/>
            <a:ext cx="6094268" cy="369332"/>
          </a:xfrm>
          <a:prstGeom prst="rect">
            <a:avLst/>
          </a:prstGeom>
          <a:noFill/>
        </p:spPr>
        <p:txBody>
          <a:bodyPr wrap="square">
            <a:spAutoFit/>
          </a:bodyPr>
          <a:lstStyle/>
          <a:p>
            <a:r>
              <a:rPr lang="en-IN" b="1" dirty="0"/>
              <a:t>Average Sales by Region</a:t>
            </a:r>
          </a:p>
        </p:txBody>
      </p:sp>
      <p:sp>
        <p:nvSpPr>
          <p:cNvPr id="9" name="TextBox 8">
            <a:extLst>
              <a:ext uri="{FF2B5EF4-FFF2-40B4-BE49-F238E27FC236}">
                <a16:creationId xmlns:a16="http://schemas.microsoft.com/office/drawing/2014/main" id="{DDDFE942-6027-80AD-9A3D-D138EC006E2E}"/>
              </a:ext>
            </a:extLst>
          </p:cNvPr>
          <p:cNvSpPr txBox="1"/>
          <p:nvPr/>
        </p:nvSpPr>
        <p:spPr>
          <a:xfrm>
            <a:off x="6599448" y="438788"/>
            <a:ext cx="6094268" cy="369332"/>
          </a:xfrm>
          <a:prstGeom prst="rect">
            <a:avLst/>
          </a:prstGeom>
          <a:noFill/>
        </p:spPr>
        <p:txBody>
          <a:bodyPr wrap="square">
            <a:spAutoFit/>
          </a:bodyPr>
          <a:lstStyle/>
          <a:p>
            <a:r>
              <a:rPr lang="en-IN" b="1" dirty="0"/>
              <a:t>Total Profit by Region</a:t>
            </a:r>
          </a:p>
        </p:txBody>
      </p:sp>
      <p:pic>
        <p:nvPicPr>
          <p:cNvPr id="11" name="Picture 10">
            <a:extLst>
              <a:ext uri="{FF2B5EF4-FFF2-40B4-BE49-F238E27FC236}">
                <a16:creationId xmlns:a16="http://schemas.microsoft.com/office/drawing/2014/main" id="{7560D2DD-6191-C98D-0B08-585E054419FE}"/>
              </a:ext>
            </a:extLst>
          </p:cNvPr>
          <p:cNvPicPr>
            <a:picLocks noChangeAspect="1"/>
          </p:cNvPicPr>
          <p:nvPr/>
        </p:nvPicPr>
        <p:blipFill>
          <a:blip r:embed="rId4"/>
          <a:stretch>
            <a:fillRect/>
          </a:stretch>
        </p:blipFill>
        <p:spPr>
          <a:xfrm>
            <a:off x="3249909" y="4002140"/>
            <a:ext cx="5692181" cy="2689605"/>
          </a:xfrm>
          <a:prstGeom prst="rect">
            <a:avLst/>
          </a:prstGeom>
        </p:spPr>
      </p:pic>
      <p:sp>
        <p:nvSpPr>
          <p:cNvPr id="13" name="TextBox 12">
            <a:extLst>
              <a:ext uri="{FF2B5EF4-FFF2-40B4-BE49-F238E27FC236}">
                <a16:creationId xmlns:a16="http://schemas.microsoft.com/office/drawing/2014/main" id="{C2BBD172-F2F8-E06C-3C60-48A7727070D2}"/>
              </a:ext>
            </a:extLst>
          </p:cNvPr>
          <p:cNvSpPr txBox="1"/>
          <p:nvPr/>
        </p:nvSpPr>
        <p:spPr>
          <a:xfrm>
            <a:off x="3170349" y="3502109"/>
            <a:ext cx="6348844"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Multiple Aggregations Together</a:t>
            </a:r>
          </a:p>
        </p:txBody>
      </p:sp>
    </p:spTree>
    <p:extLst>
      <p:ext uri="{BB962C8B-B14F-4D97-AF65-F5344CB8AC3E}">
        <p14:creationId xmlns:p14="http://schemas.microsoft.com/office/powerpoint/2010/main" val="2306900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07B7B-E41D-CF34-396C-7608CCF169C8}"/>
              </a:ext>
            </a:extLst>
          </p:cNvPr>
          <p:cNvSpPr>
            <a:spLocks noGrp="1"/>
          </p:cNvSpPr>
          <p:nvPr>
            <p:ph type="title"/>
          </p:nvPr>
        </p:nvSpPr>
        <p:spPr>
          <a:xfrm>
            <a:off x="422563" y="-227157"/>
            <a:ext cx="10515600" cy="1325563"/>
          </a:xfrm>
        </p:spPr>
        <p:txBody>
          <a:bodyPr>
            <a:normAutofit/>
          </a:bodyPr>
          <a:lstStyle/>
          <a:p>
            <a:r>
              <a:rPr lang="en-US" sz="2200" b="1" dirty="0">
                <a:solidFill>
                  <a:srgbClr val="FF0000"/>
                </a:solidFill>
                <a:latin typeface="Times New Roman" panose="02020603050405020304" pitchFamily="18" charset="0"/>
                <a:cs typeface="Times New Roman" panose="02020603050405020304" pitchFamily="18" charset="0"/>
              </a:rPr>
              <a:t>Overview of Big Data: characteristics (5Vs), ecosystem and tools </a:t>
            </a:r>
            <a:endParaRPr lang="en-IN" sz="2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F1C931-5AA5-E618-5E7A-0E7F02FDBDAD}"/>
              </a:ext>
            </a:extLst>
          </p:cNvPr>
          <p:cNvSpPr>
            <a:spLocks noGrp="1"/>
          </p:cNvSpPr>
          <p:nvPr>
            <p:ph idx="1"/>
          </p:nvPr>
        </p:nvSpPr>
        <p:spPr>
          <a:xfrm>
            <a:off x="422563" y="880053"/>
            <a:ext cx="10515600" cy="4351338"/>
          </a:xfrm>
        </p:spPr>
        <p:txBody>
          <a:bodyPr>
            <a:normAutofit/>
          </a:bodyPr>
          <a:lstStyle/>
          <a:p>
            <a:pPr marL="0" indent="0">
              <a:buNone/>
            </a:pPr>
            <a:r>
              <a:rPr lang="en-US" sz="2000" b="1" dirty="0">
                <a:solidFill>
                  <a:srgbClr val="FF0000"/>
                </a:solidFill>
                <a:latin typeface="Times New Roman" panose="02020603050405020304" pitchFamily="18" charset="0"/>
                <a:cs typeface="Times New Roman" panose="02020603050405020304" pitchFamily="18" charset="0"/>
              </a:rPr>
              <a:t>What is Big Data?</a:t>
            </a:r>
          </a:p>
          <a:p>
            <a:r>
              <a:rPr lang="en-US" sz="2000" b="1" dirty="0">
                <a:latin typeface="Times New Roman" panose="02020603050405020304" pitchFamily="18" charset="0"/>
                <a:cs typeface="Times New Roman" panose="02020603050405020304" pitchFamily="18" charset="0"/>
              </a:rPr>
              <a:t>Big Data refers to extremely large and complex amounts of data that are difficult to store, process, and analyze using traditional data-processing systems. (OR)</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“Big Data is not simply data that is big. It is data that is very large, generated very quickly, comes in different forms, may have quality problems, and can provide useful information when properly analyzed.”</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04513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Essence of 5 V's in Big Data">
            <a:extLst>
              <a:ext uri="{FF2B5EF4-FFF2-40B4-BE49-F238E27FC236}">
                <a16:creationId xmlns:a16="http://schemas.microsoft.com/office/drawing/2014/main" id="{C934B031-D6FA-FB00-4FE2-838220A270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962" y="1609292"/>
            <a:ext cx="4124325" cy="39719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2AFDE7C-4477-39BB-9BD4-6410B7993263}"/>
              </a:ext>
            </a:extLst>
          </p:cNvPr>
          <p:cNvSpPr txBox="1"/>
          <p:nvPr/>
        </p:nvSpPr>
        <p:spPr>
          <a:xfrm>
            <a:off x="729962" y="242432"/>
            <a:ext cx="9099838" cy="800219"/>
          </a:xfrm>
          <a:prstGeom prst="rect">
            <a:avLst/>
          </a:prstGeom>
          <a:noFill/>
        </p:spPr>
        <p:txBody>
          <a:bodyPr wrap="square">
            <a:spAutoFit/>
          </a:bodyPr>
          <a:lstStyle/>
          <a:p>
            <a:endParaRPr lang="en-US" sz="2200" b="1" dirty="0">
              <a:solidFill>
                <a:srgbClr val="FF0000"/>
              </a:solidFill>
              <a:latin typeface="Times New Roman" panose="02020603050405020304" pitchFamily="18" charset="0"/>
              <a:cs typeface="Times New Roman" panose="02020603050405020304" pitchFamily="18" charset="0"/>
            </a:endParaRPr>
          </a:p>
          <a:p>
            <a:r>
              <a:rPr lang="en-US" sz="2200" b="1" dirty="0">
                <a:solidFill>
                  <a:srgbClr val="FF0000"/>
                </a:solidFill>
                <a:latin typeface="Times New Roman" panose="02020603050405020304" pitchFamily="18" charset="0"/>
                <a:cs typeface="Times New Roman" panose="02020603050405020304" pitchFamily="18" charset="0"/>
              </a:rPr>
              <a:t>The 5Vs of Big Data (OR) </a:t>
            </a:r>
            <a:r>
              <a:rPr lang="en-US" sz="2400" b="1" dirty="0">
                <a:solidFill>
                  <a:srgbClr val="FF0000"/>
                </a:solidFill>
                <a:latin typeface="Times New Roman" panose="02020603050405020304" pitchFamily="18" charset="0"/>
                <a:cs typeface="Times New Roman" panose="02020603050405020304" pitchFamily="18" charset="0"/>
              </a:rPr>
              <a:t>Characteristics of Big Data — 5Vs</a:t>
            </a:r>
            <a:endParaRPr lang="en-IN" sz="22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0CFF4D0-3AF8-E4A9-6886-00DE1FC951D8}"/>
              </a:ext>
            </a:extLst>
          </p:cNvPr>
          <p:cNvSpPr txBox="1"/>
          <p:nvPr/>
        </p:nvSpPr>
        <p:spPr>
          <a:xfrm>
            <a:off x="6205970" y="2053074"/>
            <a:ext cx="6094268" cy="1938992"/>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The five characteristics are:</a:t>
            </a:r>
          </a:p>
          <a:p>
            <a:pPr>
              <a:buFont typeface="+mj-lt"/>
              <a:buAutoNum type="arabicPeriod"/>
            </a:pPr>
            <a:r>
              <a:rPr lang="en-US" sz="2000" b="1" dirty="0">
                <a:latin typeface="Times New Roman" panose="02020603050405020304" pitchFamily="18" charset="0"/>
                <a:cs typeface="Times New Roman" panose="02020603050405020304" pitchFamily="18" charset="0"/>
              </a:rPr>
              <a:t>Volume</a:t>
            </a:r>
            <a:r>
              <a:rPr lang="en-US" sz="2000" dirty="0">
                <a:latin typeface="Times New Roman" panose="02020603050405020304" pitchFamily="18" charset="0"/>
                <a:cs typeface="Times New Roman" panose="02020603050405020304" pitchFamily="18" charset="0"/>
              </a:rPr>
              <a:t> </a:t>
            </a:r>
          </a:p>
          <a:p>
            <a:pPr>
              <a:buFont typeface="+mj-lt"/>
              <a:buAutoNum type="arabicPeriod"/>
            </a:pPr>
            <a:r>
              <a:rPr lang="en-US" sz="2000" b="1" dirty="0">
                <a:latin typeface="Times New Roman" panose="02020603050405020304" pitchFamily="18" charset="0"/>
                <a:cs typeface="Times New Roman" panose="02020603050405020304" pitchFamily="18" charset="0"/>
              </a:rPr>
              <a:t>Velocity</a:t>
            </a:r>
            <a:r>
              <a:rPr lang="en-US" sz="2000" dirty="0">
                <a:latin typeface="Times New Roman" panose="02020603050405020304" pitchFamily="18" charset="0"/>
                <a:cs typeface="Times New Roman" panose="02020603050405020304" pitchFamily="18" charset="0"/>
              </a:rPr>
              <a:t> </a:t>
            </a:r>
          </a:p>
          <a:p>
            <a:pPr>
              <a:buFont typeface="+mj-lt"/>
              <a:buAutoNum type="arabicPeriod"/>
            </a:pPr>
            <a:r>
              <a:rPr lang="en-US" sz="2000" b="1" dirty="0">
                <a:latin typeface="Times New Roman" panose="02020603050405020304" pitchFamily="18" charset="0"/>
                <a:cs typeface="Times New Roman" panose="02020603050405020304" pitchFamily="18" charset="0"/>
              </a:rPr>
              <a:t>Variety</a:t>
            </a:r>
            <a:r>
              <a:rPr lang="en-US" sz="2000" dirty="0">
                <a:latin typeface="Times New Roman" panose="02020603050405020304" pitchFamily="18" charset="0"/>
                <a:cs typeface="Times New Roman" panose="02020603050405020304" pitchFamily="18" charset="0"/>
              </a:rPr>
              <a:t> </a:t>
            </a:r>
          </a:p>
          <a:p>
            <a:pPr>
              <a:buFont typeface="+mj-lt"/>
              <a:buAutoNum type="arabicPeriod"/>
            </a:pPr>
            <a:r>
              <a:rPr lang="en-US" sz="2000" b="1" dirty="0">
                <a:latin typeface="Times New Roman" panose="02020603050405020304" pitchFamily="18" charset="0"/>
                <a:cs typeface="Times New Roman" panose="02020603050405020304" pitchFamily="18" charset="0"/>
              </a:rPr>
              <a:t>Veracity</a:t>
            </a:r>
            <a:r>
              <a:rPr lang="en-US" sz="2000" dirty="0">
                <a:latin typeface="Times New Roman" panose="02020603050405020304" pitchFamily="18" charset="0"/>
                <a:cs typeface="Times New Roman" panose="02020603050405020304" pitchFamily="18" charset="0"/>
              </a:rPr>
              <a:t> </a:t>
            </a:r>
          </a:p>
          <a:p>
            <a:pPr>
              <a:buFont typeface="+mj-lt"/>
              <a:buAutoNum type="arabicPeriod"/>
            </a:pPr>
            <a:r>
              <a:rPr lang="en-US" sz="2000" b="1" dirty="0">
                <a:latin typeface="Times New Roman" panose="02020603050405020304" pitchFamily="18" charset="0"/>
                <a:cs typeface="Times New Roman" panose="02020603050405020304" pitchFamily="18" charset="0"/>
              </a:rPr>
              <a:t>Value</a:t>
            </a:r>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823138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CA209F-0D15-0747-6AE2-20052B6E4F8F}"/>
              </a:ext>
            </a:extLst>
          </p:cNvPr>
          <p:cNvSpPr txBox="1"/>
          <p:nvPr/>
        </p:nvSpPr>
        <p:spPr>
          <a:xfrm>
            <a:off x="367862" y="479087"/>
            <a:ext cx="11824138" cy="5940088"/>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Volume</a:t>
            </a:r>
          </a:p>
          <a:p>
            <a:pPr>
              <a:buNone/>
            </a:pPr>
            <a:r>
              <a:rPr lang="en-US" sz="2000" b="1" dirty="0">
                <a:latin typeface="Times New Roman" panose="02020603050405020304" pitchFamily="18" charset="0"/>
                <a:cs typeface="Times New Roman" panose="02020603050405020304" pitchFamily="18" charset="0"/>
              </a:rPr>
              <a:t>Volume refers to the enormous quantity of data generated, collected, and stored by organizations and digital systems.</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Traditional databases are generally designed to handle relatively smaller amounts of data. Big Data environments are designed to handle data ranging from </a:t>
            </a:r>
            <a:r>
              <a:rPr lang="en-US" sz="2000" b="1" dirty="0">
                <a:latin typeface="Times New Roman" panose="02020603050405020304" pitchFamily="18" charset="0"/>
                <a:cs typeface="Times New Roman" panose="02020603050405020304" pitchFamily="18" charset="0"/>
              </a:rPr>
              <a:t>gigabytes (GB) to terabytes (TB), petabytes (PB), and beyond</a:t>
            </a:r>
            <a:r>
              <a:rPr lang="en-US" sz="2000" dirty="0">
                <a:latin typeface="Times New Roman" panose="02020603050405020304" pitchFamily="18" charset="0"/>
                <a:cs typeface="Times New Roman" panose="02020603050405020304" pitchFamily="18" charset="0"/>
              </a:rPr>
              <a:t>.</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Sources of Large Data Volumes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Data can be generated from:</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Social media platforms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E-commerce transactions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Banking systems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Websites and mobile applications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IoT devices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Sensors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Video and audio platforms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Business transactions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Machine and application logs </a:t>
            </a:r>
          </a:p>
        </p:txBody>
      </p:sp>
    </p:spTree>
    <p:extLst>
      <p:ext uri="{BB962C8B-B14F-4D97-AF65-F5344CB8AC3E}">
        <p14:creationId xmlns:p14="http://schemas.microsoft.com/office/powerpoint/2010/main" val="39265270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5879BCE-DC53-1CF7-14B5-E29ABBEC6AB3}"/>
              </a:ext>
            </a:extLst>
          </p:cNvPr>
          <p:cNvSpPr txBox="1"/>
          <p:nvPr/>
        </p:nvSpPr>
        <p:spPr>
          <a:xfrm>
            <a:off x="430924" y="305068"/>
            <a:ext cx="10773104" cy="6247864"/>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Example — E-Commerce</a:t>
            </a:r>
          </a:p>
          <a:p>
            <a:pPr>
              <a:buNone/>
            </a:pPr>
            <a:r>
              <a:rPr lang="en-US" sz="2000" dirty="0">
                <a:latin typeface="Times New Roman" panose="02020603050405020304" pitchFamily="18" charset="0"/>
                <a:cs typeface="Times New Roman" panose="02020603050405020304" pitchFamily="18" charset="0"/>
              </a:rPr>
              <a:t>Consider an online shopping platform.</a:t>
            </a:r>
          </a:p>
          <a:p>
            <a:pPr>
              <a:buNone/>
            </a:pPr>
            <a:r>
              <a:rPr lang="en-US" sz="2000" dirty="0">
                <a:latin typeface="Times New Roman" panose="02020603050405020304" pitchFamily="18" charset="0"/>
                <a:cs typeface="Times New Roman" panose="02020603050405020304" pitchFamily="18" charset="0"/>
              </a:rPr>
              <a:t>Every customer interaction generates data:</a:t>
            </a:r>
          </a:p>
          <a:p>
            <a:pPr rtl="0">
              <a:buNone/>
            </a:pPr>
            <a:r>
              <a:rPr lang="en-US" sz="2000" dirty="0">
                <a:latin typeface="Times New Roman" panose="02020603050405020304" pitchFamily="18" charset="0"/>
                <a:cs typeface="Times New Roman" panose="02020603050405020304" pitchFamily="18" charset="0"/>
              </a:rPr>
              <a:t>Customer Registration</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Product Search</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Product View</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Add to Cart</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Purchase</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Payment</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Product Review</a:t>
            </a:r>
          </a:p>
          <a:p>
            <a:pPr>
              <a:buNone/>
            </a:pPr>
            <a:r>
              <a:rPr lang="en-US" sz="2000" dirty="0">
                <a:latin typeface="Times New Roman" panose="02020603050405020304" pitchFamily="18" charset="0"/>
                <a:cs typeface="Times New Roman" panose="02020603050405020304" pitchFamily="18" charset="0"/>
              </a:rPr>
              <a:t>When millions of customers perform these activities, the organization generates an enormous volume of data.</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Volume answers the question: “How much data is being generated or stored?”</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07098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AA9C17-F158-44AA-2EEF-B4CE49C7F82D}"/>
              </a:ext>
            </a:extLst>
          </p:cNvPr>
          <p:cNvSpPr txBox="1"/>
          <p:nvPr/>
        </p:nvSpPr>
        <p:spPr>
          <a:xfrm>
            <a:off x="693683" y="486297"/>
            <a:ext cx="10857186" cy="4708981"/>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Velocity</a:t>
            </a:r>
          </a:p>
          <a:p>
            <a:pPr>
              <a:buNone/>
            </a:pPr>
            <a:r>
              <a:rPr lang="en-US" sz="2000" b="1" dirty="0">
                <a:latin typeface="Times New Roman" panose="02020603050405020304" pitchFamily="18" charset="0"/>
                <a:cs typeface="Times New Roman" panose="02020603050405020304" pitchFamily="18" charset="0"/>
              </a:rPr>
              <a:t>Velocity refers to the speed at which data is generated, transmitted, collected, and processed.</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In many modern applications, data is generated continuously and needs to be processed quickly or in real time.</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Examples of High-Velocity Data</a:t>
            </a:r>
          </a:p>
          <a:p>
            <a:pPr>
              <a:buNone/>
            </a:pPr>
            <a:endParaRPr lang="en-US" sz="2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Online banking transactions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Stock market transactions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Social media activities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IoT sensor readings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GPS location updates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Website clicks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Online advertisements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monitoring systems</a:t>
            </a:r>
          </a:p>
        </p:txBody>
      </p:sp>
    </p:spTree>
    <p:extLst>
      <p:ext uri="{BB962C8B-B14F-4D97-AF65-F5344CB8AC3E}">
        <p14:creationId xmlns:p14="http://schemas.microsoft.com/office/powerpoint/2010/main" val="30699992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D24720-7572-5889-C3DB-44B0CB9BE713}"/>
              </a:ext>
            </a:extLst>
          </p:cNvPr>
          <p:cNvSpPr txBox="1"/>
          <p:nvPr/>
        </p:nvSpPr>
        <p:spPr>
          <a:xfrm>
            <a:off x="756745" y="286601"/>
            <a:ext cx="9038896" cy="5940088"/>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Example — Online Banking</a:t>
            </a:r>
          </a:p>
          <a:p>
            <a:pPr>
              <a:buNone/>
            </a:pPr>
            <a:r>
              <a:rPr lang="en-IN" sz="2000" dirty="0">
                <a:latin typeface="Times New Roman" panose="02020603050405020304" pitchFamily="18" charset="0"/>
                <a:cs typeface="Times New Roman" panose="02020603050405020304" pitchFamily="18" charset="0"/>
              </a:rPr>
              <a:t>Suppose thousands of customers perform transactions at the same time.</a:t>
            </a:r>
          </a:p>
          <a:p>
            <a:pPr rtl="0">
              <a:buNone/>
            </a:pPr>
            <a:endParaRPr lang="en-IN" sz="2000" dirty="0">
              <a:latin typeface="Times New Roman" panose="02020603050405020304" pitchFamily="18" charset="0"/>
              <a:cs typeface="Times New Roman" panose="02020603050405020304" pitchFamily="18" charset="0"/>
            </a:endParaRPr>
          </a:p>
          <a:p>
            <a:pPr rtl="0">
              <a:buNone/>
            </a:pPr>
            <a:r>
              <a:rPr lang="en-IN" sz="2000" dirty="0">
                <a:latin typeface="Times New Roman" panose="02020603050405020304" pitchFamily="18" charset="0"/>
                <a:cs typeface="Times New Roman" panose="02020603050405020304" pitchFamily="18" charset="0"/>
              </a:rPr>
              <a:t>Customer A → ₹5,000 transaction</a:t>
            </a:r>
          </a:p>
          <a:p>
            <a:pPr rtl="0">
              <a:buNone/>
            </a:pPr>
            <a:r>
              <a:rPr lang="en-IN" sz="2000" dirty="0">
                <a:latin typeface="Times New Roman" panose="02020603050405020304" pitchFamily="18" charset="0"/>
                <a:cs typeface="Times New Roman" panose="02020603050405020304" pitchFamily="18" charset="0"/>
              </a:rPr>
              <a:t>Customer B → ₹2,000 transaction</a:t>
            </a:r>
          </a:p>
          <a:p>
            <a:pPr rtl="0">
              <a:buNone/>
            </a:pPr>
            <a:r>
              <a:rPr lang="en-IN" sz="2000" dirty="0">
                <a:latin typeface="Times New Roman" panose="02020603050405020304" pitchFamily="18" charset="0"/>
                <a:cs typeface="Times New Roman" panose="02020603050405020304" pitchFamily="18" charset="0"/>
              </a:rPr>
              <a:t>Customer C → ₹10,000 transaction</a:t>
            </a:r>
          </a:p>
          <a:p>
            <a:pPr rtl="0">
              <a:buNone/>
            </a:pPr>
            <a:r>
              <a:rPr lang="en-IN" sz="2000" dirty="0">
                <a:latin typeface="Times New Roman" panose="02020603050405020304" pitchFamily="18" charset="0"/>
                <a:cs typeface="Times New Roman" panose="02020603050405020304" pitchFamily="18" charset="0"/>
              </a:rPr>
              <a:t>Customer D → ₹7,000 transaction</a:t>
            </a:r>
          </a:p>
          <a:p>
            <a:pPr rtl="0">
              <a:buNone/>
            </a:pPr>
            <a:r>
              <a:rPr lang="en-IN" sz="2000" dirty="0">
                <a:latin typeface="Times New Roman" panose="02020603050405020304" pitchFamily="18" charset="0"/>
                <a:cs typeface="Times New Roman" panose="02020603050405020304" pitchFamily="18" charset="0"/>
              </a:rPr>
              <a:t>       ↓</a:t>
            </a:r>
          </a:p>
          <a:p>
            <a:pPr rtl="0">
              <a:buNone/>
            </a:pPr>
            <a:r>
              <a:rPr lang="en-IN" sz="2000" dirty="0">
                <a:latin typeface="Times New Roman" panose="02020603050405020304" pitchFamily="18" charset="0"/>
                <a:cs typeface="Times New Roman" panose="02020603050405020304" pitchFamily="18" charset="0"/>
              </a:rPr>
              <a:t>Data generated continuously</a:t>
            </a:r>
          </a:p>
          <a:p>
            <a:pPr rtl="0">
              <a:buNone/>
            </a:pPr>
            <a:r>
              <a:rPr lang="en-IN" sz="2000" dirty="0">
                <a:latin typeface="Times New Roman" panose="02020603050405020304" pitchFamily="18" charset="0"/>
                <a:cs typeface="Times New Roman" panose="02020603050405020304" pitchFamily="18" charset="0"/>
              </a:rPr>
              <a:t>       ↓</a:t>
            </a:r>
          </a:p>
          <a:p>
            <a:pPr rtl="0">
              <a:buNone/>
            </a:pPr>
            <a:r>
              <a:rPr lang="en-IN" sz="2000" dirty="0">
                <a:latin typeface="Times New Roman" panose="02020603050405020304" pitchFamily="18" charset="0"/>
                <a:cs typeface="Times New Roman" panose="02020603050405020304" pitchFamily="18" charset="0"/>
              </a:rPr>
              <a:t>Banking system processes the transactions</a:t>
            </a: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The system must process this data quickly to:</a:t>
            </a:r>
          </a:p>
          <a:p>
            <a:pPr>
              <a:buNone/>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Confirm transactions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Detect suspicious activity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Update account balances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 notifications</a:t>
            </a:r>
          </a:p>
        </p:txBody>
      </p:sp>
    </p:spTree>
    <p:extLst>
      <p:ext uri="{BB962C8B-B14F-4D97-AF65-F5344CB8AC3E}">
        <p14:creationId xmlns:p14="http://schemas.microsoft.com/office/powerpoint/2010/main" val="22858037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E77A45-B933-D400-2008-DD43FD9BD196}"/>
              </a:ext>
            </a:extLst>
          </p:cNvPr>
          <p:cNvSpPr txBox="1"/>
          <p:nvPr/>
        </p:nvSpPr>
        <p:spPr>
          <a:xfrm>
            <a:off x="546537" y="240323"/>
            <a:ext cx="11256579" cy="1323439"/>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Variety</a:t>
            </a:r>
          </a:p>
          <a:p>
            <a:pPr>
              <a:buNone/>
            </a:pPr>
            <a:r>
              <a:rPr lang="en-US" sz="2000" b="1" dirty="0">
                <a:latin typeface="Times New Roman" panose="02020603050405020304" pitchFamily="18" charset="0"/>
                <a:cs typeface="Times New Roman" panose="02020603050405020304" pitchFamily="18" charset="0"/>
              </a:rPr>
              <a:t>Variety refers to the different types, formats, and structures of data generated from various sources.</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Unlike traditional systems that mainly work with structured tables, Big Data can contain </a:t>
            </a:r>
            <a:r>
              <a:rPr lang="en-US" sz="2000" b="1" dirty="0">
                <a:latin typeface="Times New Roman" panose="02020603050405020304" pitchFamily="18" charset="0"/>
                <a:cs typeface="Times New Roman" panose="02020603050405020304" pitchFamily="18" charset="0"/>
              </a:rPr>
              <a:t>structured, semi-structured, and unstructured data</a:t>
            </a:r>
            <a:r>
              <a:rPr lang="en-US" sz="2000" dirty="0">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F7F4D417-C0F4-DE65-55E7-06D68DD5DBC4}"/>
              </a:ext>
            </a:extLst>
          </p:cNvPr>
          <p:cNvSpPr txBox="1"/>
          <p:nvPr/>
        </p:nvSpPr>
        <p:spPr>
          <a:xfrm>
            <a:off x="546537" y="1873156"/>
            <a:ext cx="10941270" cy="1323439"/>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Types of Data</a:t>
            </a:r>
          </a:p>
          <a:p>
            <a:pPr>
              <a:buNone/>
            </a:pPr>
            <a:r>
              <a:rPr lang="en-US" sz="2000" b="1" dirty="0">
                <a:latin typeface="Times New Roman" panose="02020603050405020304" pitchFamily="18" charset="0"/>
                <a:cs typeface="Times New Roman" panose="02020603050405020304" pitchFamily="18" charset="0"/>
              </a:rPr>
              <a:t>1. Structured Data</a:t>
            </a:r>
          </a:p>
          <a:p>
            <a:pPr>
              <a:buNone/>
            </a:pPr>
            <a:r>
              <a:rPr lang="en-US" sz="2000" dirty="0">
                <a:latin typeface="Times New Roman" panose="02020603050405020304" pitchFamily="18" charset="0"/>
                <a:cs typeface="Times New Roman" panose="02020603050405020304" pitchFamily="18" charset="0"/>
              </a:rPr>
              <a:t>Data organized in a predefined format, usually rows and columns.</a:t>
            </a:r>
          </a:p>
          <a:p>
            <a:pPr>
              <a:buNone/>
            </a:pPr>
            <a:r>
              <a:rPr lang="en-US" sz="2000" dirty="0">
                <a:latin typeface="Times New Roman" panose="02020603050405020304" pitchFamily="18" charset="0"/>
                <a:cs typeface="Times New Roman" panose="02020603050405020304" pitchFamily="18" charset="0"/>
              </a:rPr>
              <a:t>Example:</a:t>
            </a:r>
          </a:p>
        </p:txBody>
      </p:sp>
      <p:graphicFrame>
        <p:nvGraphicFramePr>
          <p:cNvPr id="8" name="Table 7">
            <a:extLst>
              <a:ext uri="{FF2B5EF4-FFF2-40B4-BE49-F238E27FC236}">
                <a16:creationId xmlns:a16="http://schemas.microsoft.com/office/drawing/2014/main" id="{C4D539EA-6169-59D8-9E9C-FDD709FCD406}"/>
              </a:ext>
            </a:extLst>
          </p:cNvPr>
          <p:cNvGraphicFramePr>
            <a:graphicFrameLocks noGrp="1"/>
          </p:cNvGraphicFramePr>
          <p:nvPr>
            <p:extLst>
              <p:ext uri="{D42A27DB-BD31-4B8C-83A1-F6EECF244321}">
                <p14:modId xmlns:p14="http://schemas.microsoft.com/office/powerpoint/2010/main" val="832406775"/>
              </p:ext>
            </p:extLst>
          </p:nvPr>
        </p:nvGraphicFramePr>
        <p:xfrm>
          <a:off x="546537" y="3196595"/>
          <a:ext cx="10515600" cy="1097280"/>
        </p:xfrm>
        <a:graphic>
          <a:graphicData uri="http://schemas.openxmlformats.org/drawingml/2006/table">
            <a:tbl>
              <a:tblPr/>
              <a:tblGrid>
                <a:gridCol w="2628900">
                  <a:extLst>
                    <a:ext uri="{9D8B030D-6E8A-4147-A177-3AD203B41FA5}">
                      <a16:colId xmlns:a16="http://schemas.microsoft.com/office/drawing/2014/main" val="3135173979"/>
                    </a:ext>
                  </a:extLst>
                </a:gridCol>
                <a:gridCol w="2628900">
                  <a:extLst>
                    <a:ext uri="{9D8B030D-6E8A-4147-A177-3AD203B41FA5}">
                      <a16:colId xmlns:a16="http://schemas.microsoft.com/office/drawing/2014/main" val="3040642446"/>
                    </a:ext>
                  </a:extLst>
                </a:gridCol>
                <a:gridCol w="2628900">
                  <a:extLst>
                    <a:ext uri="{9D8B030D-6E8A-4147-A177-3AD203B41FA5}">
                      <a16:colId xmlns:a16="http://schemas.microsoft.com/office/drawing/2014/main" val="3090572687"/>
                    </a:ext>
                  </a:extLst>
                </a:gridCol>
                <a:gridCol w="2628900">
                  <a:extLst>
                    <a:ext uri="{9D8B030D-6E8A-4147-A177-3AD203B41FA5}">
                      <a16:colId xmlns:a16="http://schemas.microsoft.com/office/drawing/2014/main" val="1447558771"/>
                    </a:ext>
                  </a:extLst>
                </a:gridCol>
              </a:tblGrid>
              <a:tr h="0">
                <a:tc>
                  <a:txBody>
                    <a:bodyPr/>
                    <a:lstStyle/>
                    <a:p>
                      <a:pPr>
                        <a:buNone/>
                      </a:pPr>
                      <a:r>
                        <a:rPr lang="en-IN"/>
                        <a:t>Customer_ID</a:t>
                      </a:r>
                    </a:p>
                  </a:txBody>
                  <a:tcPr anchor="ctr">
                    <a:lnL>
                      <a:noFill/>
                    </a:lnL>
                    <a:lnR>
                      <a:noFill/>
                    </a:lnR>
                    <a:lnT>
                      <a:noFill/>
                    </a:lnT>
                    <a:lnB>
                      <a:noFill/>
                    </a:lnB>
                    <a:noFill/>
                  </a:tcPr>
                </a:tc>
                <a:tc>
                  <a:txBody>
                    <a:bodyPr/>
                    <a:lstStyle/>
                    <a:p>
                      <a:pPr>
                        <a:buNone/>
                      </a:pPr>
                      <a:r>
                        <a:rPr lang="en-IN"/>
                        <a:t>Name</a:t>
                      </a:r>
                    </a:p>
                  </a:txBody>
                  <a:tcPr anchor="ctr">
                    <a:lnL>
                      <a:noFill/>
                    </a:lnL>
                    <a:lnR>
                      <a:noFill/>
                    </a:lnR>
                    <a:lnT>
                      <a:noFill/>
                    </a:lnT>
                    <a:lnB>
                      <a:noFill/>
                    </a:lnB>
                    <a:noFill/>
                  </a:tcPr>
                </a:tc>
                <a:tc>
                  <a:txBody>
                    <a:bodyPr/>
                    <a:lstStyle/>
                    <a:p>
                      <a:pPr>
                        <a:buNone/>
                      </a:pPr>
                      <a:r>
                        <a:rPr lang="en-IN"/>
                        <a:t>Age</a:t>
                      </a:r>
                    </a:p>
                  </a:txBody>
                  <a:tcPr anchor="ctr">
                    <a:lnL>
                      <a:noFill/>
                    </a:lnL>
                    <a:lnR>
                      <a:noFill/>
                    </a:lnR>
                    <a:lnT>
                      <a:noFill/>
                    </a:lnT>
                    <a:lnB>
                      <a:noFill/>
                    </a:lnB>
                    <a:noFill/>
                  </a:tcPr>
                </a:tc>
                <a:tc>
                  <a:txBody>
                    <a:bodyPr/>
                    <a:lstStyle/>
                    <a:p>
                      <a:pPr>
                        <a:buNone/>
                      </a:pPr>
                      <a:r>
                        <a:rPr lang="en-IN"/>
                        <a:t>Purchase</a:t>
                      </a:r>
                    </a:p>
                  </a:txBody>
                  <a:tcPr anchor="ctr">
                    <a:lnL>
                      <a:noFill/>
                    </a:lnL>
                    <a:lnR>
                      <a:noFill/>
                    </a:lnR>
                    <a:lnT>
                      <a:noFill/>
                    </a:lnT>
                    <a:lnB>
                      <a:noFill/>
                    </a:lnB>
                    <a:noFill/>
                  </a:tcPr>
                </a:tc>
                <a:extLst>
                  <a:ext uri="{0D108BD9-81ED-4DB2-BD59-A6C34878D82A}">
                    <a16:rowId xmlns:a16="http://schemas.microsoft.com/office/drawing/2014/main" val="3588925731"/>
                  </a:ext>
                </a:extLst>
              </a:tr>
              <a:tr h="0">
                <a:tc>
                  <a:txBody>
                    <a:bodyPr/>
                    <a:lstStyle/>
                    <a:p>
                      <a:pPr>
                        <a:buNone/>
                      </a:pPr>
                      <a:r>
                        <a:rPr lang="en-IN"/>
                        <a:t>101</a:t>
                      </a:r>
                    </a:p>
                  </a:txBody>
                  <a:tcPr anchor="ctr">
                    <a:lnL>
                      <a:noFill/>
                    </a:lnL>
                    <a:lnR>
                      <a:noFill/>
                    </a:lnR>
                    <a:lnT>
                      <a:noFill/>
                    </a:lnT>
                    <a:lnB>
                      <a:noFill/>
                    </a:lnB>
                    <a:noFill/>
                  </a:tcPr>
                </a:tc>
                <a:tc>
                  <a:txBody>
                    <a:bodyPr/>
                    <a:lstStyle/>
                    <a:p>
                      <a:pPr>
                        <a:buNone/>
                      </a:pPr>
                      <a:r>
                        <a:rPr lang="en-IN"/>
                        <a:t>Ravi</a:t>
                      </a:r>
                    </a:p>
                  </a:txBody>
                  <a:tcPr anchor="ctr">
                    <a:lnL>
                      <a:noFill/>
                    </a:lnL>
                    <a:lnR>
                      <a:noFill/>
                    </a:lnR>
                    <a:lnT>
                      <a:noFill/>
                    </a:lnT>
                    <a:lnB>
                      <a:noFill/>
                    </a:lnB>
                    <a:noFill/>
                  </a:tcPr>
                </a:tc>
                <a:tc>
                  <a:txBody>
                    <a:bodyPr/>
                    <a:lstStyle/>
                    <a:p>
                      <a:pPr>
                        <a:buNone/>
                      </a:pPr>
                      <a:r>
                        <a:rPr lang="en-IN"/>
                        <a:t>25</a:t>
                      </a:r>
                    </a:p>
                  </a:txBody>
                  <a:tcPr anchor="ctr">
                    <a:lnL>
                      <a:noFill/>
                    </a:lnL>
                    <a:lnR>
                      <a:noFill/>
                    </a:lnR>
                    <a:lnT>
                      <a:noFill/>
                    </a:lnT>
                    <a:lnB>
                      <a:noFill/>
                    </a:lnB>
                    <a:noFill/>
                  </a:tcPr>
                </a:tc>
                <a:tc>
                  <a:txBody>
                    <a:bodyPr/>
                    <a:lstStyle/>
                    <a:p>
                      <a:pPr>
                        <a:buNone/>
                      </a:pPr>
                      <a:r>
                        <a:rPr lang="en-IN"/>
                        <a:t>Laptop</a:t>
                      </a:r>
                    </a:p>
                  </a:txBody>
                  <a:tcPr anchor="ctr">
                    <a:lnL>
                      <a:noFill/>
                    </a:lnL>
                    <a:lnR>
                      <a:noFill/>
                    </a:lnR>
                    <a:lnT>
                      <a:noFill/>
                    </a:lnT>
                    <a:lnB>
                      <a:noFill/>
                    </a:lnB>
                    <a:noFill/>
                  </a:tcPr>
                </a:tc>
                <a:extLst>
                  <a:ext uri="{0D108BD9-81ED-4DB2-BD59-A6C34878D82A}">
                    <a16:rowId xmlns:a16="http://schemas.microsoft.com/office/drawing/2014/main" val="1903635556"/>
                  </a:ext>
                </a:extLst>
              </a:tr>
              <a:tr h="0">
                <a:tc>
                  <a:txBody>
                    <a:bodyPr/>
                    <a:lstStyle/>
                    <a:p>
                      <a:pPr>
                        <a:buNone/>
                      </a:pPr>
                      <a:r>
                        <a:rPr lang="en-IN"/>
                        <a:t>102</a:t>
                      </a:r>
                    </a:p>
                  </a:txBody>
                  <a:tcPr anchor="ctr">
                    <a:lnL>
                      <a:noFill/>
                    </a:lnL>
                    <a:lnR>
                      <a:noFill/>
                    </a:lnR>
                    <a:lnT>
                      <a:noFill/>
                    </a:lnT>
                    <a:lnB>
                      <a:noFill/>
                    </a:lnB>
                    <a:noFill/>
                  </a:tcPr>
                </a:tc>
                <a:tc>
                  <a:txBody>
                    <a:bodyPr/>
                    <a:lstStyle/>
                    <a:p>
                      <a:pPr>
                        <a:buNone/>
                      </a:pPr>
                      <a:r>
                        <a:rPr lang="en-IN"/>
                        <a:t>Anu</a:t>
                      </a:r>
                    </a:p>
                  </a:txBody>
                  <a:tcPr anchor="ctr">
                    <a:lnL>
                      <a:noFill/>
                    </a:lnL>
                    <a:lnR>
                      <a:noFill/>
                    </a:lnR>
                    <a:lnT>
                      <a:noFill/>
                    </a:lnT>
                    <a:lnB>
                      <a:noFill/>
                    </a:lnB>
                    <a:noFill/>
                  </a:tcPr>
                </a:tc>
                <a:tc>
                  <a:txBody>
                    <a:bodyPr/>
                    <a:lstStyle/>
                    <a:p>
                      <a:pPr>
                        <a:buNone/>
                      </a:pPr>
                      <a:r>
                        <a:rPr lang="en-IN"/>
                        <a:t>28</a:t>
                      </a:r>
                    </a:p>
                  </a:txBody>
                  <a:tcPr anchor="ctr">
                    <a:lnL>
                      <a:noFill/>
                    </a:lnL>
                    <a:lnR>
                      <a:noFill/>
                    </a:lnR>
                    <a:lnT>
                      <a:noFill/>
                    </a:lnT>
                    <a:lnB>
                      <a:noFill/>
                    </a:lnB>
                    <a:noFill/>
                  </a:tcPr>
                </a:tc>
                <a:tc>
                  <a:txBody>
                    <a:bodyPr/>
                    <a:lstStyle/>
                    <a:p>
                      <a:pPr>
                        <a:buNone/>
                      </a:pPr>
                      <a:r>
                        <a:rPr lang="en-IN" dirty="0"/>
                        <a:t>Mobile</a:t>
                      </a:r>
                    </a:p>
                  </a:txBody>
                  <a:tcPr anchor="ctr">
                    <a:lnL>
                      <a:noFill/>
                    </a:lnL>
                    <a:lnR>
                      <a:noFill/>
                    </a:lnR>
                    <a:lnT>
                      <a:noFill/>
                    </a:lnT>
                    <a:lnB>
                      <a:noFill/>
                    </a:lnB>
                    <a:noFill/>
                  </a:tcPr>
                </a:tc>
                <a:extLst>
                  <a:ext uri="{0D108BD9-81ED-4DB2-BD59-A6C34878D82A}">
                    <a16:rowId xmlns:a16="http://schemas.microsoft.com/office/drawing/2014/main" val="4020555410"/>
                  </a:ext>
                </a:extLst>
              </a:tr>
            </a:tbl>
          </a:graphicData>
        </a:graphic>
      </p:graphicFrame>
      <p:sp>
        <p:nvSpPr>
          <p:cNvPr id="10" name="TextBox 9">
            <a:extLst>
              <a:ext uri="{FF2B5EF4-FFF2-40B4-BE49-F238E27FC236}">
                <a16:creationId xmlns:a16="http://schemas.microsoft.com/office/drawing/2014/main" id="{56815A2C-7A06-BCE3-A9EA-1CA15BE6967C}"/>
              </a:ext>
            </a:extLst>
          </p:cNvPr>
          <p:cNvSpPr txBox="1"/>
          <p:nvPr/>
        </p:nvSpPr>
        <p:spPr>
          <a:xfrm>
            <a:off x="546537" y="4607711"/>
            <a:ext cx="6096000" cy="1323439"/>
          </a:xfrm>
          <a:prstGeom prst="rect">
            <a:avLst/>
          </a:prstGeom>
          <a:noFill/>
        </p:spPr>
        <p:txBody>
          <a:bodyPr wrap="square">
            <a:spAutoFit/>
          </a:bodyPr>
          <a:lstStyle/>
          <a:p>
            <a:pPr>
              <a:buNone/>
            </a:pPr>
            <a:r>
              <a:rPr lang="en-IN" sz="2000" dirty="0">
                <a:latin typeface="Times New Roman" panose="02020603050405020304" pitchFamily="18" charset="0"/>
                <a:cs typeface="Times New Roman" panose="02020603050405020304" pitchFamily="18" charset="0"/>
              </a:rPr>
              <a:t>Examples: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Relational databases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Spreadsheets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Transaction records</a:t>
            </a:r>
          </a:p>
        </p:txBody>
      </p:sp>
    </p:spTree>
    <p:extLst>
      <p:ext uri="{BB962C8B-B14F-4D97-AF65-F5344CB8AC3E}">
        <p14:creationId xmlns:p14="http://schemas.microsoft.com/office/powerpoint/2010/main" val="15819266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24A2DA-0889-7F23-692A-B0D1E63B2785}"/>
              </a:ext>
            </a:extLst>
          </p:cNvPr>
          <p:cNvSpPr txBox="1"/>
          <p:nvPr/>
        </p:nvSpPr>
        <p:spPr>
          <a:xfrm>
            <a:off x="515007" y="700234"/>
            <a:ext cx="8692055" cy="5016758"/>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2. Semi-Structured Data</a:t>
            </a:r>
          </a:p>
          <a:p>
            <a:pPr>
              <a:buNone/>
            </a:pPr>
            <a:r>
              <a:rPr lang="en-US" sz="2000" dirty="0">
                <a:latin typeface="Times New Roman" panose="02020603050405020304" pitchFamily="18" charset="0"/>
                <a:cs typeface="Times New Roman" panose="02020603050405020304" pitchFamily="18" charset="0"/>
              </a:rPr>
              <a:t>Data that does not follow a strict table structure but contains tags, keys, or other organizational elements.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Examples: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JSON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XML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HTML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Application logs </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Example:</a:t>
            </a:r>
          </a:p>
          <a:p>
            <a:pPr rtl="0">
              <a:buNone/>
            </a:pPr>
            <a:r>
              <a:rPr lang="en-US" sz="2000" dirty="0">
                <a:latin typeface="Times New Roman" panose="02020603050405020304" pitchFamily="18" charset="0"/>
                <a:cs typeface="Times New Roman" panose="02020603050405020304" pitchFamily="18" charset="0"/>
              </a:rPr>
              <a:t>{</a:t>
            </a:r>
          </a:p>
          <a:p>
            <a:pPr rtl="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customer_id</a:t>
            </a:r>
            <a:r>
              <a:rPr lang="en-US" sz="2000" dirty="0">
                <a:latin typeface="Times New Roman" panose="02020603050405020304" pitchFamily="18" charset="0"/>
                <a:cs typeface="Times New Roman" panose="02020603050405020304" pitchFamily="18" charset="0"/>
              </a:rPr>
              <a:t>": 101,</a:t>
            </a:r>
          </a:p>
          <a:p>
            <a:pPr rtl="0">
              <a:buNone/>
            </a:pPr>
            <a:r>
              <a:rPr lang="en-US" sz="2000" dirty="0">
                <a:latin typeface="Times New Roman" panose="02020603050405020304" pitchFamily="18" charset="0"/>
                <a:cs typeface="Times New Roman" panose="02020603050405020304" pitchFamily="18" charset="0"/>
              </a:rPr>
              <a:t>    "product": "Laptop",</a:t>
            </a:r>
          </a:p>
          <a:p>
            <a:pPr rtl="0">
              <a:buNone/>
            </a:pPr>
            <a:r>
              <a:rPr lang="en-US" sz="2000" dirty="0">
                <a:latin typeface="Times New Roman" panose="02020603050405020304" pitchFamily="18" charset="0"/>
                <a:cs typeface="Times New Roman" panose="02020603050405020304" pitchFamily="18" charset="0"/>
              </a:rPr>
              <a:t>    "price": 50000</a:t>
            </a:r>
          </a:p>
          <a:p>
            <a:pPr rtl="0">
              <a:buNone/>
            </a:pP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9563273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26C243-CAD1-A70B-95A9-DA37992670AB}"/>
              </a:ext>
            </a:extLst>
          </p:cNvPr>
          <p:cNvSpPr txBox="1"/>
          <p:nvPr/>
        </p:nvSpPr>
        <p:spPr>
          <a:xfrm>
            <a:off x="588579" y="899077"/>
            <a:ext cx="9301655" cy="4031873"/>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3. Unstructured Data</a:t>
            </a:r>
          </a:p>
          <a:p>
            <a:pPr>
              <a:buNone/>
            </a:pPr>
            <a:r>
              <a:rPr lang="en-IN" sz="2000" dirty="0">
                <a:latin typeface="Times New Roman" panose="02020603050405020304" pitchFamily="18" charset="0"/>
                <a:cs typeface="Times New Roman" panose="02020603050405020304" pitchFamily="18" charset="0"/>
              </a:rPr>
              <a:t>Data that does not have a predefined data structure.</a:t>
            </a: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dirty="0">
                <a:latin typeface="Times New Roman" panose="02020603050405020304" pitchFamily="18" charset="0"/>
                <a:cs typeface="Times New Roman" panose="02020603050405020304" pitchFamily="18" charset="0"/>
              </a:rPr>
              <a:t>Examples: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Images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Videos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Audio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Emails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PDF documents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Social media posts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Text documents </a:t>
            </a:r>
          </a:p>
          <a:p>
            <a:pPr>
              <a:buNone/>
            </a:pPr>
            <a:br>
              <a:rPr lang="en-IN" dirty="0"/>
            </a:br>
            <a:endParaRPr lang="en-IN" dirty="0"/>
          </a:p>
        </p:txBody>
      </p:sp>
    </p:spTree>
    <p:extLst>
      <p:ext uri="{BB962C8B-B14F-4D97-AF65-F5344CB8AC3E}">
        <p14:creationId xmlns:p14="http://schemas.microsoft.com/office/powerpoint/2010/main" val="17366295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C9D2E0-AEF2-D280-0695-D5AE3F95CB51}"/>
              </a:ext>
            </a:extLst>
          </p:cNvPr>
          <p:cNvSpPr txBox="1"/>
          <p:nvPr/>
        </p:nvSpPr>
        <p:spPr>
          <a:xfrm>
            <a:off x="935421" y="248794"/>
            <a:ext cx="6096000" cy="6463308"/>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Example — Social Media</a:t>
            </a:r>
          </a:p>
          <a:p>
            <a:pPr>
              <a:buNone/>
            </a:pPr>
            <a:r>
              <a:rPr lang="en-IN" dirty="0">
                <a:latin typeface="Times New Roman" panose="02020603050405020304" pitchFamily="18" charset="0"/>
                <a:cs typeface="Times New Roman" panose="02020603050405020304" pitchFamily="18" charset="0"/>
              </a:rPr>
              <a:t>A social media platform can receive:</a:t>
            </a:r>
          </a:p>
          <a:p>
            <a:pPr rtl="0">
              <a:buNone/>
            </a:pPr>
            <a:r>
              <a:rPr lang="en-IN" dirty="0">
                <a:latin typeface="Times New Roman" panose="02020603050405020304" pitchFamily="18" charset="0"/>
                <a:cs typeface="Times New Roman" panose="02020603050405020304" pitchFamily="18" charset="0"/>
              </a:rPr>
              <a:t>Text</a:t>
            </a:r>
          </a:p>
          <a:p>
            <a:pPr rtl="0">
              <a:buNone/>
            </a:pPr>
            <a:r>
              <a:rPr lang="en-IN" dirty="0">
                <a:latin typeface="Times New Roman" panose="02020603050405020304" pitchFamily="18" charset="0"/>
                <a:cs typeface="Times New Roman" panose="02020603050405020304" pitchFamily="18" charset="0"/>
              </a:rPr>
              <a:t> ↓</a:t>
            </a:r>
          </a:p>
          <a:p>
            <a:pPr rtl="0">
              <a:buNone/>
            </a:pPr>
            <a:r>
              <a:rPr lang="en-IN" dirty="0">
                <a:latin typeface="Times New Roman" panose="02020603050405020304" pitchFamily="18" charset="0"/>
                <a:cs typeface="Times New Roman" panose="02020603050405020304" pitchFamily="18" charset="0"/>
              </a:rPr>
              <a:t>"Great product!"</a:t>
            </a:r>
          </a:p>
          <a:p>
            <a:pPr rtl="0">
              <a:buNone/>
            </a:pPr>
            <a:endParaRPr lang="en-IN" dirty="0">
              <a:latin typeface="Times New Roman" panose="02020603050405020304" pitchFamily="18" charset="0"/>
              <a:cs typeface="Times New Roman" panose="02020603050405020304" pitchFamily="18" charset="0"/>
            </a:endParaRPr>
          </a:p>
          <a:p>
            <a:pPr rtl="0">
              <a:buNone/>
            </a:pPr>
            <a:r>
              <a:rPr lang="en-IN" dirty="0">
                <a:latin typeface="Times New Roman" panose="02020603050405020304" pitchFamily="18" charset="0"/>
                <a:cs typeface="Times New Roman" panose="02020603050405020304" pitchFamily="18" charset="0"/>
              </a:rPr>
              <a:t>Image</a:t>
            </a:r>
          </a:p>
          <a:p>
            <a:pPr rtl="0">
              <a:buNone/>
            </a:pPr>
            <a:r>
              <a:rPr lang="en-IN" dirty="0">
                <a:latin typeface="Times New Roman" panose="02020603050405020304" pitchFamily="18" charset="0"/>
                <a:cs typeface="Times New Roman" panose="02020603050405020304" pitchFamily="18" charset="0"/>
              </a:rPr>
              <a:t> ↓</a:t>
            </a:r>
          </a:p>
          <a:p>
            <a:pPr rtl="0">
              <a:buNone/>
            </a:pPr>
            <a:r>
              <a:rPr lang="en-IN" dirty="0">
                <a:latin typeface="Times New Roman" panose="02020603050405020304" pitchFamily="18" charset="0"/>
                <a:cs typeface="Times New Roman" panose="02020603050405020304" pitchFamily="18" charset="0"/>
              </a:rPr>
              <a:t>Product photograph</a:t>
            </a:r>
          </a:p>
          <a:p>
            <a:pPr rtl="0">
              <a:buNone/>
            </a:pPr>
            <a:endParaRPr lang="en-IN" dirty="0">
              <a:latin typeface="Times New Roman" panose="02020603050405020304" pitchFamily="18" charset="0"/>
              <a:cs typeface="Times New Roman" panose="02020603050405020304" pitchFamily="18" charset="0"/>
            </a:endParaRPr>
          </a:p>
          <a:p>
            <a:pPr rtl="0">
              <a:buNone/>
            </a:pPr>
            <a:r>
              <a:rPr lang="en-IN" dirty="0">
                <a:latin typeface="Times New Roman" panose="02020603050405020304" pitchFamily="18" charset="0"/>
                <a:cs typeface="Times New Roman" panose="02020603050405020304" pitchFamily="18" charset="0"/>
              </a:rPr>
              <a:t>Video</a:t>
            </a:r>
          </a:p>
          <a:p>
            <a:pPr rtl="0">
              <a:buNone/>
            </a:pPr>
            <a:r>
              <a:rPr lang="en-IN" dirty="0">
                <a:latin typeface="Times New Roman" panose="02020603050405020304" pitchFamily="18" charset="0"/>
                <a:cs typeface="Times New Roman" panose="02020603050405020304" pitchFamily="18" charset="0"/>
              </a:rPr>
              <a:t> ↓</a:t>
            </a:r>
          </a:p>
          <a:p>
            <a:pPr rtl="0">
              <a:buNone/>
            </a:pPr>
            <a:r>
              <a:rPr lang="en-IN" dirty="0">
                <a:latin typeface="Times New Roman" panose="02020603050405020304" pitchFamily="18" charset="0"/>
                <a:cs typeface="Times New Roman" panose="02020603050405020304" pitchFamily="18" charset="0"/>
              </a:rPr>
              <a:t>Product demonstration</a:t>
            </a:r>
          </a:p>
          <a:p>
            <a:pPr rtl="0">
              <a:buNone/>
            </a:pPr>
            <a:endParaRPr lang="en-IN" dirty="0">
              <a:latin typeface="Times New Roman" panose="02020603050405020304" pitchFamily="18" charset="0"/>
              <a:cs typeface="Times New Roman" panose="02020603050405020304" pitchFamily="18" charset="0"/>
            </a:endParaRPr>
          </a:p>
          <a:p>
            <a:pPr rtl="0">
              <a:buNone/>
            </a:pPr>
            <a:r>
              <a:rPr lang="en-IN" dirty="0">
                <a:latin typeface="Times New Roman" panose="02020603050405020304" pitchFamily="18" charset="0"/>
                <a:cs typeface="Times New Roman" panose="02020603050405020304" pitchFamily="18" charset="0"/>
              </a:rPr>
              <a:t>Audio</a:t>
            </a:r>
          </a:p>
          <a:p>
            <a:pPr rtl="0">
              <a:buNone/>
            </a:pPr>
            <a:r>
              <a:rPr lang="en-IN" dirty="0">
                <a:latin typeface="Times New Roman" panose="02020603050405020304" pitchFamily="18" charset="0"/>
                <a:cs typeface="Times New Roman" panose="02020603050405020304" pitchFamily="18" charset="0"/>
              </a:rPr>
              <a:t> ↓</a:t>
            </a:r>
          </a:p>
          <a:p>
            <a:pPr rtl="0">
              <a:buNone/>
            </a:pPr>
            <a:r>
              <a:rPr lang="en-IN" dirty="0">
                <a:latin typeface="Times New Roman" panose="02020603050405020304" pitchFamily="18" charset="0"/>
                <a:cs typeface="Times New Roman" panose="02020603050405020304" pitchFamily="18" charset="0"/>
              </a:rPr>
              <a:t>Voice message</a:t>
            </a:r>
          </a:p>
          <a:p>
            <a:pPr rtl="0">
              <a:buNone/>
            </a:pPr>
            <a:endParaRPr lang="en-IN" dirty="0">
              <a:latin typeface="Times New Roman" panose="02020603050405020304" pitchFamily="18" charset="0"/>
              <a:cs typeface="Times New Roman" panose="02020603050405020304" pitchFamily="18" charset="0"/>
            </a:endParaRPr>
          </a:p>
          <a:p>
            <a:pPr rtl="0">
              <a:buNone/>
            </a:pPr>
            <a:r>
              <a:rPr lang="en-IN" dirty="0">
                <a:latin typeface="Times New Roman" panose="02020603050405020304" pitchFamily="18" charset="0"/>
                <a:cs typeface="Times New Roman" panose="02020603050405020304" pitchFamily="18" charset="0"/>
              </a:rPr>
              <a:t>Location</a:t>
            </a:r>
          </a:p>
          <a:p>
            <a:pPr rtl="0">
              <a:buNone/>
            </a:pPr>
            <a:r>
              <a:rPr lang="en-IN" dirty="0">
                <a:latin typeface="Times New Roman" panose="02020603050405020304" pitchFamily="18" charset="0"/>
                <a:cs typeface="Times New Roman" panose="02020603050405020304" pitchFamily="18" charset="0"/>
              </a:rPr>
              <a:t> ↓</a:t>
            </a:r>
          </a:p>
          <a:p>
            <a:pPr rtl="0">
              <a:buNone/>
            </a:pPr>
            <a:r>
              <a:rPr lang="en-IN" dirty="0">
                <a:latin typeface="Times New Roman" panose="02020603050405020304" pitchFamily="18" charset="0"/>
                <a:cs typeface="Times New Roman" panose="02020603050405020304" pitchFamily="18" charset="0"/>
              </a:rPr>
              <a:t>GPS coordinates</a:t>
            </a: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All these represent different forms of data.</a:t>
            </a:r>
          </a:p>
        </p:txBody>
      </p:sp>
      <p:sp>
        <p:nvSpPr>
          <p:cNvPr id="5" name="TextBox 4">
            <a:extLst>
              <a:ext uri="{FF2B5EF4-FFF2-40B4-BE49-F238E27FC236}">
                <a16:creationId xmlns:a16="http://schemas.microsoft.com/office/drawing/2014/main" id="{6574F99D-AAEB-DC2B-7BDF-BF294AA51BCE}"/>
              </a:ext>
            </a:extLst>
          </p:cNvPr>
          <p:cNvSpPr txBox="1"/>
          <p:nvPr/>
        </p:nvSpPr>
        <p:spPr>
          <a:xfrm>
            <a:off x="5591503" y="3674155"/>
            <a:ext cx="6096000" cy="646331"/>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Variety answers the question: “What different types and formats of data are being generated?”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98385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4553E5-C03B-52FB-78A5-20F2CFF4C577}"/>
              </a:ext>
            </a:extLst>
          </p:cNvPr>
          <p:cNvSpPr txBox="1"/>
          <p:nvPr/>
        </p:nvSpPr>
        <p:spPr>
          <a:xfrm>
            <a:off x="441434" y="442391"/>
            <a:ext cx="11414235" cy="5940088"/>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Veracity</a:t>
            </a:r>
          </a:p>
          <a:p>
            <a:pPr>
              <a:buNone/>
            </a:pPr>
            <a:r>
              <a:rPr lang="en-US" sz="2000" b="1" dirty="0">
                <a:latin typeface="Times New Roman" panose="02020603050405020304" pitchFamily="18" charset="0"/>
                <a:cs typeface="Times New Roman" panose="02020603050405020304" pitchFamily="18" charset="0"/>
              </a:rPr>
              <a:t>Veracity refers to the quality, accuracy, consistency, reliability, and trustworthiness of data.</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Big Data can contain large amounts of inaccurate, incomplete, duplicated, or inconsistent information.</a:t>
            </a:r>
          </a:p>
          <a:p>
            <a:pPr>
              <a:buNone/>
            </a:pPr>
            <a:r>
              <a:rPr lang="en-US" sz="2000" dirty="0">
                <a:latin typeface="Times New Roman" panose="02020603050405020304" pitchFamily="18" charset="0"/>
                <a:cs typeface="Times New Roman" panose="02020603050405020304" pitchFamily="18" charset="0"/>
              </a:rPr>
              <a:t>Therefore, organizations need to evaluate and clean data before using it for analysis and decision-making.</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Common Data Quality Problems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Big Data may contain: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Missing values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Incorrect values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Duplicate records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Inconsistent information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Outdated information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Fake information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Noisy data</a:t>
            </a:r>
          </a:p>
        </p:txBody>
      </p:sp>
      <p:sp>
        <p:nvSpPr>
          <p:cNvPr id="5" name="TextBox 4">
            <a:extLst>
              <a:ext uri="{FF2B5EF4-FFF2-40B4-BE49-F238E27FC236}">
                <a16:creationId xmlns:a16="http://schemas.microsoft.com/office/drawing/2014/main" id="{BE299978-F7CA-5806-8DD1-861089AD81F6}"/>
              </a:ext>
            </a:extLst>
          </p:cNvPr>
          <p:cNvSpPr txBox="1"/>
          <p:nvPr/>
        </p:nvSpPr>
        <p:spPr>
          <a:xfrm>
            <a:off x="441433" y="1279662"/>
            <a:ext cx="10983311"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Veracity answers the question: “How accurate, reliable, and trustworthy is the data?”</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855865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1B30AA-C345-8349-B72B-9D5069C8E316}"/>
              </a:ext>
            </a:extLst>
          </p:cNvPr>
          <p:cNvSpPr txBox="1"/>
          <p:nvPr/>
        </p:nvSpPr>
        <p:spPr>
          <a:xfrm>
            <a:off x="367862" y="302199"/>
            <a:ext cx="6096000" cy="707886"/>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Example — Customer Data</a:t>
            </a:r>
          </a:p>
          <a:p>
            <a:pPr>
              <a:buNone/>
            </a:pPr>
            <a:r>
              <a:rPr lang="en-IN" sz="2000" dirty="0">
                <a:latin typeface="Times New Roman" panose="02020603050405020304" pitchFamily="18" charset="0"/>
                <a:cs typeface="Times New Roman" panose="02020603050405020304" pitchFamily="18" charset="0"/>
              </a:rPr>
              <a:t>Suppose a database contains:</a:t>
            </a:r>
          </a:p>
        </p:txBody>
      </p:sp>
      <p:graphicFrame>
        <p:nvGraphicFramePr>
          <p:cNvPr id="4" name="Table 3">
            <a:extLst>
              <a:ext uri="{FF2B5EF4-FFF2-40B4-BE49-F238E27FC236}">
                <a16:creationId xmlns:a16="http://schemas.microsoft.com/office/drawing/2014/main" id="{9D6D2885-6FAD-84BC-56B2-73CF7E9C6A7F}"/>
              </a:ext>
            </a:extLst>
          </p:cNvPr>
          <p:cNvGraphicFramePr>
            <a:graphicFrameLocks noGrp="1"/>
          </p:cNvGraphicFramePr>
          <p:nvPr>
            <p:extLst>
              <p:ext uri="{D42A27DB-BD31-4B8C-83A1-F6EECF244321}">
                <p14:modId xmlns:p14="http://schemas.microsoft.com/office/powerpoint/2010/main" val="3247840297"/>
              </p:ext>
            </p:extLst>
          </p:nvPr>
        </p:nvGraphicFramePr>
        <p:xfrm>
          <a:off x="367862" y="941972"/>
          <a:ext cx="10515600" cy="1828800"/>
        </p:xfrm>
        <a:graphic>
          <a:graphicData uri="http://schemas.openxmlformats.org/drawingml/2006/table">
            <a:tbl>
              <a:tblPr/>
              <a:tblGrid>
                <a:gridCol w="5257800">
                  <a:extLst>
                    <a:ext uri="{9D8B030D-6E8A-4147-A177-3AD203B41FA5}">
                      <a16:colId xmlns:a16="http://schemas.microsoft.com/office/drawing/2014/main" val="3036560332"/>
                    </a:ext>
                  </a:extLst>
                </a:gridCol>
                <a:gridCol w="5257800">
                  <a:extLst>
                    <a:ext uri="{9D8B030D-6E8A-4147-A177-3AD203B41FA5}">
                      <a16:colId xmlns:a16="http://schemas.microsoft.com/office/drawing/2014/main" val="543918418"/>
                    </a:ext>
                  </a:extLst>
                </a:gridCol>
              </a:tblGrid>
              <a:tr h="0">
                <a:tc>
                  <a:txBody>
                    <a:bodyPr/>
                    <a:lstStyle/>
                    <a:p>
                      <a:pPr>
                        <a:buNone/>
                      </a:pPr>
                      <a:r>
                        <a:rPr lang="en-IN" b="1"/>
                        <a:t>Customer</a:t>
                      </a:r>
                    </a:p>
                  </a:txBody>
                  <a:tcPr anchor="ctr">
                    <a:lnL>
                      <a:noFill/>
                    </a:lnL>
                    <a:lnR>
                      <a:noFill/>
                    </a:lnR>
                    <a:lnT>
                      <a:noFill/>
                    </a:lnT>
                    <a:lnB>
                      <a:noFill/>
                    </a:lnB>
                    <a:noFill/>
                  </a:tcPr>
                </a:tc>
                <a:tc>
                  <a:txBody>
                    <a:bodyPr/>
                    <a:lstStyle/>
                    <a:p>
                      <a:pPr>
                        <a:buNone/>
                      </a:pPr>
                      <a:r>
                        <a:rPr lang="en-IN" b="1" dirty="0"/>
                        <a:t>Age</a:t>
                      </a:r>
                    </a:p>
                  </a:txBody>
                  <a:tcPr anchor="ctr">
                    <a:lnL>
                      <a:noFill/>
                    </a:lnL>
                    <a:lnR>
                      <a:noFill/>
                    </a:lnR>
                    <a:lnT>
                      <a:noFill/>
                    </a:lnT>
                    <a:lnB>
                      <a:noFill/>
                    </a:lnB>
                    <a:noFill/>
                  </a:tcPr>
                </a:tc>
                <a:extLst>
                  <a:ext uri="{0D108BD9-81ED-4DB2-BD59-A6C34878D82A}">
                    <a16:rowId xmlns:a16="http://schemas.microsoft.com/office/drawing/2014/main" val="233291480"/>
                  </a:ext>
                </a:extLst>
              </a:tr>
              <a:tr h="0">
                <a:tc>
                  <a:txBody>
                    <a:bodyPr/>
                    <a:lstStyle/>
                    <a:p>
                      <a:pPr>
                        <a:buNone/>
                      </a:pPr>
                      <a:r>
                        <a:rPr lang="en-IN"/>
                        <a:t>Ravi</a:t>
                      </a:r>
                    </a:p>
                  </a:txBody>
                  <a:tcPr anchor="ctr">
                    <a:lnL>
                      <a:noFill/>
                    </a:lnL>
                    <a:lnR>
                      <a:noFill/>
                    </a:lnR>
                    <a:lnT>
                      <a:noFill/>
                    </a:lnT>
                    <a:lnB>
                      <a:noFill/>
                    </a:lnB>
                    <a:noFill/>
                  </a:tcPr>
                </a:tc>
                <a:tc>
                  <a:txBody>
                    <a:bodyPr/>
                    <a:lstStyle/>
                    <a:p>
                      <a:pPr>
                        <a:buNone/>
                      </a:pPr>
                      <a:r>
                        <a:rPr lang="en-IN"/>
                        <a:t>25</a:t>
                      </a:r>
                    </a:p>
                  </a:txBody>
                  <a:tcPr anchor="ctr">
                    <a:lnL>
                      <a:noFill/>
                    </a:lnL>
                    <a:lnR>
                      <a:noFill/>
                    </a:lnR>
                    <a:lnT>
                      <a:noFill/>
                    </a:lnT>
                    <a:lnB>
                      <a:noFill/>
                    </a:lnB>
                    <a:noFill/>
                  </a:tcPr>
                </a:tc>
                <a:extLst>
                  <a:ext uri="{0D108BD9-81ED-4DB2-BD59-A6C34878D82A}">
                    <a16:rowId xmlns:a16="http://schemas.microsoft.com/office/drawing/2014/main" val="1556759973"/>
                  </a:ext>
                </a:extLst>
              </a:tr>
              <a:tr h="0">
                <a:tc>
                  <a:txBody>
                    <a:bodyPr/>
                    <a:lstStyle/>
                    <a:p>
                      <a:pPr>
                        <a:buNone/>
                      </a:pPr>
                      <a:r>
                        <a:rPr lang="en-IN" dirty="0"/>
                        <a:t>Anu</a:t>
                      </a:r>
                    </a:p>
                  </a:txBody>
                  <a:tcPr anchor="ctr">
                    <a:lnL>
                      <a:noFill/>
                    </a:lnL>
                    <a:lnR>
                      <a:noFill/>
                    </a:lnR>
                    <a:lnT>
                      <a:noFill/>
                    </a:lnT>
                    <a:lnB>
                      <a:noFill/>
                    </a:lnB>
                    <a:noFill/>
                  </a:tcPr>
                </a:tc>
                <a:tc>
                  <a:txBody>
                    <a:bodyPr/>
                    <a:lstStyle/>
                    <a:p>
                      <a:pPr>
                        <a:buNone/>
                      </a:pPr>
                      <a:r>
                        <a:rPr lang="en-IN"/>
                        <a:t>30</a:t>
                      </a:r>
                    </a:p>
                  </a:txBody>
                  <a:tcPr anchor="ctr">
                    <a:lnL>
                      <a:noFill/>
                    </a:lnL>
                    <a:lnR>
                      <a:noFill/>
                    </a:lnR>
                    <a:lnT>
                      <a:noFill/>
                    </a:lnT>
                    <a:lnB>
                      <a:noFill/>
                    </a:lnB>
                    <a:noFill/>
                  </a:tcPr>
                </a:tc>
                <a:extLst>
                  <a:ext uri="{0D108BD9-81ED-4DB2-BD59-A6C34878D82A}">
                    <a16:rowId xmlns:a16="http://schemas.microsoft.com/office/drawing/2014/main" val="1514898341"/>
                  </a:ext>
                </a:extLst>
              </a:tr>
              <a:tr h="0">
                <a:tc>
                  <a:txBody>
                    <a:bodyPr/>
                    <a:lstStyle/>
                    <a:p>
                      <a:pPr>
                        <a:buNone/>
                      </a:pPr>
                      <a:r>
                        <a:rPr lang="en-IN"/>
                        <a:t>Kumar</a:t>
                      </a:r>
                    </a:p>
                  </a:txBody>
                  <a:tcPr anchor="ctr">
                    <a:lnL>
                      <a:noFill/>
                    </a:lnL>
                    <a:lnR>
                      <a:noFill/>
                    </a:lnR>
                    <a:lnT>
                      <a:noFill/>
                    </a:lnT>
                    <a:lnB>
                      <a:noFill/>
                    </a:lnB>
                    <a:noFill/>
                  </a:tcPr>
                </a:tc>
                <a:tc>
                  <a:txBody>
                    <a:bodyPr/>
                    <a:lstStyle/>
                    <a:p>
                      <a:pPr>
                        <a:buNone/>
                      </a:pPr>
                      <a:r>
                        <a:rPr lang="en-IN"/>
                        <a:t>250</a:t>
                      </a:r>
                    </a:p>
                  </a:txBody>
                  <a:tcPr anchor="ctr">
                    <a:lnL>
                      <a:noFill/>
                    </a:lnL>
                    <a:lnR>
                      <a:noFill/>
                    </a:lnR>
                    <a:lnT>
                      <a:noFill/>
                    </a:lnT>
                    <a:lnB>
                      <a:noFill/>
                    </a:lnB>
                    <a:noFill/>
                  </a:tcPr>
                </a:tc>
                <a:extLst>
                  <a:ext uri="{0D108BD9-81ED-4DB2-BD59-A6C34878D82A}">
                    <a16:rowId xmlns:a16="http://schemas.microsoft.com/office/drawing/2014/main" val="2824361449"/>
                  </a:ext>
                </a:extLst>
              </a:tr>
              <a:tr h="0">
                <a:tc>
                  <a:txBody>
                    <a:bodyPr/>
                    <a:lstStyle/>
                    <a:p>
                      <a:pPr>
                        <a:buNone/>
                      </a:pPr>
                      <a:r>
                        <a:rPr lang="en-IN"/>
                        <a:t>Priya</a:t>
                      </a:r>
                    </a:p>
                  </a:txBody>
                  <a:tcPr anchor="ctr">
                    <a:lnL>
                      <a:noFill/>
                    </a:lnL>
                    <a:lnR>
                      <a:noFill/>
                    </a:lnR>
                    <a:lnT>
                      <a:noFill/>
                    </a:lnT>
                    <a:lnB>
                      <a:noFill/>
                    </a:lnB>
                    <a:noFill/>
                  </a:tcPr>
                </a:tc>
                <a:tc>
                  <a:txBody>
                    <a:bodyPr/>
                    <a:lstStyle/>
                    <a:p>
                      <a:pPr>
                        <a:buNone/>
                      </a:pPr>
                      <a:r>
                        <a:rPr lang="en-IN" dirty="0"/>
                        <a:t>—</a:t>
                      </a:r>
                    </a:p>
                  </a:txBody>
                  <a:tcPr anchor="ctr">
                    <a:lnL>
                      <a:noFill/>
                    </a:lnL>
                    <a:lnR>
                      <a:noFill/>
                    </a:lnR>
                    <a:lnT>
                      <a:noFill/>
                    </a:lnT>
                    <a:lnB>
                      <a:noFill/>
                    </a:lnB>
                    <a:noFill/>
                  </a:tcPr>
                </a:tc>
                <a:extLst>
                  <a:ext uri="{0D108BD9-81ED-4DB2-BD59-A6C34878D82A}">
                    <a16:rowId xmlns:a16="http://schemas.microsoft.com/office/drawing/2014/main" val="47070047"/>
                  </a:ext>
                </a:extLst>
              </a:tr>
            </a:tbl>
          </a:graphicData>
        </a:graphic>
      </p:graphicFrame>
      <p:sp>
        <p:nvSpPr>
          <p:cNvPr id="6" name="TextBox 5">
            <a:extLst>
              <a:ext uri="{FF2B5EF4-FFF2-40B4-BE49-F238E27FC236}">
                <a16:creationId xmlns:a16="http://schemas.microsoft.com/office/drawing/2014/main" id="{290DFCF5-2B19-02E9-3CCE-A485D9FE9CFB}"/>
              </a:ext>
            </a:extLst>
          </p:cNvPr>
          <p:cNvSpPr txBox="1"/>
          <p:nvPr/>
        </p:nvSpPr>
        <p:spPr>
          <a:xfrm>
            <a:off x="283779" y="2770772"/>
            <a:ext cx="8389883" cy="3785652"/>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Here:</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250</a:t>
            </a:r>
            <a:r>
              <a:rPr lang="en-US" sz="2000" dirty="0">
                <a:latin typeface="Times New Roman" panose="02020603050405020304" pitchFamily="18" charset="0"/>
                <a:cs typeface="Times New Roman" panose="02020603050405020304" pitchFamily="18" charset="0"/>
              </a:rPr>
              <a:t> may be an incorrect age/data. </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represents missing data. </a:t>
            </a:r>
          </a:p>
          <a:p>
            <a:pPr>
              <a:buNone/>
            </a:pPr>
            <a:r>
              <a:rPr lang="en-US" sz="2000" dirty="0">
                <a:latin typeface="Times New Roman" panose="02020603050405020304" pitchFamily="18" charset="0"/>
                <a:cs typeface="Times New Roman" panose="02020603050405020304" pitchFamily="18" charset="0"/>
              </a:rPr>
              <a:t>If the organization uses this data without checking it, the analysis may produce incorrect results.</a:t>
            </a:r>
          </a:p>
          <a:p>
            <a:pPr>
              <a:buNone/>
            </a:pPr>
            <a:r>
              <a:rPr lang="en-US" sz="2000" b="1" dirty="0">
                <a:latin typeface="Times New Roman" panose="02020603050405020304" pitchFamily="18" charset="0"/>
                <a:cs typeface="Times New Roman" panose="02020603050405020304" pitchFamily="18" charset="0"/>
              </a:rPr>
              <a:t>Example — Product Reviews</a:t>
            </a:r>
          </a:p>
          <a:p>
            <a:pPr>
              <a:buNone/>
            </a:pPr>
            <a:r>
              <a:rPr lang="en-US" sz="2000" dirty="0">
                <a:latin typeface="Times New Roman" panose="02020603050405020304" pitchFamily="18" charset="0"/>
                <a:cs typeface="Times New Roman" panose="02020603050405020304" pitchFamily="18" charset="0"/>
              </a:rPr>
              <a:t>Suppose an online shopping website has:</a:t>
            </a:r>
          </a:p>
          <a:p>
            <a:pPr rtl="0">
              <a:buNone/>
            </a:pPr>
            <a:r>
              <a:rPr lang="en-US" sz="2000" dirty="0">
                <a:latin typeface="Times New Roman" panose="02020603050405020304" pitchFamily="18" charset="0"/>
                <a:cs typeface="Times New Roman" panose="02020603050405020304" pitchFamily="18" charset="0"/>
              </a:rPr>
              <a:t>100 genuine reviews</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50 fake reviews</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Review Analysis</a:t>
            </a:r>
          </a:p>
        </p:txBody>
      </p:sp>
      <p:sp>
        <p:nvSpPr>
          <p:cNvPr id="8" name="TextBox 7">
            <a:extLst>
              <a:ext uri="{FF2B5EF4-FFF2-40B4-BE49-F238E27FC236}">
                <a16:creationId xmlns:a16="http://schemas.microsoft.com/office/drawing/2014/main" id="{DF2D0DB1-8660-6E44-E41D-AFF22D44194C}"/>
              </a:ext>
            </a:extLst>
          </p:cNvPr>
          <p:cNvSpPr txBox="1"/>
          <p:nvPr/>
        </p:nvSpPr>
        <p:spPr>
          <a:xfrm>
            <a:off x="4382814" y="5694007"/>
            <a:ext cx="6096000" cy="707886"/>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If fake reviews are not identified, the company may make incorrect decisions about product quality.</a:t>
            </a:r>
          </a:p>
        </p:txBody>
      </p:sp>
    </p:spTree>
    <p:extLst>
      <p:ext uri="{BB962C8B-B14F-4D97-AF65-F5344CB8AC3E}">
        <p14:creationId xmlns:p14="http://schemas.microsoft.com/office/powerpoint/2010/main" val="26735313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BDBF8D-DE68-B790-F8B0-6737BFBAFDB8}"/>
              </a:ext>
            </a:extLst>
          </p:cNvPr>
          <p:cNvSpPr txBox="1"/>
          <p:nvPr/>
        </p:nvSpPr>
        <p:spPr>
          <a:xfrm>
            <a:off x="294290" y="175397"/>
            <a:ext cx="11309131" cy="1631216"/>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Value</a:t>
            </a:r>
          </a:p>
          <a:p>
            <a:pPr>
              <a:buNone/>
            </a:pPr>
            <a:r>
              <a:rPr lang="en-US" sz="2000" b="1" dirty="0">
                <a:latin typeface="Times New Roman" panose="02020603050405020304" pitchFamily="18" charset="0"/>
                <a:cs typeface="Times New Roman" panose="02020603050405020304" pitchFamily="18" charset="0"/>
              </a:rPr>
              <a:t>Value refers to the useful information, insights, and benefits that organizations obtain by analyzing Big Data.</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Simply collecting and storing a huge amount of data does not provide benefits by itself.</a:t>
            </a:r>
          </a:p>
          <a:p>
            <a:pPr>
              <a:buNone/>
            </a:pPr>
            <a:r>
              <a:rPr lang="en-US" sz="2000" dirty="0">
                <a:latin typeface="Times New Roman" panose="02020603050405020304" pitchFamily="18" charset="0"/>
                <a:cs typeface="Times New Roman" panose="02020603050405020304" pitchFamily="18" charset="0"/>
              </a:rPr>
              <a:t>The real objective is to </a:t>
            </a:r>
            <a:r>
              <a:rPr lang="en-US" sz="2000" b="1" dirty="0">
                <a:latin typeface="Times New Roman" panose="02020603050405020304" pitchFamily="18" charset="0"/>
                <a:cs typeface="Times New Roman" panose="02020603050405020304" pitchFamily="18" charset="0"/>
              </a:rPr>
              <a:t>extract meaningful insights from data and use them for decision-making</a:t>
            </a:r>
            <a:r>
              <a:rPr lang="en-US" sz="20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3E3823B0-68D9-C437-A3B2-307C245B6860}"/>
              </a:ext>
            </a:extLst>
          </p:cNvPr>
          <p:cNvSpPr txBox="1"/>
          <p:nvPr/>
        </p:nvSpPr>
        <p:spPr>
          <a:xfrm>
            <a:off x="294290" y="1806613"/>
            <a:ext cx="10490757" cy="4708981"/>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Example — E-Commerce</a:t>
            </a:r>
          </a:p>
          <a:p>
            <a:pPr>
              <a:buNone/>
            </a:pPr>
            <a:r>
              <a:rPr lang="en-US" sz="2000" dirty="0">
                <a:latin typeface="Times New Roman" panose="02020603050405020304" pitchFamily="18" charset="0"/>
                <a:cs typeface="Times New Roman" panose="02020603050405020304" pitchFamily="18" charset="0"/>
              </a:rPr>
              <a:t>Suppose an e-commerce company analyzes millions of customer transactions.</a:t>
            </a:r>
          </a:p>
          <a:p>
            <a:pPr>
              <a:buNone/>
            </a:pPr>
            <a:r>
              <a:rPr lang="en-US" sz="2000" dirty="0">
                <a:latin typeface="Times New Roman" panose="02020603050405020304" pitchFamily="18" charset="0"/>
                <a:cs typeface="Times New Roman" panose="02020603050405020304" pitchFamily="18" charset="0"/>
              </a:rPr>
              <a:t>It discovers:</a:t>
            </a:r>
          </a:p>
          <a:p>
            <a:pPr rtl="0">
              <a:buNone/>
            </a:pPr>
            <a:r>
              <a:rPr lang="en-US" sz="2000" dirty="0">
                <a:latin typeface="Times New Roman" panose="02020603050405020304" pitchFamily="18" charset="0"/>
                <a:cs typeface="Times New Roman" panose="02020603050405020304" pitchFamily="18" charset="0"/>
              </a:rPr>
              <a:t>Customer purchase history</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       Analysis</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Customers frequently buy</a:t>
            </a:r>
          </a:p>
          <a:p>
            <a:pPr rtl="0">
              <a:buNone/>
            </a:pPr>
            <a:r>
              <a:rPr lang="en-US" sz="2000" dirty="0">
                <a:latin typeface="Times New Roman" panose="02020603050405020304" pitchFamily="18" charset="0"/>
                <a:cs typeface="Times New Roman" panose="02020603050405020304" pitchFamily="18" charset="0"/>
              </a:rPr>
              <a:t>laptops + laptop bags</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Product recommendation</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Increased sales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 useful business outcome represents </a:t>
            </a:r>
            <a:r>
              <a:rPr lang="en-US" sz="2000" b="1" dirty="0">
                <a:latin typeface="Times New Roman" panose="02020603050405020304" pitchFamily="18" charset="0"/>
                <a:cs typeface="Times New Roman" panose="02020603050405020304" pitchFamily="18" charset="0"/>
              </a:rPr>
              <a:t>Value</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705338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8A80A8-A8D2-2EDE-9D17-808BCC85B965}"/>
              </a:ext>
            </a:extLst>
          </p:cNvPr>
          <p:cNvSpPr txBox="1"/>
          <p:nvPr/>
        </p:nvSpPr>
        <p:spPr>
          <a:xfrm>
            <a:off x="294290" y="999439"/>
            <a:ext cx="11603420" cy="440120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Example — Banking</a:t>
            </a:r>
          </a:p>
          <a:p>
            <a:pPr>
              <a:buNone/>
            </a:pPr>
            <a:r>
              <a:rPr lang="en-US" sz="2000" dirty="0">
                <a:latin typeface="Times New Roman" panose="02020603050405020304" pitchFamily="18" charset="0"/>
                <a:cs typeface="Times New Roman" panose="02020603050405020304" pitchFamily="18" charset="0"/>
              </a:rPr>
              <a:t>A bank analyzes transaction data and identifies unusual patterns.</a:t>
            </a:r>
          </a:p>
          <a:p>
            <a:pPr rtl="0">
              <a:buNone/>
            </a:pPr>
            <a:r>
              <a:rPr lang="en-US" sz="2000" dirty="0">
                <a:latin typeface="Times New Roman" panose="02020603050405020304" pitchFamily="18" charset="0"/>
                <a:cs typeface="Times New Roman" panose="02020603050405020304" pitchFamily="18" charset="0"/>
              </a:rPr>
              <a:t>Transaction Data</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Big Data Analysis</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Unusual transaction detected</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Possible fraud</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Alert generated</a:t>
            </a:r>
          </a:p>
          <a:p>
            <a:pPr>
              <a:buNone/>
            </a:pPr>
            <a:r>
              <a:rPr lang="en-US" sz="2000" dirty="0">
                <a:latin typeface="Times New Roman" panose="02020603050405020304" pitchFamily="18" charset="0"/>
                <a:cs typeface="Times New Roman" panose="02020603050405020304" pitchFamily="18" charset="0"/>
              </a:rPr>
              <a:t>The ability to detect fraud provides </a:t>
            </a:r>
            <a:r>
              <a:rPr lang="en-US" sz="2000" b="1" dirty="0">
                <a:latin typeface="Times New Roman" panose="02020603050405020304" pitchFamily="18" charset="0"/>
                <a:cs typeface="Times New Roman" panose="02020603050405020304" pitchFamily="18" charset="0"/>
              </a:rPr>
              <a:t>value</a:t>
            </a:r>
            <a:r>
              <a:rPr lang="en-US" sz="2000" dirty="0">
                <a:latin typeface="Times New Roman" panose="02020603050405020304" pitchFamily="18" charset="0"/>
                <a:cs typeface="Times New Roman" panose="02020603050405020304" pitchFamily="18" charset="0"/>
              </a:rPr>
              <a:t> to the organization.</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Value answers the question: “What useful information or benefit can be obtained from the data?”</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46288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7AED5-AC8D-6872-4011-69D5BB98C415}"/>
              </a:ext>
            </a:extLst>
          </p:cNvPr>
          <p:cNvSpPr>
            <a:spLocks noGrp="1"/>
          </p:cNvSpPr>
          <p:nvPr>
            <p:ph type="title"/>
          </p:nvPr>
        </p:nvSpPr>
        <p:spPr>
          <a:xfrm>
            <a:off x="754117" y="-170902"/>
            <a:ext cx="10515600" cy="1325563"/>
          </a:xfrm>
        </p:spPr>
        <p:txBody>
          <a:bodyPr>
            <a:normAutofit/>
          </a:bodyPr>
          <a:lstStyle/>
          <a:p>
            <a:r>
              <a:rPr lang="en-US" sz="2200" b="1" dirty="0">
                <a:solidFill>
                  <a:srgbClr val="FF0000"/>
                </a:solidFill>
                <a:latin typeface="Times New Roman" panose="02020603050405020304" pitchFamily="18" charset="0"/>
                <a:cs typeface="Times New Roman" panose="02020603050405020304" pitchFamily="18" charset="0"/>
              </a:rPr>
              <a:t>Big Data Ecosystem and Tools</a:t>
            </a:r>
            <a:endParaRPr lang="en-IN" sz="2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61C2CEB-0E72-5650-F5B5-FA736DCE933F}"/>
              </a:ext>
            </a:extLst>
          </p:cNvPr>
          <p:cNvSpPr>
            <a:spLocks noGrp="1"/>
          </p:cNvSpPr>
          <p:nvPr>
            <p:ph idx="1"/>
          </p:nvPr>
        </p:nvSpPr>
        <p:spPr>
          <a:xfrm>
            <a:off x="754117" y="1005818"/>
            <a:ext cx="10683766" cy="4351338"/>
          </a:xfrm>
        </p:spPr>
        <p:txBody>
          <a:bodyPr/>
          <a:lstStyle/>
          <a:p>
            <a:pPr marL="0" indent="0">
              <a:buNone/>
            </a:pPr>
            <a:r>
              <a:rPr lang="en-US" sz="2000" dirty="0">
                <a:latin typeface="Times New Roman" panose="02020603050405020304" pitchFamily="18" charset="0"/>
                <a:cs typeface="Times New Roman" panose="02020603050405020304" pitchFamily="18" charset="0"/>
              </a:rPr>
              <a:t>The Big Data ecosystem is not a single tool. It is a collection of technologies that work together to handle Big Data from its source to the final decision.</a:t>
            </a:r>
          </a:p>
          <a:p>
            <a:pPr marL="0" indent="0">
              <a:buNone/>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Big Data Ecosystem</a:t>
            </a:r>
            <a:r>
              <a:rPr lang="en-US" sz="2000" dirty="0">
                <a:latin typeface="Times New Roman" panose="02020603050405020304" pitchFamily="18" charset="0"/>
                <a:cs typeface="Times New Roman" panose="02020603050405020304" pitchFamily="18" charset="0"/>
              </a:rPr>
              <a:t> is a collection of technologies, tools, platforms, and frameworks used to </a:t>
            </a:r>
            <a:r>
              <a:rPr lang="en-US" sz="2000" b="1" dirty="0">
                <a:latin typeface="Times New Roman" panose="02020603050405020304" pitchFamily="18" charset="0"/>
                <a:cs typeface="Times New Roman" panose="02020603050405020304" pitchFamily="18" charset="0"/>
              </a:rPr>
              <a:t>collect, store, process, analyze, and visualize large and complex datasets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In simple words:</a:t>
            </a:r>
          </a:p>
          <a:p>
            <a:r>
              <a:rPr lang="en-US" sz="2000" b="1" dirty="0">
                <a:latin typeface="Times New Roman" panose="02020603050405020304" pitchFamily="18" charset="0"/>
                <a:cs typeface="Times New Roman" panose="02020603050405020304" pitchFamily="18" charset="0"/>
              </a:rPr>
              <a:t>Big Data Ecosystem = Different tools working together to manage Big Data.</a:t>
            </a:r>
            <a:endParaRPr lang="en-US" sz="20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TextBox 4">
            <a:extLst>
              <a:ext uri="{FF2B5EF4-FFF2-40B4-BE49-F238E27FC236}">
                <a16:creationId xmlns:a16="http://schemas.microsoft.com/office/drawing/2014/main" id="{4C82B34D-3B9E-FEDF-96B4-89209637F9D9}"/>
              </a:ext>
            </a:extLst>
          </p:cNvPr>
          <p:cNvSpPr txBox="1"/>
          <p:nvPr/>
        </p:nvSpPr>
        <p:spPr>
          <a:xfrm>
            <a:off x="651641" y="3194625"/>
            <a:ext cx="6096000" cy="347787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Why do we need an ecosystem?</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Big Data has the 5Vs: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Large volume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velocity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Variety of data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quality challenges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Need to extract value </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Therefore, a single tool is generally not enough.</a:t>
            </a:r>
          </a:p>
          <a:p>
            <a:pPr>
              <a:buNone/>
            </a:pPr>
            <a:r>
              <a:rPr lang="en-US" sz="2000" dirty="0">
                <a:latin typeface="Times New Roman" panose="02020603050405020304" pitchFamily="18" charset="0"/>
                <a:cs typeface="Times New Roman" panose="02020603050405020304" pitchFamily="18" charset="0"/>
              </a:rPr>
              <a:t>Different tools are used for different stages.</a:t>
            </a:r>
          </a:p>
        </p:txBody>
      </p:sp>
    </p:spTree>
    <p:extLst>
      <p:ext uri="{BB962C8B-B14F-4D97-AF65-F5344CB8AC3E}">
        <p14:creationId xmlns:p14="http://schemas.microsoft.com/office/powerpoint/2010/main" val="61599366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FF7D42-B944-AEA9-184B-50B0ED8F0B89}"/>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307507648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055B58-ABE3-4884-2DF1-31612F52317E}"/>
              </a:ext>
            </a:extLst>
          </p:cNvPr>
          <p:cNvSpPr txBox="1"/>
          <p:nvPr/>
        </p:nvSpPr>
        <p:spPr>
          <a:xfrm>
            <a:off x="294289" y="330333"/>
            <a:ext cx="11351173" cy="5601533"/>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Layer 1 — Data Sources</a:t>
            </a: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Data Sources are the places or systems from which data is generated.</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In simple words:</a:t>
            </a:r>
          </a:p>
          <a:p>
            <a:pPr>
              <a:buNone/>
            </a:pPr>
            <a:r>
              <a:rPr lang="en-US" sz="2000" b="1" dirty="0">
                <a:latin typeface="Times New Roman" panose="02020603050405020304" pitchFamily="18" charset="0"/>
                <a:cs typeface="Times New Roman" panose="02020603050405020304" pitchFamily="18" charset="0"/>
              </a:rPr>
              <a:t>Data Sources = Where does the data come from?</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Before doing anything with Big Data, we need data.</a:t>
            </a:r>
          </a:p>
          <a:p>
            <a:pPr>
              <a:buNone/>
            </a:pPr>
            <a:r>
              <a:rPr lang="en-US" sz="2000" b="1" dirty="0">
                <a:latin typeface="Times New Roman" panose="02020603050405020304" pitchFamily="18" charset="0"/>
                <a:cs typeface="Times New Roman" panose="02020603050405020304" pitchFamily="18" charset="0"/>
              </a:rPr>
              <a:t>Examples of Data Sources</a:t>
            </a:r>
          </a:p>
          <a:p>
            <a:pPr>
              <a:buNone/>
            </a:pPr>
            <a:r>
              <a:rPr lang="en-US" sz="2000" dirty="0">
                <a:latin typeface="Times New Roman" panose="02020603050405020304" pitchFamily="18" charset="0"/>
                <a:cs typeface="Times New Roman" panose="02020603050405020304" pitchFamily="18" charset="0"/>
              </a:rPr>
              <a:t>Data can come from:</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Websites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Mobile applications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Social media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Sensors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IoT devices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Banking systems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E-commerce transactions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GPS devices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Application logs </a:t>
            </a:r>
          </a:p>
          <a:p>
            <a:pPr>
              <a:buNone/>
            </a:pPr>
            <a:endParaRPr lang="en-US" dirty="0"/>
          </a:p>
        </p:txBody>
      </p:sp>
      <p:sp>
        <p:nvSpPr>
          <p:cNvPr id="7" name="TextBox 6">
            <a:extLst>
              <a:ext uri="{FF2B5EF4-FFF2-40B4-BE49-F238E27FC236}">
                <a16:creationId xmlns:a16="http://schemas.microsoft.com/office/drawing/2014/main" id="{69434343-59C2-7C82-F550-178B176F5695}"/>
              </a:ext>
            </a:extLst>
          </p:cNvPr>
          <p:cNvSpPr txBox="1"/>
          <p:nvPr/>
        </p:nvSpPr>
        <p:spPr>
          <a:xfrm>
            <a:off x="5801711" y="1818686"/>
            <a:ext cx="6096000" cy="4708981"/>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E-commerce Example</a:t>
            </a:r>
          </a:p>
          <a:p>
            <a:pPr>
              <a:buNone/>
            </a:pPr>
            <a:r>
              <a:rPr lang="en-US" sz="2000" dirty="0">
                <a:latin typeface="Times New Roman" panose="02020603050405020304" pitchFamily="18" charset="0"/>
                <a:cs typeface="Times New Roman" panose="02020603050405020304" pitchFamily="18" charset="0"/>
              </a:rPr>
              <a:t>Suppose a customer opens an online shopping app.</a:t>
            </a:r>
          </a:p>
          <a:p>
            <a:pPr>
              <a:buNone/>
            </a:pPr>
            <a:r>
              <a:rPr lang="en-US" sz="2000" dirty="0">
                <a:latin typeface="Times New Roman" panose="02020603050405020304" pitchFamily="18" charset="0"/>
                <a:cs typeface="Times New Roman" panose="02020603050405020304" pitchFamily="18" charset="0"/>
              </a:rPr>
              <a:t>The customer:</a:t>
            </a:r>
          </a:p>
          <a:p>
            <a:pPr rtl="0">
              <a:buNone/>
            </a:pPr>
            <a:r>
              <a:rPr lang="en-US" sz="2000" dirty="0">
                <a:latin typeface="Times New Roman" panose="02020603050405020304" pitchFamily="18" charset="0"/>
                <a:cs typeface="Times New Roman" panose="02020603050405020304" pitchFamily="18" charset="0"/>
              </a:rPr>
              <a:t>Searches for a laptop</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Views a product</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Adds it to cart</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Makes payment</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Writes a review</a:t>
            </a:r>
          </a:p>
          <a:p>
            <a:pPr>
              <a:buNone/>
            </a:pPr>
            <a:r>
              <a:rPr lang="en-US" sz="2000" dirty="0">
                <a:latin typeface="Times New Roman" panose="02020603050405020304" pitchFamily="18" charset="0"/>
                <a:cs typeface="Times New Roman" panose="02020603050405020304" pitchFamily="18" charset="0"/>
              </a:rPr>
              <a:t>Every activity generates data.</a:t>
            </a:r>
          </a:p>
          <a:p>
            <a:pPr>
              <a:buNone/>
            </a:pPr>
            <a:r>
              <a:rPr lang="en-US" sz="2000" dirty="0">
                <a:latin typeface="Times New Roman" panose="02020603050405020304" pitchFamily="18" charset="0"/>
                <a:cs typeface="Times New Roman" panose="02020603050405020304" pitchFamily="18" charset="0"/>
              </a:rPr>
              <a:t>So, the </a:t>
            </a:r>
            <a:r>
              <a:rPr lang="en-US" sz="2000" b="1" dirty="0">
                <a:latin typeface="Times New Roman" panose="02020603050405020304" pitchFamily="18" charset="0"/>
                <a:cs typeface="Times New Roman" panose="02020603050405020304" pitchFamily="18" charset="0"/>
              </a:rPr>
              <a:t>website and mobile application are data sources</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289880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592CFF-56DC-B161-08EA-A1D98802E071}"/>
              </a:ext>
            </a:extLst>
          </p:cNvPr>
          <p:cNvSpPr txBox="1"/>
          <p:nvPr/>
        </p:nvSpPr>
        <p:spPr>
          <a:xfrm>
            <a:off x="252247" y="176582"/>
            <a:ext cx="11498318" cy="3477875"/>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Layer 2 — Data Ingestion</a:t>
            </a:r>
          </a:p>
          <a:p>
            <a:pPr>
              <a:buNone/>
            </a:pPr>
            <a:r>
              <a:rPr lang="en-US" sz="2000" b="1" dirty="0">
                <a:latin typeface="Times New Roman" panose="02020603050405020304" pitchFamily="18" charset="0"/>
                <a:cs typeface="Times New Roman" panose="02020603050405020304" pitchFamily="18" charset="0"/>
              </a:rPr>
              <a:t>“We have data coming from websites, mobile apps, sensors, and other sources. How do we bring all this data into our Big Data system?”</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Answer:</a:t>
            </a:r>
          </a:p>
          <a:p>
            <a:pPr>
              <a:buNone/>
            </a:pPr>
            <a:r>
              <a:rPr lang="en-US" sz="2000" b="1" dirty="0">
                <a:latin typeface="Times New Roman" panose="02020603050405020304" pitchFamily="18" charset="0"/>
                <a:cs typeface="Times New Roman" panose="02020603050405020304" pitchFamily="18" charset="0"/>
              </a:rPr>
              <a:t>Data Ingestion.</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Data ingestion is the process of collecting and transferring data from different sources into a system for storage and processing.</a:t>
            </a:r>
            <a:endParaRPr lang="en-US" sz="2000" dirty="0">
              <a:latin typeface="Times New Roman" panose="02020603050405020304" pitchFamily="18" charset="0"/>
              <a:cs typeface="Times New Roman" panose="02020603050405020304" pitchFamily="18" charset="0"/>
            </a:endParaRP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In simple words:</a:t>
            </a:r>
          </a:p>
          <a:p>
            <a:pPr>
              <a:buNone/>
            </a:pPr>
            <a:r>
              <a:rPr lang="en-US" sz="2000" b="1" dirty="0">
                <a:latin typeface="Times New Roman" panose="02020603050405020304" pitchFamily="18" charset="0"/>
                <a:cs typeface="Times New Roman" panose="02020603050405020304" pitchFamily="18" charset="0"/>
              </a:rPr>
              <a:t>Data Ingestion = Bringing data into the Big Data system.</a:t>
            </a: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1596EBE-D023-A33B-EE50-552B52747F69}"/>
              </a:ext>
            </a:extLst>
          </p:cNvPr>
          <p:cNvSpPr txBox="1"/>
          <p:nvPr/>
        </p:nvSpPr>
        <p:spPr>
          <a:xfrm>
            <a:off x="882870" y="3718679"/>
            <a:ext cx="6096000" cy="3447098"/>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Example</a:t>
            </a:r>
          </a:p>
          <a:p>
            <a:pPr rtl="0">
              <a:buNone/>
            </a:pPr>
            <a:r>
              <a:rPr lang="en-IN" sz="2000" dirty="0">
                <a:latin typeface="Times New Roman" panose="02020603050405020304" pitchFamily="18" charset="0"/>
                <a:cs typeface="Times New Roman" panose="02020603050405020304" pitchFamily="18" charset="0"/>
              </a:rPr>
              <a:t>Website ───────┐</a:t>
            </a:r>
          </a:p>
          <a:p>
            <a:pPr rtl="0">
              <a:buNone/>
            </a:pPr>
            <a:r>
              <a:rPr lang="en-IN" sz="2000" dirty="0">
                <a:latin typeface="Times New Roman" panose="02020603050405020304" pitchFamily="18" charset="0"/>
                <a:cs typeface="Times New Roman" panose="02020603050405020304" pitchFamily="18" charset="0"/>
              </a:rPr>
              <a:t>Mobile App ────┤</a:t>
            </a:r>
          </a:p>
          <a:p>
            <a:pPr rtl="0">
              <a:buNone/>
            </a:pPr>
            <a:r>
              <a:rPr lang="en-IN" sz="2000" dirty="0">
                <a:latin typeface="Times New Roman" panose="02020603050405020304" pitchFamily="18" charset="0"/>
                <a:cs typeface="Times New Roman" panose="02020603050405020304" pitchFamily="18" charset="0"/>
              </a:rPr>
              <a:t>Sensors ───────┤</a:t>
            </a:r>
          </a:p>
          <a:p>
            <a:pPr rtl="0">
              <a:buNone/>
            </a:pPr>
            <a:r>
              <a:rPr lang="en-IN" sz="2000" dirty="0">
                <a:latin typeface="Times New Roman" panose="02020603050405020304" pitchFamily="18" charset="0"/>
                <a:cs typeface="Times New Roman" panose="02020603050405020304" pitchFamily="18" charset="0"/>
              </a:rPr>
              <a:t>Social Media ──┤</a:t>
            </a:r>
          </a:p>
          <a:p>
            <a:pPr rtl="0">
              <a:buNone/>
            </a:pPr>
            <a:r>
              <a:rPr lang="en-IN" sz="2000" dirty="0">
                <a:latin typeface="Times New Roman" panose="02020603050405020304" pitchFamily="18" charset="0"/>
                <a:cs typeface="Times New Roman" panose="02020603050405020304" pitchFamily="18" charset="0"/>
              </a:rPr>
              <a:t>Transactions ──┘</a:t>
            </a:r>
          </a:p>
          <a:p>
            <a:pPr rtl="0">
              <a:buNone/>
            </a:pPr>
            <a:r>
              <a:rPr lang="en-IN" sz="2000" dirty="0">
                <a:latin typeface="Times New Roman" panose="02020603050405020304" pitchFamily="18" charset="0"/>
                <a:cs typeface="Times New Roman" panose="02020603050405020304" pitchFamily="18" charset="0"/>
              </a:rPr>
              <a:t>       ↓</a:t>
            </a:r>
          </a:p>
          <a:p>
            <a:pPr rtl="0">
              <a:buNone/>
            </a:pPr>
            <a:r>
              <a:rPr lang="en-IN" sz="2000" dirty="0">
                <a:latin typeface="Times New Roman" panose="02020603050405020304" pitchFamily="18" charset="0"/>
                <a:cs typeface="Times New Roman" panose="02020603050405020304" pitchFamily="18" charset="0"/>
              </a:rPr>
              <a:t> Data Ingestion</a:t>
            </a:r>
          </a:p>
          <a:p>
            <a:pPr rtl="0">
              <a:buNone/>
            </a:pPr>
            <a:r>
              <a:rPr lang="en-IN" sz="2000" dirty="0">
                <a:latin typeface="Times New Roman" panose="02020603050405020304" pitchFamily="18" charset="0"/>
                <a:cs typeface="Times New Roman" panose="02020603050405020304" pitchFamily="18" charset="0"/>
              </a:rPr>
              <a:t>       ↓</a:t>
            </a:r>
          </a:p>
          <a:p>
            <a:pPr rtl="0">
              <a:buNone/>
            </a:pPr>
            <a:r>
              <a:rPr lang="en-IN" sz="2000" dirty="0">
                <a:latin typeface="Times New Roman" panose="02020603050405020304" pitchFamily="18" charset="0"/>
                <a:cs typeface="Times New Roman" panose="02020603050405020304" pitchFamily="18" charset="0"/>
              </a:rPr>
              <a:t> Big Data System</a:t>
            </a:r>
          </a:p>
          <a:p>
            <a:pPr>
              <a:buNone/>
            </a:pPr>
            <a:endParaRPr lang="en-IN" dirty="0"/>
          </a:p>
        </p:txBody>
      </p:sp>
      <p:sp>
        <p:nvSpPr>
          <p:cNvPr id="7" name="TextBox 6">
            <a:extLst>
              <a:ext uri="{FF2B5EF4-FFF2-40B4-BE49-F238E27FC236}">
                <a16:creationId xmlns:a16="http://schemas.microsoft.com/office/drawing/2014/main" id="{B0239EF0-40A0-796E-A2E0-CEDFD47F7C4B}"/>
              </a:ext>
            </a:extLst>
          </p:cNvPr>
          <p:cNvSpPr txBox="1"/>
          <p:nvPr/>
        </p:nvSpPr>
        <p:spPr>
          <a:xfrm>
            <a:off x="5654565" y="4104740"/>
            <a:ext cx="6096000" cy="1631216"/>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Tools</a:t>
            </a:r>
          </a:p>
          <a:p>
            <a:pPr>
              <a:buNone/>
            </a:pPr>
            <a:r>
              <a:rPr lang="en-IN" sz="2000" dirty="0">
                <a:latin typeface="Times New Roman" panose="02020603050405020304" pitchFamily="18" charset="0"/>
                <a:cs typeface="Times New Roman" panose="02020603050405020304" pitchFamily="18" charset="0"/>
              </a:rPr>
              <a:t>Common tools include:</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Apache Kafka</a:t>
            </a:r>
            <a:r>
              <a:rPr lang="en-IN"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Apache </a:t>
            </a:r>
            <a:r>
              <a:rPr lang="en-IN" sz="2000" b="1" dirty="0" err="1">
                <a:latin typeface="Times New Roman" panose="02020603050405020304" pitchFamily="18" charset="0"/>
                <a:cs typeface="Times New Roman" panose="02020603050405020304" pitchFamily="18" charset="0"/>
              </a:rPr>
              <a:t>NiFi</a:t>
            </a:r>
            <a:r>
              <a:rPr lang="en-IN"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Apache Flume</a:t>
            </a:r>
            <a:r>
              <a:rPr lang="en-IN"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567652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B54A30-97D6-4817-DC7C-A58CAF18306B}"/>
              </a:ext>
            </a:extLst>
          </p:cNvPr>
          <p:cNvSpPr txBox="1"/>
          <p:nvPr/>
        </p:nvSpPr>
        <p:spPr>
          <a:xfrm>
            <a:off x="273268" y="171493"/>
            <a:ext cx="11666483" cy="2831544"/>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Layer 3 — Data Storage</a:t>
            </a:r>
          </a:p>
          <a:p>
            <a:pPr>
              <a:buNone/>
            </a:pPr>
            <a:r>
              <a:rPr lang="en-US" sz="2000" b="1" dirty="0">
                <a:latin typeface="Times New Roman" panose="02020603050405020304" pitchFamily="18" charset="0"/>
                <a:cs typeface="Times New Roman" panose="02020603050405020304" pitchFamily="18" charset="0"/>
              </a:rPr>
              <a:t>“After collecting all this data, where do we keep it?”</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Answer:</a:t>
            </a:r>
          </a:p>
          <a:p>
            <a:pPr>
              <a:buNone/>
            </a:pPr>
            <a:r>
              <a:rPr lang="en-US" sz="2000" b="1" dirty="0">
                <a:latin typeface="Times New Roman" panose="02020603050405020304" pitchFamily="18" charset="0"/>
                <a:cs typeface="Times New Roman" panose="02020603050405020304" pitchFamily="18" charset="0"/>
              </a:rPr>
              <a:t>Data Storage.</a:t>
            </a: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Data storage is the process of storing large amounts of data so that it can be accessed and processed when required.</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In simple words:</a:t>
            </a:r>
          </a:p>
          <a:p>
            <a:pPr>
              <a:buNone/>
            </a:pPr>
            <a:r>
              <a:rPr lang="en-US" sz="2000" b="1" dirty="0">
                <a:latin typeface="Times New Roman" panose="02020603050405020304" pitchFamily="18" charset="0"/>
                <a:cs typeface="Times New Roman" panose="02020603050405020304" pitchFamily="18" charset="0"/>
              </a:rPr>
              <a:t>Data Storage = Where do we keep the data?</a:t>
            </a:r>
            <a:endParaRPr lang="en-US" sz="2000" dirty="0">
              <a:latin typeface="Times New Roman" panose="02020603050405020304" pitchFamily="18" charset="0"/>
              <a:cs typeface="Times New Roman" panose="02020603050405020304" pitchFamily="18" charset="0"/>
            </a:endParaRPr>
          </a:p>
          <a:p>
            <a:pPr>
              <a:buNone/>
            </a:pPr>
            <a:endParaRPr lang="en-US" dirty="0"/>
          </a:p>
        </p:txBody>
      </p:sp>
      <p:sp>
        <p:nvSpPr>
          <p:cNvPr id="7" name="TextBox 6">
            <a:extLst>
              <a:ext uri="{FF2B5EF4-FFF2-40B4-BE49-F238E27FC236}">
                <a16:creationId xmlns:a16="http://schemas.microsoft.com/office/drawing/2014/main" id="{8B4D209A-54C3-2A89-AE56-B3D7802CE3BC}"/>
              </a:ext>
            </a:extLst>
          </p:cNvPr>
          <p:cNvSpPr txBox="1"/>
          <p:nvPr/>
        </p:nvSpPr>
        <p:spPr>
          <a:xfrm>
            <a:off x="273268" y="3003037"/>
            <a:ext cx="6096000" cy="3170099"/>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Examples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HDFS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Cloud storage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Amazon S3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NoSQL databases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lakes </a:t>
            </a:r>
          </a:p>
          <a:p>
            <a:pPr>
              <a:buNone/>
            </a:pPr>
            <a:endParaRPr lang="en-IN" sz="2000" b="1"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HDFS Example</a:t>
            </a:r>
          </a:p>
          <a:p>
            <a:pPr>
              <a:buNone/>
            </a:pPr>
            <a:r>
              <a:rPr lang="en-IN" sz="2000" dirty="0">
                <a:latin typeface="Times New Roman" panose="02020603050405020304" pitchFamily="18" charset="0"/>
                <a:cs typeface="Times New Roman" panose="02020603050405020304" pitchFamily="18" charset="0"/>
              </a:rPr>
              <a:t>HDFS stands for:</a:t>
            </a:r>
          </a:p>
          <a:p>
            <a:pPr>
              <a:buNone/>
            </a:pPr>
            <a:r>
              <a:rPr lang="en-IN" sz="2000" b="1" dirty="0">
                <a:latin typeface="Times New Roman" panose="02020603050405020304" pitchFamily="18" charset="0"/>
                <a:cs typeface="Times New Roman" panose="02020603050405020304" pitchFamily="18" charset="0"/>
              </a:rPr>
              <a:t>Hadoop Distributed File System</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8479928-EA50-10AD-789F-EB600825CFBB}"/>
              </a:ext>
            </a:extLst>
          </p:cNvPr>
          <p:cNvSpPr txBox="1"/>
          <p:nvPr/>
        </p:nvSpPr>
        <p:spPr>
          <a:xfrm>
            <a:off x="5202621" y="3429000"/>
            <a:ext cx="6096000" cy="3170099"/>
          </a:xfrm>
          <a:prstGeom prst="rect">
            <a:avLst/>
          </a:prstGeom>
          <a:noFill/>
        </p:spPr>
        <p:txBody>
          <a:bodyPr wrap="square">
            <a:spAutoFit/>
          </a:bodyPr>
          <a:lstStyle/>
          <a:p>
            <a:pPr>
              <a:buNone/>
            </a:pPr>
            <a:r>
              <a:rPr lang="en-IN" sz="2000" dirty="0">
                <a:latin typeface="Times New Roman" panose="02020603050405020304" pitchFamily="18" charset="0"/>
                <a:cs typeface="Times New Roman" panose="02020603050405020304" pitchFamily="18" charset="0"/>
              </a:rPr>
              <a:t>It stores large datasets across multiple machines.</a:t>
            </a: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dirty="0">
                <a:latin typeface="Times New Roman" panose="02020603050405020304" pitchFamily="18" charset="0"/>
                <a:cs typeface="Times New Roman" panose="02020603050405020304" pitchFamily="18" charset="0"/>
              </a:rPr>
              <a:t>This is called </a:t>
            </a:r>
            <a:r>
              <a:rPr lang="en-IN" sz="2000" b="1" dirty="0">
                <a:latin typeface="Times New Roman" panose="02020603050405020304" pitchFamily="18" charset="0"/>
                <a:cs typeface="Times New Roman" panose="02020603050405020304" pitchFamily="18" charset="0"/>
              </a:rPr>
              <a:t>distributed storage</a:t>
            </a:r>
            <a:r>
              <a:rPr lang="en-IN" sz="2000" dirty="0">
                <a:latin typeface="Times New Roman" panose="02020603050405020304" pitchFamily="18" charset="0"/>
                <a:cs typeface="Times New Roman" panose="02020603050405020304" pitchFamily="18" charset="0"/>
              </a:rPr>
              <a:t>.</a:t>
            </a:r>
          </a:p>
        </p:txBody>
      </p:sp>
      <p:pic>
        <p:nvPicPr>
          <p:cNvPr id="11" name="Picture 10">
            <a:extLst>
              <a:ext uri="{FF2B5EF4-FFF2-40B4-BE49-F238E27FC236}">
                <a16:creationId xmlns:a16="http://schemas.microsoft.com/office/drawing/2014/main" id="{33E1478B-C392-E04A-6037-81C7A4CC7BE9}"/>
              </a:ext>
            </a:extLst>
          </p:cNvPr>
          <p:cNvPicPr>
            <a:picLocks noChangeAspect="1"/>
          </p:cNvPicPr>
          <p:nvPr/>
        </p:nvPicPr>
        <p:blipFill>
          <a:blip r:embed="rId2"/>
          <a:stretch>
            <a:fillRect/>
          </a:stretch>
        </p:blipFill>
        <p:spPr>
          <a:xfrm>
            <a:off x="5775314" y="3924421"/>
            <a:ext cx="3864691" cy="2179256"/>
          </a:xfrm>
          <a:prstGeom prst="rect">
            <a:avLst/>
          </a:prstGeom>
        </p:spPr>
      </p:pic>
    </p:spTree>
    <p:extLst>
      <p:ext uri="{BB962C8B-B14F-4D97-AF65-F5344CB8AC3E}">
        <p14:creationId xmlns:p14="http://schemas.microsoft.com/office/powerpoint/2010/main" val="19062072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47D850-ECBD-9ACA-7ECC-831ED015EE4E}"/>
              </a:ext>
            </a:extLst>
          </p:cNvPr>
          <p:cNvSpPr txBox="1"/>
          <p:nvPr/>
        </p:nvSpPr>
        <p:spPr>
          <a:xfrm>
            <a:off x="147145" y="168165"/>
            <a:ext cx="11382704" cy="2246769"/>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Layer 4 — Data Processing</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“We have stored billions of records. Can we directly analyze all this raw data?”</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Usually, we first need to </a:t>
            </a:r>
            <a:r>
              <a:rPr lang="en-US" sz="2000" b="1" dirty="0">
                <a:latin typeface="Times New Roman" panose="02020603050405020304" pitchFamily="18" charset="0"/>
                <a:cs typeface="Times New Roman" panose="02020603050405020304" pitchFamily="18" charset="0"/>
              </a:rPr>
              <a:t>process and transform</a:t>
            </a:r>
            <a:r>
              <a:rPr lang="en-US" sz="2000" dirty="0">
                <a:latin typeface="Times New Roman" panose="02020603050405020304" pitchFamily="18" charset="0"/>
                <a:cs typeface="Times New Roman" panose="02020603050405020304" pitchFamily="18" charset="0"/>
              </a:rPr>
              <a:t> it.</a:t>
            </a: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Data processing is the process of transforming raw data into a useful and organized form for analysis.</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In simple words:</a:t>
            </a:r>
          </a:p>
          <a:p>
            <a:pPr>
              <a:buNone/>
            </a:pPr>
            <a:r>
              <a:rPr lang="en-US" sz="2000" b="1" dirty="0">
                <a:latin typeface="Times New Roman" panose="02020603050405020304" pitchFamily="18" charset="0"/>
                <a:cs typeface="Times New Roman" panose="02020603050405020304" pitchFamily="18" charset="0"/>
              </a:rPr>
              <a:t>Data Processing = Convert raw data into usable data.</a:t>
            </a: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E82AAF4-BC43-2301-3BEF-C9327D7D7032}"/>
              </a:ext>
            </a:extLst>
          </p:cNvPr>
          <p:cNvSpPr txBox="1"/>
          <p:nvPr/>
        </p:nvSpPr>
        <p:spPr>
          <a:xfrm>
            <a:off x="147145" y="2586501"/>
            <a:ext cx="6096000" cy="3447098"/>
          </a:xfrm>
          <a:prstGeom prst="rect">
            <a:avLst/>
          </a:prstGeom>
          <a:noFill/>
        </p:spPr>
        <p:txBody>
          <a:bodyPr wrap="square">
            <a:spAutoFit/>
          </a:bodyPr>
          <a:lstStyle/>
          <a:p>
            <a:pPr>
              <a:buNone/>
            </a:pPr>
            <a:r>
              <a:rPr lang="en-IN" sz="2000" b="1">
                <a:latin typeface="Times New Roman" panose="02020603050405020304" pitchFamily="18" charset="0"/>
                <a:cs typeface="Times New Roman" panose="02020603050405020304" pitchFamily="18" charset="0"/>
              </a:rPr>
              <a:t>Example</a:t>
            </a:r>
          </a:p>
          <a:p>
            <a:pPr>
              <a:buNone/>
            </a:pPr>
            <a:r>
              <a:rPr lang="en-IN" sz="2000">
                <a:latin typeface="Times New Roman" panose="02020603050405020304" pitchFamily="18" charset="0"/>
                <a:cs typeface="Times New Roman" panose="02020603050405020304" pitchFamily="18" charset="0"/>
              </a:rPr>
              <a:t>Suppose we have raw transactions:</a:t>
            </a:r>
          </a:p>
          <a:p>
            <a:pPr rtl="0">
              <a:buNone/>
            </a:pPr>
            <a:r>
              <a:rPr lang="en-IN" sz="2000">
                <a:latin typeface="Times New Roman" panose="02020603050405020304" pitchFamily="18" charset="0"/>
                <a:cs typeface="Times New Roman" panose="02020603050405020304" pitchFamily="18" charset="0"/>
              </a:rPr>
              <a:t>Order 101 → Laptop → ₹50,000</a:t>
            </a:r>
          </a:p>
          <a:p>
            <a:pPr rtl="0">
              <a:buNone/>
            </a:pPr>
            <a:r>
              <a:rPr lang="en-IN" sz="2000">
                <a:latin typeface="Times New Roman" panose="02020603050405020304" pitchFamily="18" charset="0"/>
                <a:cs typeface="Times New Roman" panose="02020603050405020304" pitchFamily="18" charset="0"/>
              </a:rPr>
              <a:t>Order 102 → Phone  → ₹30,000</a:t>
            </a:r>
          </a:p>
          <a:p>
            <a:pPr rtl="0">
              <a:buNone/>
            </a:pPr>
            <a:r>
              <a:rPr lang="en-IN" sz="2000">
                <a:latin typeface="Times New Roman" panose="02020603050405020304" pitchFamily="18" charset="0"/>
                <a:cs typeface="Times New Roman" panose="02020603050405020304" pitchFamily="18" charset="0"/>
              </a:rPr>
              <a:t>Order 103 → Laptop → ₹50,000</a:t>
            </a:r>
          </a:p>
          <a:p>
            <a:pPr rtl="0">
              <a:buNone/>
            </a:pPr>
            <a:r>
              <a:rPr lang="en-IN" sz="2000">
                <a:latin typeface="Times New Roman" panose="02020603050405020304" pitchFamily="18" charset="0"/>
                <a:cs typeface="Times New Roman" panose="02020603050405020304" pitchFamily="18" charset="0"/>
              </a:rPr>
              <a:t>Order 104 → Tablet → ₹20,000</a:t>
            </a:r>
          </a:p>
          <a:p>
            <a:pPr>
              <a:buNone/>
            </a:pPr>
            <a:r>
              <a:rPr lang="en-IN" sz="2000">
                <a:latin typeface="Times New Roman" panose="02020603050405020304" pitchFamily="18" charset="0"/>
                <a:cs typeface="Times New Roman" panose="02020603050405020304" pitchFamily="18" charset="0"/>
              </a:rPr>
              <a:t>Processing can help us calculate:</a:t>
            </a:r>
          </a:p>
          <a:p>
            <a:pPr rtl="0">
              <a:buNone/>
            </a:pPr>
            <a:r>
              <a:rPr lang="en-IN" sz="2000">
                <a:latin typeface="Times New Roman" panose="02020603050405020304" pitchFamily="18" charset="0"/>
                <a:cs typeface="Times New Roman" panose="02020603050405020304" pitchFamily="18" charset="0"/>
              </a:rPr>
              <a:t>Laptop  → 2 orders</a:t>
            </a:r>
          </a:p>
          <a:p>
            <a:pPr rtl="0">
              <a:buNone/>
            </a:pPr>
            <a:r>
              <a:rPr lang="en-IN" sz="2000">
                <a:latin typeface="Times New Roman" panose="02020603050405020304" pitchFamily="18" charset="0"/>
                <a:cs typeface="Times New Roman" panose="02020603050405020304" pitchFamily="18" charset="0"/>
              </a:rPr>
              <a:t>Phone   → 1 order</a:t>
            </a:r>
          </a:p>
          <a:p>
            <a:pPr rtl="0">
              <a:buNone/>
            </a:pPr>
            <a:r>
              <a:rPr lang="en-IN" sz="2000">
                <a:latin typeface="Times New Roman" panose="02020603050405020304" pitchFamily="18" charset="0"/>
                <a:cs typeface="Times New Roman" panose="02020603050405020304" pitchFamily="18" charset="0"/>
              </a:rPr>
              <a:t>Tablet  → 1 order</a:t>
            </a:r>
          </a:p>
          <a:p>
            <a:pPr>
              <a:buNone/>
            </a:pPr>
            <a:endParaRPr lang="en-IN" dirty="0"/>
          </a:p>
        </p:txBody>
      </p:sp>
      <p:sp>
        <p:nvSpPr>
          <p:cNvPr id="7" name="TextBox 6">
            <a:extLst>
              <a:ext uri="{FF2B5EF4-FFF2-40B4-BE49-F238E27FC236}">
                <a16:creationId xmlns:a16="http://schemas.microsoft.com/office/drawing/2014/main" id="{00B64097-A8F2-7CCB-477F-54B282CB481A}"/>
              </a:ext>
            </a:extLst>
          </p:cNvPr>
          <p:cNvSpPr txBox="1"/>
          <p:nvPr/>
        </p:nvSpPr>
        <p:spPr>
          <a:xfrm>
            <a:off x="4771696" y="2586501"/>
            <a:ext cx="6096000" cy="2246769"/>
          </a:xfrm>
          <a:prstGeom prst="rect">
            <a:avLst/>
          </a:prstGeom>
          <a:noFill/>
        </p:spPr>
        <p:txBody>
          <a:bodyPr wrap="square">
            <a:spAutoFit/>
          </a:bodyPr>
          <a:lstStyle/>
          <a:p>
            <a:pPr>
              <a:buNone/>
            </a:pPr>
            <a:r>
              <a:rPr lang="en-IN" sz="2000" dirty="0">
                <a:latin typeface="Times New Roman" panose="02020603050405020304" pitchFamily="18" charset="0"/>
                <a:cs typeface="Times New Roman" panose="02020603050405020304" pitchFamily="18" charset="0"/>
              </a:rPr>
              <a:t>We can also:</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Remove duplicate records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Handle missing values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Convert data formats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Filter unwanted data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Aggregate data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Calculate totals and averages</a:t>
            </a:r>
          </a:p>
        </p:txBody>
      </p:sp>
      <p:sp>
        <p:nvSpPr>
          <p:cNvPr id="9" name="TextBox 8">
            <a:extLst>
              <a:ext uri="{FF2B5EF4-FFF2-40B4-BE49-F238E27FC236}">
                <a16:creationId xmlns:a16="http://schemas.microsoft.com/office/drawing/2014/main" id="{C73A0E68-B117-5B2A-AB36-D8D99085441E}"/>
              </a:ext>
            </a:extLst>
          </p:cNvPr>
          <p:cNvSpPr txBox="1"/>
          <p:nvPr/>
        </p:nvSpPr>
        <p:spPr>
          <a:xfrm>
            <a:off x="4771696" y="5004837"/>
            <a:ext cx="6096000" cy="163121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Tools</a:t>
            </a:r>
          </a:p>
          <a:p>
            <a:pPr>
              <a:buNone/>
            </a:pPr>
            <a:r>
              <a:rPr lang="en-US" sz="2000" dirty="0">
                <a:latin typeface="Times New Roman" panose="02020603050405020304" pitchFamily="18" charset="0"/>
                <a:cs typeface="Times New Roman" panose="02020603050405020304" pitchFamily="18" charset="0"/>
              </a:rPr>
              <a:t>Major tools include:</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Hadoop MapReduce</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Apache Spark</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Apache Flink</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585530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6286A4-5364-F6A5-885C-D0076F71F572}"/>
              </a:ext>
            </a:extLst>
          </p:cNvPr>
          <p:cNvSpPr txBox="1"/>
          <p:nvPr/>
        </p:nvSpPr>
        <p:spPr>
          <a:xfrm>
            <a:off x="304799" y="276769"/>
            <a:ext cx="11246069" cy="2554545"/>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Layer 5 — Data Analysis</a:t>
            </a:r>
          </a:p>
          <a:p>
            <a:pPr>
              <a:buNone/>
            </a:pPr>
            <a:r>
              <a:rPr lang="en-US" sz="2000" dirty="0">
                <a:latin typeface="Times New Roman" panose="02020603050405020304" pitchFamily="18" charset="0"/>
                <a:cs typeface="Times New Roman" panose="02020603050405020304" pitchFamily="18" charset="0"/>
              </a:rPr>
              <a:t>After processing the data, </a:t>
            </a:r>
          </a:p>
          <a:p>
            <a:pPr>
              <a:buNone/>
            </a:pPr>
            <a:r>
              <a:rPr lang="en-US" sz="2000" b="1" dirty="0">
                <a:latin typeface="Times New Roman" panose="02020603050405020304" pitchFamily="18" charset="0"/>
                <a:cs typeface="Times New Roman" panose="02020603050405020304" pitchFamily="18" charset="0"/>
              </a:rPr>
              <a:t>“What can we learn from this data?”</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This is </a:t>
            </a:r>
            <a:r>
              <a:rPr lang="en-US" sz="2000" b="1" dirty="0">
                <a:latin typeface="Times New Roman" panose="02020603050405020304" pitchFamily="18" charset="0"/>
                <a:cs typeface="Times New Roman" panose="02020603050405020304" pitchFamily="18" charset="0"/>
              </a:rPr>
              <a:t>Data Analysis</a:t>
            </a:r>
            <a:r>
              <a:rPr lang="en-US" sz="2000" dirty="0">
                <a:latin typeface="Times New Roman" panose="02020603050405020304" pitchFamily="18" charset="0"/>
                <a:cs typeface="Times New Roman" panose="02020603050405020304" pitchFamily="18" charset="0"/>
              </a:rPr>
              <a:t>.</a:t>
            </a:r>
          </a:p>
          <a:p>
            <a:pPr>
              <a:buNone/>
            </a:pPr>
            <a:r>
              <a:rPr lang="en-US" sz="2000" b="1" dirty="0">
                <a:latin typeface="Times New Roman" panose="02020603050405020304" pitchFamily="18" charset="0"/>
                <a:cs typeface="Times New Roman" panose="02020603050405020304" pitchFamily="18" charset="0"/>
              </a:rPr>
              <a:t>Data analysis is the process of examining processed data to identify patterns, trends, relationships, and useful information.</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In simple words:</a:t>
            </a:r>
          </a:p>
          <a:p>
            <a:pPr>
              <a:buNone/>
            </a:pPr>
            <a:r>
              <a:rPr lang="en-US" sz="2000" b="1" dirty="0">
                <a:latin typeface="Times New Roman" panose="02020603050405020304" pitchFamily="18" charset="0"/>
                <a:cs typeface="Times New Roman" panose="02020603050405020304" pitchFamily="18" charset="0"/>
              </a:rPr>
              <a:t>Data Analysis = Find useful information from the data.</a:t>
            </a: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05341B2-700D-EA36-3FB6-DF6AD4EB80FC}"/>
              </a:ext>
            </a:extLst>
          </p:cNvPr>
          <p:cNvSpPr txBox="1"/>
          <p:nvPr/>
        </p:nvSpPr>
        <p:spPr>
          <a:xfrm>
            <a:off x="304799" y="2967948"/>
            <a:ext cx="6096000" cy="347787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E-commerce Example</a:t>
            </a:r>
          </a:p>
          <a:p>
            <a:pPr>
              <a:buNone/>
            </a:pPr>
            <a:r>
              <a:rPr lang="en-US" sz="2000" dirty="0">
                <a:latin typeface="Times New Roman" panose="02020603050405020304" pitchFamily="18" charset="0"/>
                <a:cs typeface="Times New Roman" panose="02020603050405020304" pitchFamily="18" charset="0"/>
              </a:rPr>
              <a:t>The company may ask:</a:t>
            </a:r>
          </a:p>
          <a:p>
            <a:pPr rtl="0">
              <a:buNone/>
            </a:pPr>
            <a:r>
              <a:rPr lang="en-US" sz="2000" dirty="0">
                <a:latin typeface="Times New Roman" panose="02020603050405020304" pitchFamily="18" charset="0"/>
                <a:cs typeface="Times New Roman" panose="02020603050405020304" pitchFamily="18" charset="0"/>
              </a:rPr>
              <a:t>Which product sells the most?</a:t>
            </a:r>
          </a:p>
          <a:p>
            <a:pPr rtl="0">
              <a:buNone/>
            </a:pPr>
            <a:endParaRPr lang="en-US" sz="2000" dirty="0">
              <a:latin typeface="Times New Roman" panose="02020603050405020304" pitchFamily="18" charset="0"/>
              <a:cs typeface="Times New Roman" panose="02020603050405020304" pitchFamily="18" charset="0"/>
            </a:endParaRPr>
          </a:p>
          <a:p>
            <a:pPr rtl="0">
              <a:buNone/>
            </a:pPr>
            <a:r>
              <a:rPr lang="en-US" sz="2000" dirty="0">
                <a:latin typeface="Times New Roman" panose="02020603050405020304" pitchFamily="18" charset="0"/>
                <a:cs typeface="Times New Roman" panose="02020603050405020304" pitchFamily="18" charset="0"/>
              </a:rPr>
              <a:t>Which region has the highest sales?</a:t>
            </a:r>
          </a:p>
          <a:p>
            <a:pPr rtl="0">
              <a:buNone/>
            </a:pPr>
            <a:endParaRPr lang="en-US" sz="2000" dirty="0">
              <a:latin typeface="Times New Roman" panose="02020603050405020304" pitchFamily="18" charset="0"/>
              <a:cs typeface="Times New Roman" panose="02020603050405020304" pitchFamily="18" charset="0"/>
            </a:endParaRPr>
          </a:p>
          <a:p>
            <a:pPr rtl="0">
              <a:buNone/>
            </a:pPr>
            <a:r>
              <a:rPr lang="en-US" sz="2000" dirty="0">
                <a:latin typeface="Times New Roman" panose="02020603050405020304" pitchFamily="18" charset="0"/>
                <a:cs typeface="Times New Roman" panose="02020603050405020304" pitchFamily="18" charset="0"/>
              </a:rPr>
              <a:t>Which customers purchase frequently?</a:t>
            </a:r>
          </a:p>
          <a:p>
            <a:pPr rtl="0">
              <a:buNone/>
            </a:pPr>
            <a:endParaRPr lang="en-US" sz="2000" dirty="0">
              <a:latin typeface="Times New Roman" panose="02020603050405020304" pitchFamily="18" charset="0"/>
              <a:cs typeface="Times New Roman" panose="02020603050405020304" pitchFamily="18" charset="0"/>
            </a:endParaRPr>
          </a:p>
          <a:p>
            <a:pPr rtl="0">
              <a:buNone/>
            </a:pPr>
            <a:r>
              <a:rPr lang="en-US" sz="2000" dirty="0">
                <a:latin typeface="Times New Roman" panose="02020603050405020304" pitchFamily="18" charset="0"/>
                <a:cs typeface="Times New Roman" panose="02020603050405020304" pitchFamily="18" charset="0"/>
              </a:rPr>
              <a:t>Which products are often purchased together?</a:t>
            </a:r>
          </a:p>
          <a:p>
            <a:pPr rtl="0">
              <a:buNone/>
            </a:pPr>
            <a:endParaRPr lang="en-US" sz="2000" dirty="0">
              <a:latin typeface="Times New Roman" panose="02020603050405020304" pitchFamily="18" charset="0"/>
              <a:cs typeface="Times New Roman" panose="02020603050405020304" pitchFamily="18" charset="0"/>
            </a:endParaRPr>
          </a:p>
          <a:p>
            <a:pPr rtl="0">
              <a:buNone/>
            </a:pPr>
            <a:r>
              <a:rPr lang="en-US" sz="2000" dirty="0">
                <a:latin typeface="Times New Roman" panose="02020603050405020304" pitchFamily="18" charset="0"/>
                <a:cs typeface="Times New Roman" panose="02020603050405020304" pitchFamily="18" charset="0"/>
              </a:rPr>
              <a:t>Which month has the highest sales?</a:t>
            </a:r>
          </a:p>
        </p:txBody>
      </p:sp>
      <p:sp>
        <p:nvSpPr>
          <p:cNvPr id="7" name="TextBox 6">
            <a:extLst>
              <a:ext uri="{FF2B5EF4-FFF2-40B4-BE49-F238E27FC236}">
                <a16:creationId xmlns:a16="http://schemas.microsoft.com/office/drawing/2014/main" id="{4374F777-B7E4-CE64-C108-D56917A4CE86}"/>
              </a:ext>
            </a:extLst>
          </p:cNvPr>
          <p:cNvSpPr txBox="1"/>
          <p:nvPr/>
        </p:nvSpPr>
        <p:spPr>
          <a:xfrm>
            <a:off x="6096000" y="3092356"/>
            <a:ext cx="6096000" cy="1631216"/>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Suppose the analysis shows:</a:t>
            </a:r>
          </a:p>
          <a:p>
            <a:pPr rtl="0">
              <a:buNone/>
            </a:pPr>
            <a:r>
              <a:rPr lang="en-US" sz="2000" dirty="0">
                <a:latin typeface="Times New Roman" panose="02020603050405020304" pitchFamily="18" charset="0"/>
                <a:cs typeface="Times New Roman" panose="02020603050405020304" pitchFamily="18" charset="0"/>
              </a:rPr>
              <a:t>Laptop</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Highest-selling product</a:t>
            </a:r>
          </a:p>
          <a:p>
            <a:pPr>
              <a:buNone/>
            </a:pPr>
            <a:r>
              <a:rPr lang="en-US" sz="2000" dirty="0">
                <a:latin typeface="Times New Roman" panose="02020603050405020304" pitchFamily="18" charset="0"/>
                <a:cs typeface="Times New Roman" panose="02020603050405020304" pitchFamily="18" charset="0"/>
              </a:rPr>
              <a:t>The company now has useful information.</a:t>
            </a:r>
          </a:p>
        </p:txBody>
      </p:sp>
      <p:sp>
        <p:nvSpPr>
          <p:cNvPr id="9" name="TextBox 8">
            <a:extLst>
              <a:ext uri="{FF2B5EF4-FFF2-40B4-BE49-F238E27FC236}">
                <a16:creationId xmlns:a16="http://schemas.microsoft.com/office/drawing/2014/main" id="{8FAB4013-E998-3CB8-C4A0-0DCD05C920C0}"/>
              </a:ext>
            </a:extLst>
          </p:cNvPr>
          <p:cNvSpPr txBox="1"/>
          <p:nvPr/>
        </p:nvSpPr>
        <p:spPr>
          <a:xfrm>
            <a:off x="6248400" y="4706885"/>
            <a:ext cx="6096000" cy="2031325"/>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Tools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SQL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Hive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Spark SQL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Python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Machine Learning</a:t>
            </a:r>
          </a:p>
        </p:txBody>
      </p:sp>
    </p:spTree>
    <p:extLst>
      <p:ext uri="{BB962C8B-B14F-4D97-AF65-F5344CB8AC3E}">
        <p14:creationId xmlns:p14="http://schemas.microsoft.com/office/powerpoint/2010/main" val="161932787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A84CE0-2623-A7AA-1E66-6B181F646470}"/>
              </a:ext>
            </a:extLst>
          </p:cNvPr>
          <p:cNvSpPr txBox="1"/>
          <p:nvPr/>
        </p:nvSpPr>
        <p:spPr>
          <a:xfrm>
            <a:off x="399394" y="258901"/>
            <a:ext cx="11655972" cy="3170099"/>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Layer 6 — Data Visualization</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“We have found useful information. How can we show it to managers or users in an easy-to-understand way?”</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Answer:</a:t>
            </a:r>
          </a:p>
          <a:p>
            <a:pPr>
              <a:buNone/>
            </a:pPr>
            <a:r>
              <a:rPr lang="en-US" sz="2000" b="1" dirty="0">
                <a:latin typeface="Times New Roman" panose="02020603050405020304" pitchFamily="18" charset="0"/>
                <a:cs typeface="Times New Roman" panose="02020603050405020304" pitchFamily="18" charset="0"/>
              </a:rPr>
              <a:t>Data Visualization.</a:t>
            </a: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Data visualization is the graphical representation of data using charts, graphs, dashboards, and other visual formats.</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In simple words:</a:t>
            </a:r>
          </a:p>
          <a:p>
            <a:pPr>
              <a:buNone/>
            </a:pPr>
            <a:r>
              <a:rPr lang="en-US" sz="2000" b="1" dirty="0">
                <a:latin typeface="Times New Roman" panose="02020603050405020304" pitchFamily="18" charset="0"/>
                <a:cs typeface="Times New Roman" panose="02020603050405020304" pitchFamily="18" charset="0"/>
              </a:rPr>
              <a:t>Data Visualization = Show data in a visual and understandable form.</a:t>
            </a: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8C5EC2F-FE92-E82B-2556-20176B323421}"/>
              </a:ext>
            </a:extLst>
          </p:cNvPr>
          <p:cNvSpPr txBox="1"/>
          <p:nvPr/>
        </p:nvSpPr>
        <p:spPr>
          <a:xfrm>
            <a:off x="231227" y="3507176"/>
            <a:ext cx="7346731" cy="2246769"/>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Example</a:t>
            </a:r>
          </a:p>
          <a:p>
            <a:pPr>
              <a:buNone/>
            </a:pPr>
            <a:r>
              <a:rPr lang="en-US" sz="2000" dirty="0">
                <a:latin typeface="Times New Roman" panose="02020603050405020304" pitchFamily="18" charset="0"/>
                <a:cs typeface="Times New Roman" panose="02020603050405020304" pitchFamily="18" charset="0"/>
              </a:rPr>
              <a:t>Suppose analysis gives:</a:t>
            </a:r>
          </a:p>
          <a:p>
            <a:pPr rtl="0">
              <a:buNone/>
            </a:pPr>
            <a:r>
              <a:rPr lang="en-US" sz="2000" dirty="0">
                <a:latin typeface="Times New Roman" panose="02020603050405020304" pitchFamily="18" charset="0"/>
                <a:cs typeface="Times New Roman" panose="02020603050405020304" pitchFamily="18" charset="0"/>
              </a:rPr>
              <a:t>Laptop     ₹50,00,000</a:t>
            </a:r>
          </a:p>
          <a:p>
            <a:pPr rtl="0">
              <a:buNone/>
            </a:pPr>
            <a:r>
              <a:rPr lang="en-US" sz="2000" dirty="0">
                <a:latin typeface="Times New Roman" panose="02020603050405020304" pitchFamily="18" charset="0"/>
                <a:cs typeface="Times New Roman" panose="02020603050405020304" pitchFamily="18" charset="0"/>
              </a:rPr>
              <a:t>Mobile     ₹40,00,000</a:t>
            </a:r>
          </a:p>
          <a:p>
            <a:pPr rtl="0">
              <a:buNone/>
            </a:pPr>
            <a:r>
              <a:rPr lang="en-US" sz="2000" dirty="0">
                <a:latin typeface="Times New Roman" panose="02020603050405020304" pitchFamily="18" charset="0"/>
                <a:cs typeface="Times New Roman" panose="02020603050405020304" pitchFamily="18" charset="0"/>
              </a:rPr>
              <a:t>Tablet     ₹20,00,000</a:t>
            </a:r>
          </a:p>
          <a:p>
            <a:pPr rtl="0">
              <a:buNone/>
            </a:pPr>
            <a:r>
              <a:rPr lang="en-US" sz="2000" dirty="0">
                <a:latin typeface="Times New Roman" panose="02020603050405020304" pitchFamily="18" charset="0"/>
                <a:cs typeface="Times New Roman" panose="02020603050405020304" pitchFamily="18" charset="0"/>
              </a:rPr>
              <a:t>Headphones ₹10,00,000</a:t>
            </a:r>
          </a:p>
          <a:p>
            <a:pPr>
              <a:buNone/>
            </a:pPr>
            <a:r>
              <a:rPr lang="en-US" sz="2000" dirty="0">
                <a:latin typeface="Times New Roman" panose="02020603050405020304" pitchFamily="18" charset="0"/>
                <a:cs typeface="Times New Roman" panose="02020603050405020304" pitchFamily="18" charset="0"/>
              </a:rPr>
              <a:t>Instead of giving the manager a large table, we can create a bar chart:</a:t>
            </a:r>
          </a:p>
        </p:txBody>
      </p:sp>
      <p:pic>
        <p:nvPicPr>
          <p:cNvPr id="7" name="Picture 6">
            <a:extLst>
              <a:ext uri="{FF2B5EF4-FFF2-40B4-BE49-F238E27FC236}">
                <a16:creationId xmlns:a16="http://schemas.microsoft.com/office/drawing/2014/main" id="{FF0F9358-5553-CE7A-78DB-4C749C5D3EAF}"/>
              </a:ext>
            </a:extLst>
          </p:cNvPr>
          <p:cNvPicPr>
            <a:picLocks noChangeAspect="1"/>
          </p:cNvPicPr>
          <p:nvPr/>
        </p:nvPicPr>
        <p:blipFill>
          <a:blip r:embed="rId2"/>
          <a:stretch>
            <a:fillRect/>
          </a:stretch>
        </p:blipFill>
        <p:spPr>
          <a:xfrm>
            <a:off x="7788166" y="3507176"/>
            <a:ext cx="3014865" cy="1672110"/>
          </a:xfrm>
          <a:prstGeom prst="rect">
            <a:avLst/>
          </a:prstGeom>
        </p:spPr>
      </p:pic>
      <p:sp>
        <p:nvSpPr>
          <p:cNvPr id="9" name="TextBox 8">
            <a:extLst>
              <a:ext uri="{FF2B5EF4-FFF2-40B4-BE49-F238E27FC236}">
                <a16:creationId xmlns:a16="http://schemas.microsoft.com/office/drawing/2014/main" id="{10D45DEE-5183-B718-A8AE-8054129C4369}"/>
              </a:ext>
            </a:extLst>
          </p:cNvPr>
          <p:cNvSpPr txBox="1"/>
          <p:nvPr/>
        </p:nvSpPr>
        <p:spPr>
          <a:xfrm>
            <a:off x="231227" y="5753945"/>
            <a:ext cx="609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Now it is easy to identify the best-selling category.</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AF57325-00C9-0550-3F3F-1FCF5446DCE8}"/>
              </a:ext>
            </a:extLst>
          </p:cNvPr>
          <p:cNvSpPr txBox="1"/>
          <p:nvPr/>
        </p:nvSpPr>
        <p:spPr>
          <a:xfrm>
            <a:off x="7965239" y="5179286"/>
            <a:ext cx="6096000" cy="163121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Tools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Power BI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Tableau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Python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Excel</a:t>
            </a:r>
          </a:p>
        </p:txBody>
      </p:sp>
    </p:spTree>
    <p:extLst>
      <p:ext uri="{BB962C8B-B14F-4D97-AF65-F5344CB8AC3E}">
        <p14:creationId xmlns:p14="http://schemas.microsoft.com/office/powerpoint/2010/main" val="382152542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126054-F5BE-6511-788B-56406F1320DE}"/>
              </a:ext>
            </a:extLst>
          </p:cNvPr>
          <p:cNvSpPr txBox="1"/>
          <p:nvPr/>
        </p:nvSpPr>
        <p:spPr>
          <a:xfrm>
            <a:off x="378372" y="289679"/>
            <a:ext cx="11676994" cy="3170099"/>
          </a:xfrm>
          <a:prstGeom prst="rect">
            <a:avLst/>
          </a:prstGeom>
          <a:noFill/>
        </p:spPr>
        <p:txBody>
          <a:bodyPr wrap="square">
            <a:spAutoFit/>
          </a:bodyPr>
          <a:lstStyle/>
          <a:p>
            <a:pPr>
              <a:buNone/>
            </a:pPr>
            <a:r>
              <a:rPr lang="en-US" sz="2000" b="1" dirty="0">
                <a:solidFill>
                  <a:srgbClr val="FF0000"/>
                </a:solidFill>
                <a:latin typeface="Times New Roman" panose="02020603050405020304" pitchFamily="18" charset="0"/>
                <a:cs typeface="Times New Roman" panose="02020603050405020304" pitchFamily="18" charset="0"/>
              </a:rPr>
              <a:t>Layer 7 — Decision Making</a:t>
            </a:r>
          </a:p>
          <a:p>
            <a:pPr>
              <a:buNone/>
            </a:pPr>
            <a:r>
              <a:rPr lang="en-US" sz="2000" dirty="0">
                <a:latin typeface="Times New Roman" panose="02020603050405020304" pitchFamily="18" charset="0"/>
                <a:cs typeface="Times New Roman" panose="02020603050405020304" pitchFamily="18" charset="0"/>
              </a:rPr>
              <a:t>This is the </a:t>
            </a:r>
            <a:r>
              <a:rPr lang="en-US" sz="2000" b="1" dirty="0">
                <a:latin typeface="Times New Roman" panose="02020603050405020304" pitchFamily="18" charset="0"/>
                <a:cs typeface="Times New Roman" panose="02020603050405020304" pitchFamily="18" charset="0"/>
              </a:rPr>
              <a:t>final objective</a:t>
            </a:r>
            <a:r>
              <a:rPr lang="en-US" sz="2000" dirty="0">
                <a:latin typeface="Times New Roman" panose="02020603050405020304" pitchFamily="18" charset="0"/>
                <a:cs typeface="Times New Roman" panose="02020603050405020304" pitchFamily="18" charset="0"/>
              </a:rPr>
              <a:t>.</a:t>
            </a:r>
          </a:p>
          <a:p>
            <a:pPr>
              <a:buNone/>
            </a:pPr>
            <a:r>
              <a:rPr lang="en-US" sz="2000" b="1" dirty="0">
                <a:latin typeface="Times New Roman" panose="02020603050405020304" pitchFamily="18" charset="0"/>
                <a:cs typeface="Times New Roman" panose="02020603050405020304" pitchFamily="18" charset="0"/>
              </a:rPr>
              <a:t>“Why did we collect, store, process, and analyze all this data?”</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Answer:</a:t>
            </a:r>
          </a:p>
          <a:p>
            <a:pPr>
              <a:buNone/>
            </a:pPr>
            <a:r>
              <a:rPr lang="en-US" sz="2000" b="1" dirty="0">
                <a:latin typeface="Times New Roman" panose="02020603050405020304" pitchFamily="18" charset="0"/>
                <a:cs typeface="Times New Roman" panose="02020603050405020304" pitchFamily="18" charset="0"/>
              </a:rPr>
              <a:t>To make better decisions.</a:t>
            </a:r>
            <a:endParaRPr lang="en-US" sz="2000" dirty="0">
              <a:latin typeface="Times New Roman" panose="02020603050405020304" pitchFamily="18" charset="0"/>
              <a:cs typeface="Times New Roman" panose="02020603050405020304" pitchFamily="18" charset="0"/>
            </a:endParaRP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Decision making is the process of using insights obtained from data to make informed business or operational decisions.</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In simple words:</a:t>
            </a:r>
          </a:p>
          <a:p>
            <a:pPr>
              <a:buNone/>
            </a:pPr>
            <a:r>
              <a:rPr lang="en-US" sz="2000" b="1" dirty="0">
                <a:latin typeface="Times New Roman" panose="02020603050405020304" pitchFamily="18" charset="0"/>
                <a:cs typeface="Times New Roman" panose="02020603050405020304" pitchFamily="18" charset="0"/>
              </a:rPr>
              <a:t>Decision Making = Use the information to decide what to do next.</a:t>
            </a: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A73722D-633C-1801-72A2-FC1B8CBE3FE3}"/>
              </a:ext>
            </a:extLst>
          </p:cNvPr>
          <p:cNvSpPr txBox="1"/>
          <p:nvPr/>
        </p:nvSpPr>
        <p:spPr>
          <a:xfrm>
            <a:off x="378372" y="3587528"/>
            <a:ext cx="6096000" cy="3170099"/>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E-commerce Example</a:t>
            </a:r>
          </a:p>
          <a:p>
            <a:pPr>
              <a:buNone/>
            </a:pPr>
            <a:r>
              <a:rPr lang="en-US" sz="2000" dirty="0">
                <a:latin typeface="Times New Roman" panose="02020603050405020304" pitchFamily="18" charset="0"/>
                <a:cs typeface="Times New Roman" panose="02020603050405020304" pitchFamily="18" charset="0"/>
              </a:rPr>
              <a:t>Analysis shows:</a:t>
            </a:r>
          </a:p>
          <a:p>
            <a:pPr rtl="0">
              <a:buNone/>
            </a:pPr>
            <a:r>
              <a:rPr lang="en-US" sz="2000" dirty="0">
                <a:latin typeface="Times New Roman" panose="02020603050405020304" pitchFamily="18" charset="0"/>
                <a:cs typeface="Times New Roman" panose="02020603050405020304" pitchFamily="18" charset="0"/>
              </a:rPr>
              <a:t>Laptop sales are increasing</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Company gets the insight</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Decision:</a:t>
            </a:r>
          </a:p>
          <a:p>
            <a:pPr rtl="0">
              <a:buNone/>
            </a:pPr>
            <a:r>
              <a:rPr lang="en-US" sz="2000" dirty="0">
                <a:latin typeface="Times New Roman" panose="02020603050405020304" pitchFamily="18" charset="0"/>
                <a:cs typeface="Times New Roman" panose="02020603050405020304" pitchFamily="18" charset="0"/>
              </a:rPr>
              <a:t>Increase laptop inventory</a:t>
            </a: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Run laptop promotions</a:t>
            </a:r>
          </a:p>
        </p:txBody>
      </p:sp>
      <p:sp>
        <p:nvSpPr>
          <p:cNvPr id="7" name="TextBox 6">
            <a:extLst>
              <a:ext uri="{FF2B5EF4-FFF2-40B4-BE49-F238E27FC236}">
                <a16:creationId xmlns:a16="http://schemas.microsoft.com/office/drawing/2014/main" id="{1A847F12-F2FF-7C15-E83C-B0F62F495F51}"/>
              </a:ext>
            </a:extLst>
          </p:cNvPr>
          <p:cNvSpPr txBox="1"/>
          <p:nvPr/>
        </p:nvSpPr>
        <p:spPr>
          <a:xfrm>
            <a:off x="4183118" y="5504821"/>
            <a:ext cx="7630510"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If data shows that laptop demand is increasing, the company can increase inventory and promotional activities.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843572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8B353-0A8C-D461-06CD-25074BFCDEED}"/>
              </a:ext>
            </a:extLst>
          </p:cNvPr>
          <p:cNvSpPr>
            <a:spLocks noGrp="1"/>
          </p:cNvSpPr>
          <p:nvPr>
            <p:ph type="title"/>
          </p:nvPr>
        </p:nvSpPr>
        <p:spPr>
          <a:xfrm>
            <a:off x="1174532" y="2603829"/>
            <a:ext cx="10515600" cy="1325563"/>
          </a:xfrm>
        </p:spPr>
        <p:txBody>
          <a:bodyPr/>
          <a:lstStyle/>
          <a:p>
            <a:pPr algn="ctr"/>
            <a:r>
              <a:rPr lang="en-US" b="1" dirty="0">
                <a:latin typeface="Times New Roman" panose="02020603050405020304" pitchFamily="18" charset="0"/>
                <a:cs typeface="Times New Roman" panose="02020603050405020304" pitchFamily="18" charset="0"/>
              </a:rPr>
              <a:t>END OF MODULE -01</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92107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2484</TotalTime>
  <Words>7404</Words>
  <Application>Microsoft Office PowerPoint</Application>
  <PresentationFormat>Widescreen</PresentationFormat>
  <Paragraphs>1537</Paragraphs>
  <Slides>100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100</vt:i4>
      </vt:variant>
    </vt:vector>
  </HeadingPairs>
  <TitlesOfParts>
    <vt:vector size="106" baseType="lpstr">
      <vt:lpstr>Aptos</vt:lpstr>
      <vt:lpstr>Aptos Display</vt:lpstr>
      <vt:lpstr>Arial</vt:lpstr>
      <vt:lpstr>Tahoma</vt:lpstr>
      <vt:lpstr>Times New Roman</vt:lpstr>
      <vt:lpstr>Office Theme</vt:lpstr>
      <vt:lpstr>Data Analytics and Visualization Module - 01  </vt:lpstr>
      <vt:lpstr>Introduction to Data Analytics:  What is Data Analytics? </vt:lpstr>
      <vt:lpstr>PowerPoint Presentation</vt:lpstr>
      <vt:lpstr>PowerPoint Presentation</vt:lpstr>
      <vt:lpstr>PowerPoint Presentation</vt:lpstr>
      <vt:lpstr>PowerPoint Presentation</vt:lpstr>
      <vt:lpstr> Why Do We Need Data Analytics?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Importance of Data Analytics</vt:lpstr>
      <vt:lpstr>PowerPoint Presentation</vt:lpstr>
      <vt:lpstr>PowerPoint Presentation</vt:lpstr>
      <vt:lpstr>PowerPoint Presentation</vt:lpstr>
      <vt:lpstr>PowerPoint Presentation</vt:lpstr>
      <vt:lpstr>PowerPoint Presentation</vt:lpstr>
      <vt:lpstr>PowerPoint Presentation</vt:lpstr>
      <vt:lpstr>Applications of Data Analytics in Industries</vt:lpstr>
      <vt:lpstr>PowerPoint Presentation</vt:lpstr>
      <vt:lpstr>PowerPoint Presentation</vt:lpstr>
      <vt:lpstr>PowerPoint Presentation</vt:lpstr>
      <vt:lpstr>PowerPoint Presentation</vt:lpstr>
      <vt:lpstr>Types of Data Analytics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Analytics Lifecycle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Overview of Big Data: characteristics (5Vs), ecosystem and tools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Big Data Ecosystem and Tools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 OF MODULE -01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Sneha S</cp:lastModifiedBy>
  <cp:revision>36</cp:revision>
  <dcterms:created xsi:type="dcterms:W3CDTF">2026-08-12T14:37:24Z</dcterms:created>
  <dcterms:modified xsi:type="dcterms:W3CDTF">2026-09-04T04:09:47Z</dcterms:modified>
</cp:coreProperties>
</file>