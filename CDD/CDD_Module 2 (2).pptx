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3" r:id="rId3"/>
    <p:sldId id="264" r:id="rId4"/>
    <p:sldId id="265" r:id="rId5"/>
    <p:sldId id="257" r:id="rId6"/>
    <p:sldId id="258" r:id="rId7"/>
    <p:sldId id="266" r:id="rId8"/>
    <p:sldId id="267" r:id="rId9"/>
    <p:sldId id="268" r:id="rId10"/>
    <p:sldId id="269" r:id="rId11"/>
    <p:sldId id="259" r:id="rId12"/>
    <p:sldId id="270" r:id="rId13"/>
    <p:sldId id="271" r:id="rId14"/>
    <p:sldId id="272" r:id="rId15"/>
    <p:sldId id="273" r:id="rId16"/>
    <p:sldId id="274" r:id="rId17"/>
    <p:sldId id="260" r:id="rId18"/>
    <p:sldId id="275" r:id="rId19"/>
    <p:sldId id="261" r:id="rId20"/>
    <p:sldId id="276" r:id="rId21"/>
    <p:sldId id="262"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2" d="100"/>
          <a:sy n="82" d="100"/>
        </p:scale>
        <p:origin x="72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8473572-2709-4299-B469-391B5ADC8570}" type="datetimeFigureOut">
              <a:rPr lang="en-IN" smtClean="0"/>
              <a:t>09-09-2026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769090-0D04-4EA2-8B94-B2C8FB440578}" type="slidenum">
              <a:rPr lang="en-IN" smtClean="0"/>
              <a:t>‹#›</a:t>
            </a:fld>
            <a:endParaRPr lang="en-IN"/>
          </a:p>
        </p:txBody>
      </p:sp>
    </p:spTree>
    <p:extLst>
      <p:ext uri="{BB962C8B-B14F-4D97-AF65-F5344CB8AC3E}">
        <p14:creationId xmlns:p14="http://schemas.microsoft.com/office/powerpoint/2010/main" val="40214910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473572-2709-4299-B469-391B5ADC8570}" type="datetimeFigureOut">
              <a:rPr lang="en-IN" smtClean="0"/>
              <a:t>09-09-2026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769090-0D04-4EA2-8B94-B2C8FB440578}" type="slidenum">
              <a:rPr lang="en-IN" smtClean="0"/>
              <a:t>‹#›</a:t>
            </a:fld>
            <a:endParaRPr lang="en-IN"/>
          </a:p>
        </p:txBody>
      </p:sp>
    </p:spTree>
    <p:extLst>
      <p:ext uri="{BB962C8B-B14F-4D97-AF65-F5344CB8AC3E}">
        <p14:creationId xmlns:p14="http://schemas.microsoft.com/office/powerpoint/2010/main" val="4284439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8473572-2709-4299-B469-391B5ADC8570}" type="datetimeFigureOut">
              <a:rPr lang="en-IN" smtClean="0"/>
              <a:t>09-09-2026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769090-0D04-4EA2-8B94-B2C8FB440578}" type="slidenum">
              <a:rPr lang="en-IN" smtClean="0"/>
              <a:t>‹#›</a:t>
            </a:fld>
            <a:endParaRPr lang="en-IN"/>
          </a:p>
        </p:txBody>
      </p:sp>
    </p:spTree>
    <p:extLst>
      <p:ext uri="{BB962C8B-B14F-4D97-AF65-F5344CB8AC3E}">
        <p14:creationId xmlns:p14="http://schemas.microsoft.com/office/powerpoint/2010/main" val="2180623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8473572-2709-4299-B469-391B5ADC8570}" type="datetimeFigureOut">
              <a:rPr lang="en-IN" smtClean="0"/>
              <a:t>09-09-2026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2769090-0D04-4EA2-8B94-B2C8FB440578}" type="slidenum">
              <a:rPr lang="en-IN" smtClean="0"/>
              <a:t>‹#›</a:t>
            </a:fld>
            <a:endParaRPr lang="en-IN"/>
          </a:p>
        </p:txBody>
      </p:sp>
    </p:spTree>
    <p:extLst>
      <p:ext uri="{BB962C8B-B14F-4D97-AF65-F5344CB8AC3E}">
        <p14:creationId xmlns:p14="http://schemas.microsoft.com/office/powerpoint/2010/main" val="1308040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8473572-2709-4299-B469-391B5ADC8570}" type="datetimeFigureOut">
              <a:rPr lang="en-IN" smtClean="0"/>
              <a:t>09-09-2026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2769090-0D04-4EA2-8B94-B2C8FB440578}" type="slidenum">
              <a:rPr lang="en-IN" smtClean="0"/>
              <a:t>‹#›</a:t>
            </a:fld>
            <a:endParaRPr lang="en-IN"/>
          </a:p>
        </p:txBody>
      </p:sp>
    </p:spTree>
    <p:extLst>
      <p:ext uri="{BB962C8B-B14F-4D97-AF65-F5344CB8AC3E}">
        <p14:creationId xmlns:p14="http://schemas.microsoft.com/office/powerpoint/2010/main" val="150548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8473572-2709-4299-B469-391B5ADC8570}" type="datetimeFigureOut">
              <a:rPr lang="en-IN" smtClean="0"/>
              <a:t>09-09-2026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2769090-0D04-4EA2-8B94-B2C8FB440578}" type="slidenum">
              <a:rPr lang="en-IN" smtClean="0"/>
              <a:t>‹#›</a:t>
            </a:fld>
            <a:endParaRPr lang="en-IN"/>
          </a:p>
        </p:txBody>
      </p:sp>
    </p:spTree>
    <p:extLst>
      <p:ext uri="{BB962C8B-B14F-4D97-AF65-F5344CB8AC3E}">
        <p14:creationId xmlns:p14="http://schemas.microsoft.com/office/powerpoint/2010/main" val="1929770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473572-2709-4299-B469-391B5ADC8570}" type="datetimeFigureOut">
              <a:rPr lang="en-IN" smtClean="0"/>
              <a:t>09-09-2026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2769090-0D04-4EA2-8B94-B2C8FB440578}" type="slidenum">
              <a:rPr lang="en-IN" smtClean="0"/>
              <a:t>‹#›</a:t>
            </a:fld>
            <a:endParaRPr lang="en-IN"/>
          </a:p>
        </p:txBody>
      </p:sp>
    </p:spTree>
    <p:extLst>
      <p:ext uri="{BB962C8B-B14F-4D97-AF65-F5344CB8AC3E}">
        <p14:creationId xmlns:p14="http://schemas.microsoft.com/office/powerpoint/2010/main" val="14149393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A8473572-2709-4299-B469-391B5ADC8570}" type="datetimeFigureOut">
              <a:rPr lang="en-IN" smtClean="0"/>
              <a:t>09-09-2026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2769090-0D04-4EA2-8B94-B2C8FB440578}" type="slidenum">
              <a:rPr lang="en-IN" smtClean="0"/>
              <a:t>‹#›</a:t>
            </a:fld>
            <a:endParaRPr lang="en-IN"/>
          </a:p>
        </p:txBody>
      </p:sp>
    </p:spTree>
    <p:extLst>
      <p:ext uri="{BB962C8B-B14F-4D97-AF65-F5344CB8AC3E}">
        <p14:creationId xmlns:p14="http://schemas.microsoft.com/office/powerpoint/2010/main" val="347649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8473572-2709-4299-B469-391B5ADC8570}" type="datetimeFigureOut">
              <a:rPr lang="en-IN" smtClean="0"/>
              <a:t>09-09-2026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2769090-0D04-4EA2-8B94-B2C8FB440578}" type="slidenum">
              <a:rPr lang="en-IN" smtClean="0"/>
              <a:t>‹#›</a:t>
            </a:fld>
            <a:endParaRPr lang="en-IN"/>
          </a:p>
        </p:txBody>
      </p:sp>
    </p:spTree>
    <p:extLst>
      <p:ext uri="{BB962C8B-B14F-4D97-AF65-F5344CB8AC3E}">
        <p14:creationId xmlns:p14="http://schemas.microsoft.com/office/powerpoint/2010/main" val="976024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8473572-2709-4299-B469-391B5ADC8570}" type="datetimeFigureOut">
              <a:rPr lang="en-IN" smtClean="0"/>
              <a:t>09-09-2026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769090-0D04-4EA2-8B94-B2C8FB440578}" type="slidenum">
              <a:rPr lang="en-IN" smtClean="0"/>
              <a:t>‹#›</a:t>
            </a:fld>
            <a:endParaRPr lang="en-IN"/>
          </a:p>
        </p:txBody>
      </p:sp>
    </p:spTree>
    <p:extLst>
      <p:ext uri="{BB962C8B-B14F-4D97-AF65-F5344CB8AC3E}">
        <p14:creationId xmlns:p14="http://schemas.microsoft.com/office/powerpoint/2010/main" val="2987746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8473572-2709-4299-B469-391B5ADC8570}" type="datetimeFigureOut">
              <a:rPr lang="en-IN" smtClean="0"/>
              <a:t>09-09-2026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769090-0D04-4EA2-8B94-B2C8FB440578}"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9766062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8473572-2709-4299-B469-391B5ADC8570}" type="datetimeFigureOut">
              <a:rPr lang="en-IN" smtClean="0"/>
              <a:t>09-09-2026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769090-0D04-4EA2-8B94-B2C8FB440578}" type="slidenum">
              <a:rPr lang="en-IN" smtClean="0"/>
              <a:t>‹#›</a:t>
            </a:fld>
            <a:endParaRPr lang="en-IN"/>
          </a:p>
        </p:txBody>
      </p:sp>
    </p:spTree>
    <p:extLst>
      <p:ext uri="{BB962C8B-B14F-4D97-AF65-F5344CB8AC3E}">
        <p14:creationId xmlns:p14="http://schemas.microsoft.com/office/powerpoint/2010/main" val="14544419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8473572-2709-4299-B469-391B5ADC8570}" type="datetimeFigureOut">
              <a:rPr lang="en-IN" smtClean="0"/>
              <a:t>09-09-2026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769090-0D04-4EA2-8B94-B2C8FB440578}"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12151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A8473572-2709-4299-B469-391B5ADC8570}" type="datetimeFigureOut">
              <a:rPr lang="en-IN" smtClean="0"/>
              <a:t>09-09-2026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769090-0D04-4EA2-8B94-B2C8FB440578}" type="slidenum">
              <a:rPr lang="en-IN" smtClean="0"/>
              <a:t>‹#›</a:t>
            </a:fld>
            <a:endParaRPr lang="en-IN"/>
          </a:p>
        </p:txBody>
      </p:sp>
    </p:spTree>
    <p:extLst>
      <p:ext uri="{BB962C8B-B14F-4D97-AF65-F5344CB8AC3E}">
        <p14:creationId xmlns:p14="http://schemas.microsoft.com/office/powerpoint/2010/main" val="38228838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473572-2709-4299-B469-391B5ADC8570}" type="datetimeFigureOut">
              <a:rPr lang="en-IN" smtClean="0"/>
              <a:t>09-09-2026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769090-0D04-4EA2-8B94-B2C8FB440578}" type="slidenum">
              <a:rPr lang="en-IN" smtClean="0"/>
              <a:t>‹#›</a:t>
            </a:fld>
            <a:endParaRPr lang="en-IN"/>
          </a:p>
        </p:txBody>
      </p:sp>
    </p:spTree>
    <p:extLst>
      <p:ext uri="{BB962C8B-B14F-4D97-AF65-F5344CB8AC3E}">
        <p14:creationId xmlns:p14="http://schemas.microsoft.com/office/powerpoint/2010/main" val="2217984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473572-2709-4299-B469-391B5ADC8570}" type="datetimeFigureOut">
              <a:rPr lang="en-IN" smtClean="0"/>
              <a:t>09-09-2026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769090-0D04-4EA2-8B94-B2C8FB440578}" type="slidenum">
              <a:rPr lang="en-IN" smtClean="0"/>
              <a:t>‹#›</a:t>
            </a:fld>
            <a:endParaRPr lang="en-IN"/>
          </a:p>
        </p:txBody>
      </p:sp>
    </p:spTree>
    <p:extLst>
      <p:ext uri="{BB962C8B-B14F-4D97-AF65-F5344CB8AC3E}">
        <p14:creationId xmlns:p14="http://schemas.microsoft.com/office/powerpoint/2010/main" val="1973177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8473572-2709-4299-B469-391B5ADC8570}" type="datetimeFigureOut">
              <a:rPr lang="en-IN" smtClean="0"/>
              <a:t>09-09-2026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2769090-0D04-4EA2-8B94-B2C8FB440578}" type="slidenum">
              <a:rPr lang="en-IN" smtClean="0"/>
              <a:t>‹#›</a:t>
            </a:fld>
            <a:endParaRPr lang="en-IN"/>
          </a:p>
        </p:txBody>
      </p:sp>
    </p:spTree>
    <p:extLst>
      <p:ext uri="{BB962C8B-B14F-4D97-AF65-F5344CB8AC3E}">
        <p14:creationId xmlns:p14="http://schemas.microsoft.com/office/powerpoint/2010/main" val="2270523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youtube.com/watch?v=9BbS46HwjBM"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E1136-86C8-FF00-A9E9-5AAAEEFBCB8D}"/>
              </a:ext>
            </a:extLst>
          </p:cNvPr>
          <p:cNvSpPr>
            <a:spLocks noGrp="1"/>
          </p:cNvSpPr>
          <p:nvPr>
            <p:ph type="ctrTitle"/>
          </p:nvPr>
        </p:nvSpPr>
        <p:spPr/>
        <p:txBody>
          <a:bodyPr/>
          <a:lstStyle/>
          <a:p>
            <a:r>
              <a:rPr lang="en-IN" b="1" dirty="0"/>
              <a:t>Module 2: Managing Your Source Code with Git</a:t>
            </a:r>
            <a:endParaRPr lang="en-IN" dirty="0"/>
          </a:p>
        </p:txBody>
      </p:sp>
      <p:sp>
        <p:nvSpPr>
          <p:cNvPr id="3" name="Subtitle 2">
            <a:extLst>
              <a:ext uri="{FF2B5EF4-FFF2-40B4-BE49-F238E27FC236}">
                <a16:creationId xmlns:a16="http://schemas.microsoft.com/office/drawing/2014/main" id="{9BF9BE01-1FF7-D9F2-34A5-CCA902BFAC65}"/>
              </a:ext>
            </a:extLst>
          </p:cNvPr>
          <p:cNvSpPr>
            <a:spLocks noGrp="1"/>
          </p:cNvSpPr>
          <p:nvPr>
            <p:ph type="subTitle" idx="1"/>
          </p:nvPr>
        </p:nvSpPr>
        <p:spPr>
          <a:xfrm>
            <a:off x="1507067" y="4050833"/>
            <a:ext cx="6414623" cy="1096899"/>
          </a:xfrm>
        </p:spPr>
        <p:txBody>
          <a:bodyPr/>
          <a:lstStyle/>
          <a:p>
            <a:r>
              <a:rPr lang="en-IN" dirty="0"/>
              <a:t>By, </a:t>
            </a:r>
          </a:p>
          <a:p>
            <a:r>
              <a:rPr lang="en-IN" dirty="0"/>
              <a:t>                                             </a:t>
            </a:r>
            <a:r>
              <a:rPr lang="en-IN" dirty="0" smtClean="0"/>
              <a:t>GOWTHAM R NAIK </a:t>
            </a:r>
            <a:endParaRPr lang="en-IN" dirty="0"/>
          </a:p>
        </p:txBody>
      </p:sp>
    </p:spTree>
    <p:extLst>
      <p:ext uri="{BB962C8B-B14F-4D97-AF65-F5344CB8AC3E}">
        <p14:creationId xmlns:p14="http://schemas.microsoft.com/office/powerpoint/2010/main" val="34539331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56DE7-FA53-63B0-B528-36E2930FE654}"/>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1E0BD04A-7106-22EF-FD03-8DC8CEE46E65}"/>
              </a:ext>
            </a:extLst>
          </p:cNvPr>
          <p:cNvSpPr>
            <a:spLocks noGrp="1"/>
          </p:cNvSpPr>
          <p:nvPr>
            <p:ph idx="1"/>
          </p:nvPr>
        </p:nvSpPr>
        <p:spPr/>
        <p:txBody>
          <a:bodyPr/>
          <a:lstStyle/>
          <a:p>
            <a:pPr marL="0" indent="0">
              <a:buNone/>
            </a:pPr>
            <a:r>
              <a:rPr lang="en-US" dirty="0"/>
              <a:t>A few years ago, when we were developers and writing code as part of a team, we encountered recurring problems that were for the most part as follows:</a:t>
            </a:r>
          </a:p>
          <a:p>
            <a:pPr marL="0" indent="0">
              <a:buNone/>
            </a:pPr>
            <a:r>
              <a:rPr lang="en-US" dirty="0"/>
              <a:t>• How to share my code with my team members</a:t>
            </a:r>
          </a:p>
          <a:p>
            <a:pPr marL="0" indent="0">
              <a:buNone/>
            </a:pPr>
            <a:r>
              <a:rPr lang="en-US" dirty="0"/>
              <a:t>• How to version the update of my code</a:t>
            </a:r>
          </a:p>
          <a:p>
            <a:pPr marL="0" indent="0">
              <a:buNone/>
            </a:pPr>
            <a:r>
              <a:rPr lang="en-US" dirty="0"/>
              <a:t>• How to track changes to my code</a:t>
            </a:r>
          </a:p>
          <a:p>
            <a:pPr marL="0" indent="0">
              <a:buNone/>
            </a:pPr>
            <a:r>
              <a:rPr lang="en-US" dirty="0"/>
              <a:t>• How to retrieve an old state of my code or part of it</a:t>
            </a:r>
            <a:endParaRPr lang="en-IN" dirty="0"/>
          </a:p>
        </p:txBody>
      </p:sp>
    </p:spTree>
    <p:extLst>
      <p:ext uri="{BB962C8B-B14F-4D97-AF65-F5344CB8AC3E}">
        <p14:creationId xmlns:p14="http://schemas.microsoft.com/office/powerpoint/2010/main" val="259092921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4CE5C5-D5DE-FA44-C3C3-5B7FDBC65D4C}"/>
              </a:ext>
            </a:extLst>
          </p:cNvPr>
          <p:cNvSpPr>
            <a:spLocks noGrp="1"/>
          </p:cNvSpPr>
          <p:nvPr>
            <p:ph idx="1"/>
          </p:nvPr>
        </p:nvSpPr>
        <p:spPr>
          <a:xfrm>
            <a:off x="761310" y="1666067"/>
            <a:ext cx="8596668" cy="3880773"/>
          </a:xfrm>
        </p:spPr>
        <p:txBody>
          <a:bodyPr>
            <a:normAutofit/>
          </a:bodyPr>
          <a:lstStyle/>
          <a:p>
            <a:pPr marL="0" indent="0">
              <a:buNone/>
            </a:pPr>
            <a:r>
              <a:rPr lang="en-US" dirty="0"/>
              <a:t>Over time, these issues have been solved with the emergence of source code managers, also called a </a:t>
            </a:r>
            <a:r>
              <a:rPr lang="en-US" b="1" dirty="0"/>
              <a:t>version control system </a:t>
            </a:r>
            <a:r>
              <a:rPr lang="en-US" dirty="0"/>
              <a:t>(</a:t>
            </a:r>
            <a:r>
              <a:rPr lang="en-US" b="1" dirty="0"/>
              <a:t>VCS</a:t>
            </a:r>
            <a:r>
              <a:rPr lang="en-US" dirty="0"/>
              <a:t>) or noted more commonly as a </a:t>
            </a:r>
            <a:r>
              <a:rPr lang="en-US" b="1" dirty="0"/>
              <a:t>version control </a:t>
            </a:r>
            <a:r>
              <a:rPr lang="en-IN" b="1" dirty="0"/>
              <a:t>manager </a:t>
            </a:r>
            <a:r>
              <a:rPr lang="en-IN" dirty="0"/>
              <a:t>(</a:t>
            </a:r>
            <a:r>
              <a:rPr lang="en-IN" b="1" dirty="0"/>
              <a:t>VCM</a:t>
            </a:r>
            <a:r>
              <a:rPr lang="en-IN" dirty="0"/>
              <a:t>).</a:t>
            </a:r>
          </a:p>
          <a:p>
            <a:pPr marL="0" indent="0">
              <a:buNone/>
            </a:pPr>
            <a:r>
              <a:rPr lang="en-US" dirty="0"/>
              <a:t>The goals of these VCSs are mainly to do the following:</a:t>
            </a:r>
          </a:p>
          <a:p>
            <a:pPr marL="0" indent="0">
              <a:buNone/>
            </a:pPr>
            <a:r>
              <a:rPr lang="en-US" dirty="0"/>
              <a:t>• Allow collaboration of developers' code</a:t>
            </a:r>
          </a:p>
          <a:p>
            <a:pPr marL="0" indent="0">
              <a:buNone/>
            </a:pPr>
            <a:r>
              <a:rPr lang="en-IN" dirty="0"/>
              <a:t>• Retrieve the code</a:t>
            </a:r>
          </a:p>
          <a:p>
            <a:pPr marL="0" indent="0">
              <a:buNone/>
            </a:pPr>
            <a:r>
              <a:rPr lang="en-IN" dirty="0"/>
              <a:t>• Version the code</a:t>
            </a:r>
          </a:p>
          <a:p>
            <a:pPr marL="0" indent="0">
              <a:buNone/>
            </a:pPr>
            <a:r>
              <a:rPr lang="en-IN" dirty="0"/>
              <a:t>• Track code changes</a:t>
            </a:r>
          </a:p>
        </p:txBody>
      </p:sp>
    </p:spTree>
    <p:extLst>
      <p:ext uri="{BB962C8B-B14F-4D97-AF65-F5344CB8AC3E}">
        <p14:creationId xmlns:p14="http://schemas.microsoft.com/office/powerpoint/2010/main" val="24445744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1E50B-E821-289E-E860-AB94EDE1D8C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53185D2-FDC5-C152-F207-3AF37DC04AC8}"/>
              </a:ext>
            </a:extLst>
          </p:cNvPr>
          <p:cNvSpPr>
            <a:spLocks noGrp="1"/>
          </p:cNvSpPr>
          <p:nvPr>
            <p:ph idx="1"/>
          </p:nvPr>
        </p:nvSpPr>
        <p:spPr/>
        <p:txBody>
          <a:bodyPr/>
          <a:lstStyle/>
          <a:p>
            <a:pPr marL="0" indent="0">
              <a:buNone/>
            </a:pPr>
            <a:r>
              <a:rPr lang="en-IN" dirty="0"/>
              <a:t>A version control system (VCS) is software that tracks changes to files over time, so you can review history, restore earlier versions, and collaborate without overwriting each other’s work.</a:t>
            </a:r>
          </a:p>
          <a:p>
            <a:pPr marL="0" indent="0">
              <a:buNone/>
            </a:pPr>
            <a:r>
              <a:rPr lang="en-IN" dirty="0"/>
              <a:t>Examples </a:t>
            </a:r>
          </a:p>
          <a:p>
            <a:pPr marL="514350" indent="-514350">
              <a:buAutoNum type="arabicPeriod"/>
            </a:pPr>
            <a:r>
              <a:rPr lang="en-IN" dirty="0"/>
              <a:t>Git</a:t>
            </a:r>
          </a:p>
          <a:p>
            <a:pPr marL="514350" indent="-514350">
              <a:buFont typeface="Arial" panose="020B0604020202020204" pitchFamily="34" charset="0"/>
              <a:buAutoNum type="arabicPeriod"/>
            </a:pPr>
            <a:r>
              <a:rPr lang="en-IN" dirty="0"/>
              <a:t>Subversion (SVN)</a:t>
            </a:r>
          </a:p>
          <a:p>
            <a:pPr marL="514350" indent="-514350">
              <a:buFont typeface="Arial" panose="020B0604020202020204" pitchFamily="34" charset="0"/>
              <a:buAutoNum type="arabicPeriod"/>
            </a:pPr>
            <a:r>
              <a:rPr lang="en-IN" dirty="0"/>
              <a:t>Mercurial</a:t>
            </a:r>
          </a:p>
          <a:p>
            <a:pPr marL="0" indent="0">
              <a:buNone/>
            </a:pPr>
            <a:r>
              <a:rPr lang="en-IN" dirty="0"/>
              <a:t>For example, in a software project, Git lets multiple developers work on the same code, save changes as commits, and merge updates safely.</a:t>
            </a:r>
          </a:p>
          <a:p>
            <a:pPr marL="514350" indent="-514350">
              <a:buAutoNum type="arabicPeriod"/>
            </a:pPr>
            <a:endParaRPr lang="en-IN" dirty="0"/>
          </a:p>
        </p:txBody>
      </p:sp>
    </p:spTree>
    <p:extLst>
      <p:ext uri="{BB962C8B-B14F-4D97-AF65-F5344CB8AC3E}">
        <p14:creationId xmlns:p14="http://schemas.microsoft.com/office/powerpoint/2010/main" val="48788718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9FA3-D18C-68D2-E063-81EE55BE1C09}"/>
              </a:ext>
            </a:extLst>
          </p:cNvPr>
          <p:cNvSpPr>
            <a:spLocks noGrp="1"/>
          </p:cNvSpPr>
          <p:nvPr>
            <p:ph type="title"/>
          </p:nvPr>
        </p:nvSpPr>
        <p:spPr/>
        <p:txBody>
          <a:bodyPr/>
          <a:lstStyle/>
          <a:p>
            <a:r>
              <a:rPr lang="en-IN" dirty="0"/>
              <a:t>Getting started with Git, Technical requirements</a:t>
            </a:r>
          </a:p>
        </p:txBody>
      </p:sp>
      <p:sp>
        <p:nvSpPr>
          <p:cNvPr id="3" name="Content Placeholder 2">
            <a:extLst>
              <a:ext uri="{FF2B5EF4-FFF2-40B4-BE49-F238E27FC236}">
                <a16:creationId xmlns:a16="http://schemas.microsoft.com/office/drawing/2014/main" id="{33E9E4F1-5A91-78F0-F0E7-C137BC4CC599}"/>
              </a:ext>
            </a:extLst>
          </p:cNvPr>
          <p:cNvSpPr>
            <a:spLocks noGrp="1"/>
          </p:cNvSpPr>
          <p:nvPr>
            <p:ph idx="1"/>
          </p:nvPr>
        </p:nvSpPr>
        <p:spPr/>
        <p:txBody>
          <a:bodyPr/>
          <a:lstStyle/>
          <a:p>
            <a:r>
              <a:rPr lang="en-US" dirty="0"/>
              <a:t>The use of Git does not have any technical prerequisites</a:t>
            </a:r>
          </a:p>
          <a:p>
            <a:r>
              <a:rPr lang="en-US" dirty="0"/>
              <a:t>Installation of Git </a:t>
            </a:r>
          </a:p>
          <a:p>
            <a:pPr marL="0" indent="0">
              <a:buNone/>
            </a:pPr>
            <a:r>
              <a:rPr lang="en-IN" dirty="0">
                <a:hlinkClick r:id="rId2"/>
              </a:rPr>
              <a:t>https://www.youtube.com/watch?v=9BbS46HwjBM</a:t>
            </a:r>
            <a:endParaRPr lang="en-IN" dirty="0"/>
          </a:p>
          <a:p>
            <a:pPr marL="0" indent="0">
              <a:buNone/>
            </a:pPr>
            <a:endParaRPr lang="en-IN" dirty="0"/>
          </a:p>
        </p:txBody>
      </p:sp>
    </p:spTree>
    <p:extLst>
      <p:ext uri="{BB962C8B-B14F-4D97-AF65-F5344CB8AC3E}">
        <p14:creationId xmlns:p14="http://schemas.microsoft.com/office/powerpoint/2010/main" val="34572609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89051-0615-9AFE-2C2C-281DFFBA71ED}"/>
              </a:ext>
            </a:extLst>
          </p:cNvPr>
          <p:cNvSpPr>
            <a:spLocks noGrp="1"/>
          </p:cNvSpPr>
          <p:nvPr>
            <p:ph type="title"/>
          </p:nvPr>
        </p:nvSpPr>
        <p:spPr/>
        <p:txBody>
          <a:bodyPr/>
          <a:lstStyle/>
          <a:p>
            <a:r>
              <a:rPr lang="en-IN" dirty="0"/>
              <a:t>Overviewing Git and its principal command lines</a:t>
            </a:r>
          </a:p>
        </p:txBody>
      </p:sp>
      <p:sp>
        <p:nvSpPr>
          <p:cNvPr id="3" name="Content Placeholder 2">
            <a:extLst>
              <a:ext uri="{FF2B5EF4-FFF2-40B4-BE49-F238E27FC236}">
                <a16:creationId xmlns:a16="http://schemas.microsoft.com/office/drawing/2014/main" id="{C497B36C-B402-4CA9-0E67-71F7246C2305}"/>
              </a:ext>
            </a:extLst>
          </p:cNvPr>
          <p:cNvSpPr>
            <a:spLocks noGrp="1"/>
          </p:cNvSpPr>
          <p:nvPr>
            <p:ph idx="1"/>
          </p:nvPr>
        </p:nvSpPr>
        <p:spPr/>
        <p:txBody>
          <a:bodyPr/>
          <a:lstStyle/>
          <a:p>
            <a:r>
              <a:rPr lang="en-US" dirty="0"/>
              <a:t>There are two types of VCSs:</a:t>
            </a:r>
          </a:p>
          <a:p>
            <a:pPr marL="0" indent="0">
              <a:buNone/>
            </a:pPr>
            <a:r>
              <a:rPr lang="en-IN" dirty="0"/>
              <a:t>1.centralized </a:t>
            </a:r>
          </a:p>
          <a:p>
            <a:pPr marL="0" indent="0">
              <a:buNone/>
            </a:pPr>
            <a:r>
              <a:rPr lang="en-IN" dirty="0"/>
              <a:t>2. Distributed systems.</a:t>
            </a:r>
          </a:p>
        </p:txBody>
      </p:sp>
    </p:spTree>
    <p:extLst>
      <p:ext uri="{BB962C8B-B14F-4D97-AF65-F5344CB8AC3E}">
        <p14:creationId xmlns:p14="http://schemas.microsoft.com/office/powerpoint/2010/main" val="37828637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83306-4EB4-DE15-4507-173FAF114E43}"/>
              </a:ext>
            </a:extLst>
          </p:cNvPr>
          <p:cNvSpPr>
            <a:spLocks noGrp="1"/>
          </p:cNvSpPr>
          <p:nvPr>
            <p:ph type="title"/>
          </p:nvPr>
        </p:nvSpPr>
        <p:spPr/>
        <p:txBody>
          <a:bodyPr/>
          <a:lstStyle/>
          <a:p>
            <a:r>
              <a:rPr lang="en-IN" dirty="0"/>
              <a:t>Centralized source control</a:t>
            </a:r>
          </a:p>
        </p:txBody>
      </p:sp>
      <p:sp>
        <p:nvSpPr>
          <p:cNvPr id="3" name="Content Placeholder 2">
            <a:extLst>
              <a:ext uri="{FF2B5EF4-FFF2-40B4-BE49-F238E27FC236}">
                <a16:creationId xmlns:a16="http://schemas.microsoft.com/office/drawing/2014/main" id="{8D9CA328-4858-44AD-33A1-C5BD80BA352B}"/>
              </a:ext>
            </a:extLst>
          </p:cNvPr>
          <p:cNvSpPr>
            <a:spLocks noGrp="1"/>
          </p:cNvSpPr>
          <p:nvPr>
            <p:ph idx="1"/>
          </p:nvPr>
        </p:nvSpPr>
        <p:spPr/>
        <p:txBody>
          <a:bodyPr>
            <a:normAutofit/>
          </a:bodyPr>
          <a:lstStyle/>
          <a:p>
            <a:pPr algn="just"/>
            <a:r>
              <a:rPr lang="en-US" b="1" dirty="0"/>
              <a:t>Subversion </a:t>
            </a:r>
            <a:r>
              <a:rPr lang="en-US" dirty="0"/>
              <a:t>(</a:t>
            </a:r>
            <a:r>
              <a:rPr lang="en-US" b="1" dirty="0"/>
              <a:t>SVN</a:t>
            </a:r>
            <a:r>
              <a:rPr lang="en-US" dirty="0"/>
              <a:t>), </a:t>
            </a:r>
            <a:r>
              <a:rPr lang="en-US" b="1" dirty="0"/>
              <a:t>Concurrent Version System </a:t>
            </a:r>
            <a:r>
              <a:rPr lang="en-US" dirty="0"/>
              <a:t>(</a:t>
            </a:r>
            <a:r>
              <a:rPr lang="en-US" b="1" dirty="0"/>
              <a:t>CVS</a:t>
            </a:r>
            <a:r>
              <a:rPr lang="en-US" dirty="0"/>
              <a:t>), and </a:t>
            </a:r>
            <a:r>
              <a:rPr lang="en-US" b="1" dirty="0"/>
              <a:t>Team Foundation Version Control </a:t>
            </a:r>
            <a:r>
              <a:rPr lang="en-US" dirty="0"/>
              <a:t>(</a:t>
            </a:r>
            <a:r>
              <a:rPr lang="en-US" b="1" dirty="0"/>
              <a:t>TFVC</a:t>
            </a:r>
            <a:r>
              <a:rPr lang="en-US" dirty="0"/>
              <a:t>) and Microsoft </a:t>
            </a:r>
            <a:r>
              <a:rPr lang="en-US" b="1" dirty="0"/>
              <a:t>Visual SourceSafe </a:t>
            </a:r>
            <a:r>
              <a:rPr lang="en-US" dirty="0"/>
              <a:t>(</a:t>
            </a:r>
            <a:r>
              <a:rPr lang="en-US" b="1" dirty="0"/>
              <a:t>VSS</a:t>
            </a:r>
            <a:r>
              <a:rPr lang="en-US" dirty="0"/>
              <a:t>). These systems consist of a remote server that centralizes the code of all developers.</a:t>
            </a:r>
          </a:p>
          <a:p>
            <a:r>
              <a:rPr lang="en-US" dirty="0"/>
              <a:t>All developers can archive and retrieve their code on the remote server. The system allows better collaboration between teams and a guarantee of code backup. However, it has its drawbacks, such as the following:</a:t>
            </a:r>
          </a:p>
          <a:p>
            <a:pPr marL="0" indent="0">
              <a:buNone/>
            </a:pPr>
            <a:r>
              <a:rPr lang="en-US" dirty="0"/>
              <a:t>• In case of no connection (for a network problem or internet disconnection) between the developers and the remote server, no more archiving or code recovery </a:t>
            </a:r>
            <a:r>
              <a:rPr lang="en-IN" dirty="0"/>
              <a:t>actions can be performed.</a:t>
            </a:r>
          </a:p>
          <a:p>
            <a:pPr marL="0" indent="0">
              <a:buNone/>
            </a:pPr>
            <a:r>
              <a:rPr lang="en-US" dirty="0"/>
              <a:t>• If the remote server no longer works, the code, as well as the history, will be lost.</a:t>
            </a:r>
            <a:endParaRPr lang="en-IN" dirty="0"/>
          </a:p>
        </p:txBody>
      </p:sp>
    </p:spTree>
    <p:extLst>
      <p:ext uri="{BB962C8B-B14F-4D97-AF65-F5344CB8AC3E}">
        <p14:creationId xmlns:p14="http://schemas.microsoft.com/office/powerpoint/2010/main" val="17292570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0716CAE-0D42-DA00-9722-CE17C32ADA97}"/>
              </a:ext>
            </a:extLst>
          </p:cNvPr>
          <p:cNvPicPr>
            <a:picLocks noChangeAspect="1"/>
          </p:cNvPicPr>
          <p:nvPr/>
        </p:nvPicPr>
        <p:blipFill>
          <a:blip r:embed="rId2"/>
          <a:stretch>
            <a:fillRect/>
          </a:stretch>
        </p:blipFill>
        <p:spPr>
          <a:xfrm>
            <a:off x="1730829" y="783771"/>
            <a:ext cx="8316685" cy="5344886"/>
          </a:xfrm>
          <a:prstGeom prst="rect">
            <a:avLst/>
          </a:prstGeom>
        </p:spPr>
      </p:pic>
    </p:spTree>
    <p:extLst>
      <p:ext uri="{BB962C8B-B14F-4D97-AF65-F5344CB8AC3E}">
        <p14:creationId xmlns:p14="http://schemas.microsoft.com/office/powerpoint/2010/main" val="38089569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0EB40-85A7-2E2D-9136-66346BC52460}"/>
              </a:ext>
            </a:extLst>
          </p:cNvPr>
          <p:cNvSpPr>
            <a:spLocks noGrp="1"/>
          </p:cNvSpPr>
          <p:nvPr>
            <p:ph type="title"/>
          </p:nvPr>
        </p:nvSpPr>
        <p:spPr/>
        <p:txBody>
          <a:bodyPr/>
          <a:lstStyle/>
          <a:p>
            <a:r>
              <a:rPr lang="en-IN" b="1" dirty="0"/>
              <a:t>Distributed system</a:t>
            </a:r>
            <a:endParaRPr lang="en-IN" dirty="0"/>
          </a:p>
        </p:txBody>
      </p:sp>
      <p:sp>
        <p:nvSpPr>
          <p:cNvPr id="3" name="Content Placeholder 2">
            <a:extLst>
              <a:ext uri="{FF2B5EF4-FFF2-40B4-BE49-F238E27FC236}">
                <a16:creationId xmlns:a16="http://schemas.microsoft.com/office/drawing/2014/main" id="{C48AC8BC-82E6-C3D8-3D89-3F6BE1E4A4F3}"/>
              </a:ext>
            </a:extLst>
          </p:cNvPr>
          <p:cNvSpPr>
            <a:spLocks noGrp="1"/>
          </p:cNvSpPr>
          <p:nvPr>
            <p:ph idx="1"/>
          </p:nvPr>
        </p:nvSpPr>
        <p:spPr/>
        <p:txBody>
          <a:bodyPr/>
          <a:lstStyle/>
          <a:p>
            <a:r>
              <a:rPr lang="en-US" dirty="0"/>
              <a:t>These systems consist of a remote repository and a local copy of this repository on </a:t>
            </a:r>
            <a:r>
              <a:rPr lang="en-IN" dirty="0"/>
              <a:t>each developer's local machine.</a:t>
            </a:r>
          </a:p>
          <a:p>
            <a:r>
              <a:rPr lang="en-US" dirty="0"/>
              <a:t>with this distributed system, even in the event of disconnection from the remote repository, developers can continue to work with the local repository, and synchronization will be done when the remote repository is accessible again. A copy of the code and its history is also present in the local repository.</a:t>
            </a:r>
            <a:endParaRPr lang="en-IN" dirty="0"/>
          </a:p>
        </p:txBody>
      </p:sp>
    </p:spTree>
    <p:extLst>
      <p:ext uri="{BB962C8B-B14F-4D97-AF65-F5344CB8AC3E}">
        <p14:creationId xmlns:p14="http://schemas.microsoft.com/office/powerpoint/2010/main" val="8040794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A0A2CC-C344-8695-AF65-89D6F010E8A7}"/>
              </a:ext>
            </a:extLst>
          </p:cNvPr>
          <p:cNvPicPr>
            <a:picLocks noChangeAspect="1"/>
          </p:cNvPicPr>
          <p:nvPr/>
        </p:nvPicPr>
        <p:blipFill>
          <a:blip r:embed="rId2"/>
          <a:stretch>
            <a:fillRect/>
          </a:stretch>
        </p:blipFill>
        <p:spPr>
          <a:xfrm>
            <a:off x="1899557" y="979713"/>
            <a:ext cx="8392885" cy="5442857"/>
          </a:xfrm>
          <a:prstGeom prst="rect">
            <a:avLst/>
          </a:prstGeom>
        </p:spPr>
      </p:pic>
    </p:spTree>
    <p:extLst>
      <p:ext uri="{BB962C8B-B14F-4D97-AF65-F5344CB8AC3E}">
        <p14:creationId xmlns:p14="http://schemas.microsoft.com/office/powerpoint/2010/main" val="38208664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FBBB4-1652-70E4-86DB-FE11820D92A6}"/>
              </a:ext>
            </a:extLst>
          </p:cNvPr>
          <p:cNvSpPr>
            <a:spLocks noGrp="1"/>
          </p:cNvSpPr>
          <p:nvPr>
            <p:ph type="title"/>
          </p:nvPr>
        </p:nvSpPr>
        <p:spPr/>
        <p:txBody>
          <a:bodyPr/>
          <a:lstStyle/>
          <a:p>
            <a:r>
              <a:rPr lang="en-IN" dirty="0"/>
              <a:t>Git configuration</a:t>
            </a:r>
          </a:p>
        </p:txBody>
      </p:sp>
      <p:sp>
        <p:nvSpPr>
          <p:cNvPr id="3" name="Content Placeholder 2">
            <a:extLst>
              <a:ext uri="{FF2B5EF4-FFF2-40B4-BE49-F238E27FC236}">
                <a16:creationId xmlns:a16="http://schemas.microsoft.com/office/drawing/2014/main" id="{463DC1D5-C897-482F-0125-72771B62E92A}"/>
              </a:ext>
            </a:extLst>
          </p:cNvPr>
          <p:cNvSpPr>
            <a:spLocks noGrp="1"/>
          </p:cNvSpPr>
          <p:nvPr>
            <p:ph idx="1"/>
          </p:nvPr>
        </p:nvSpPr>
        <p:spPr/>
        <p:txBody>
          <a:bodyPr/>
          <a:lstStyle/>
          <a:p>
            <a:r>
              <a:rPr lang="en-US" b="1" dirty="0"/>
              <a:t>git config --global user.name "&lt;your username&gt;"</a:t>
            </a:r>
          </a:p>
          <a:p>
            <a:r>
              <a:rPr lang="en-IN" b="1" dirty="0"/>
              <a:t>git config --global </a:t>
            </a:r>
            <a:r>
              <a:rPr lang="en-IN" b="1" dirty="0" err="1"/>
              <a:t>user.email</a:t>
            </a:r>
            <a:r>
              <a:rPr lang="en-IN" b="1" dirty="0"/>
              <a:t> "&lt;your email&gt;"</a:t>
            </a:r>
          </a:p>
          <a:p>
            <a:r>
              <a:rPr lang="en-US" dirty="0"/>
              <a:t>Then, we can check the configuration values by executing the following command:</a:t>
            </a:r>
          </a:p>
          <a:p>
            <a:r>
              <a:rPr lang="en-IN" b="1" dirty="0"/>
              <a:t>git config --global –list</a:t>
            </a:r>
          </a:p>
          <a:p>
            <a:endParaRPr lang="en-IN" dirty="0"/>
          </a:p>
        </p:txBody>
      </p:sp>
      <p:pic>
        <p:nvPicPr>
          <p:cNvPr id="5" name="Picture 4">
            <a:extLst>
              <a:ext uri="{FF2B5EF4-FFF2-40B4-BE49-F238E27FC236}">
                <a16:creationId xmlns:a16="http://schemas.microsoft.com/office/drawing/2014/main" id="{752DD140-B488-B8B3-9C43-FF5640D08E14}"/>
              </a:ext>
            </a:extLst>
          </p:cNvPr>
          <p:cNvPicPr>
            <a:picLocks noChangeAspect="1"/>
          </p:cNvPicPr>
          <p:nvPr/>
        </p:nvPicPr>
        <p:blipFill>
          <a:blip r:embed="rId2"/>
          <a:stretch>
            <a:fillRect/>
          </a:stretch>
        </p:blipFill>
        <p:spPr>
          <a:xfrm>
            <a:off x="1451264" y="4249470"/>
            <a:ext cx="8922821" cy="2062430"/>
          </a:xfrm>
          <a:prstGeom prst="rect">
            <a:avLst/>
          </a:prstGeom>
        </p:spPr>
      </p:pic>
    </p:spTree>
    <p:extLst>
      <p:ext uri="{BB962C8B-B14F-4D97-AF65-F5344CB8AC3E}">
        <p14:creationId xmlns:p14="http://schemas.microsoft.com/office/powerpoint/2010/main" val="740371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4BEC8-EA57-8E3E-0A60-FBBFFD326B02}"/>
              </a:ext>
            </a:extLst>
          </p:cNvPr>
          <p:cNvSpPr>
            <a:spLocks noGrp="1"/>
          </p:cNvSpPr>
          <p:nvPr>
            <p:ph type="title"/>
          </p:nvPr>
        </p:nvSpPr>
        <p:spPr/>
        <p:txBody>
          <a:bodyPr/>
          <a:lstStyle/>
          <a:p>
            <a:r>
              <a:rPr lang="en-IN" dirty="0"/>
              <a:t>Useful Git vocabulary</a:t>
            </a:r>
          </a:p>
        </p:txBody>
      </p:sp>
      <p:sp>
        <p:nvSpPr>
          <p:cNvPr id="3" name="Content Placeholder 2">
            <a:extLst>
              <a:ext uri="{FF2B5EF4-FFF2-40B4-BE49-F238E27FC236}">
                <a16:creationId xmlns:a16="http://schemas.microsoft.com/office/drawing/2014/main" id="{C8A5D8AD-FD2B-F4A3-877D-8E97949E448A}"/>
              </a:ext>
            </a:extLst>
          </p:cNvPr>
          <p:cNvSpPr>
            <a:spLocks noGrp="1"/>
          </p:cNvSpPr>
          <p:nvPr>
            <p:ph idx="1"/>
          </p:nvPr>
        </p:nvSpPr>
        <p:spPr/>
        <p:txBody>
          <a:bodyPr>
            <a:normAutofit/>
          </a:bodyPr>
          <a:lstStyle/>
          <a:p>
            <a:r>
              <a:rPr lang="en-US" b="1" dirty="0"/>
              <a:t>Repository</a:t>
            </a:r>
            <a:r>
              <a:rPr lang="en-US" dirty="0"/>
              <a:t>: A repository is the basic element of Git; it is the storage space were the sources are tracked and versioned. There are </a:t>
            </a:r>
            <a:r>
              <a:rPr lang="en-US" b="1" dirty="0"/>
              <a:t>remote repositories </a:t>
            </a:r>
            <a:r>
              <a:rPr lang="en-US" dirty="0"/>
              <a:t>that centralize a team's code and allow team collaboration. There is also the </a:t>
            </a:r>
            <a:r>
              <a:rPr lang="en-US" b="1" dirty="0"/>
              <a:t>local repository</a:t>
            </a:r>
            <a:r>
              <a:rPr lang="en-US" dirty="0"/>
              <a:t>, which is a copy of the local repository on the local machine.</a:t>
            </a:r>
          </a:p>
          <a:p>
            <a:r>
              <a:rPr lang="en-US" dirty="0"/>
              <a:t> </a:t>
            </a:r>
            <a:r>
              <a:rPr lang="en-US" b="1" dirty="0"/>
              <a:t>Clone</a:t>
            </a:r>
            <a:r>
              <a:rPr lang="en-US" dirty="0"/>
              <a:t>: Cloning is the act of making a local copy of a remote repository.</a:t>
            </a:r>
          </a:p>
          <a:p>
            <a:r>
              <a:rPr lang="en-US" dirty="0"/>
              <a:t> </a:t>
            </a:r>
            <a:r>
              <a:rPr lang="en-US" b="1" dirty="0"/>
              <a:t>Commit</a:t>
            </a:r>
            <a:r>
              <a:rPr lang="en-US" dirty="0"/>
              <a:t>: A commit is a change made to one or more files, and the change is saved to the local repository. Each commit is unique and is identified by a unique number called </a:t>
            </a:r>
            <a:r>
              <a:rPr lang="en-US" b="1" dirty="0"/>
              <a:t>SHA-1</a:t>
            </a:r>
            <a:r>
              <a:rPr lang="en-US" dirty="0"/>
              <a:t>, by which code changes can be tracked.</a:t>
            </a:r>
            <a:endParaRPr lang="en-IN" dirty="0"/>
          </a:p>
        </p:txBody>
      </p:sp>
    </p:spTree>
    <p:extLst>
      <p:ext uri="{BB962C8B-B14F-4D97-AF65-F5344CB8AC3E}">
        <p14:creationId xmlns:p14="http://schemas.microsoft.com/office/powerpoint/2010/main" val="2371672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AF18E1-B441-AEE5-7F1F-1C82C2A479F3}"/>
              </a:ext>
            </a:extLst>
          </p:cNvPr>
          <p:cNvSpPr>
            <a:spLocks noGrp="1"/>
          </p:cNvSpPr>
          <p:nvPr>
            <p:ph idx="1"/>
          </p:nvPr>
        </p:nvSpPr>
        <p:spPr>
          <a:xfrm>
            <a:off x="677333" y="849087"/>
            <a:ext cx="10034210" cy="5477068"/>
          </a:xfrm>
        </p:spPr>
        <p:txBody>
          <a:bodyPr>
            <a:normAutofit/>
          </a:bodyPr>
          <a:lstStyle/>
          <a:p>
            <a:r>
              <a:rPr lang="en-US" b="1" dirty="0"/>
              <a:t>Branch</a:t>
            </a:r>
            <a:r>
              <a:rPr lang="en-US" dirty="0"/>
              <a:t>: The code that is in the repository is stored by default in a master branch.</a:t>
            </a:r>
          </a:p>
          <a:p>
            <a:pPr marL="0" indent="0">
              <a:buNone/>
            </a:pPr>
            <a:r>
              <a:rPr lang="en-US" dirty="0"/>
              <a:t>A branch can create other branches that will be a replica of the master on which</a:t>
            </a:r>
          </a:p>
          <a:p>
            <a:pPr marL="0" indent="0">
              <a:buNone/>
            </a:pPr>
            <a:r>
              <a:rPr lang="en-US" dirty="0"/>
              <a:t>developers make changes, and that will allow us to work in isolation without</a:t>
            </a:r>
          </a:p>
          <a:p>
            <a:pPr marL="0" indent="0">
              <a:buNone/>
            </a:pPr>
            <a:r>
              <a:rPr lang="en-US" dirty="0"/>
              <a:t>affecting the master branch. At any time, we can merge one branch with another.</a:t>
            </a:r>
          </a:p>
          <a:p>
            <a:r>
              <a:rPr lang="en-US" dirty="0"/>
              <a:t> </a:t>
            </a:r>
            <a:r>
              <a:rPr lang="en-US" b="1" dirty="0"/>
              <a:t>Merge</a:t>
            </a:r>
            <a:r>
              <a:rPr lang="en-US" dirty="0"/>
              <a:t>: This is an action that consists of merging the code of one branch with </a:t>
            </a:r>
            <a:r>
              <a:rPr lang="en-IN" dirty="0"/>
              <a:t>another.</a:t>
            </a:r>
          </a:p>
          <a:p>
            <a:r>
              <a:rPr lang="en-US" dirty="0"/>
              <a:t> </a:t>
            </a:r>
            <a:r>
              <a:rPr lang="en-US" b="1" dirty="0"/>
              <a:t>Checkout</a:t>
            </a:r>
            <a:r>
              <a:rPr lang="en-US" dirty="0"/>
              <a:t>: This is an action that allows us to switch from one branch to another.</a:t>
            </a:r>
          </a:p>
          <a:p>
            <a:r>
              <a:rPr lang="en-US" dirty="0"/>
              <a:t> </a:t>
            </a:r>
            <a:r>
              <a:rPr lang="en-US" b="1" dirty="0"/>
              <a:t>Fetch</a:t>
            </a:r>
            <a:r>
              <a:rPr lang="en-US" dirty="0"/>
              <a:t>: This is an action of retrieving the code from the remote repository without merging it with the local repository.</a:t>
            </a:r>
            <a:endParaRPr lang="en-IN" dirty="0"/>
          </a:p>
        </p:txBody>
      </p:sp>
    </p:spTree>
    <p:extLst>
      <p:ext uri="{BB962C8B-B14F-4D97-AF65-F5344CB8AC3E}">
        <p14:creationId xmlns:p14="http://schemas.microsoft.com/office/powerpoint/2010/main" val="3867993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3A2B52-0DDE-91D1-23D1-6F3CF45E3719}"/>
              </a:ext>
            </a:extLst>
          </p:cNvPr>
          <p:cNvSpPr>
            <a:spLocks noGrp="1"/>
          </p:cNvSpPr>
          <p:nvPr>
            <p:ph idx="1"/>
          </p:nvPr>
        </p:nvSpPr>
        <p:spPr/>
        <p:txBody>
          <a:bodyPr>
            <a:normAutofit/>
          </a:bodyPr>
          <a:lstStyle/>
          <a:p>
            <a:r>
              <a:rPr lang="en-US" b="1" dirty="0"/>
              <a:t>Pull</a:t>
            </a:r>
            <a:r>
              <a:rPr lang="en-US" dirty="0"/>
              <a:t>: This is an action that consists of updating your local repository from the remote repository. A pull is equivalent to a fetch and merge operation.</a:t>
            </a:r>
          </a:p>
          <a:p>
            <a:r>
              <a:rPr lang="en-US" dirty="0"/>
              <a:t> </a:t>
            </a:r>
            <a:r>
              <a:rPr lang="en-US" b="1" dirty="0"/>
              <a:t>Push</a:t>
            </a:r>
            <a:r>
              <a:rPr lang="en-US" dirty="0"/>
              <a:t>: A push is the reverse action of a pull—it allows us to update the remote repository from the local repository.</a:t>
            </a:r>
          </a:p>
          <a:p>
            <a:r>
              <a:rPr lang="en-US" dirty="0"/>
              <a:t> </a:t>
            </a:r>
            <a:r>
              <a:rPr lang="en-US" b="1" dirty="0"/>
              <a:t>Pull request (PR)</a:t>
            </a:r>
            <a:r>
              <a:rPr lang="en-US" dirty="0"/>
              <a:t>: A PR is a Git feature (initiated by GitHub) that provides a</a:t>
            </a:r>
          </a:p>
          <a:p>
            <a:r>
              <a:rPr lang="en-US" b="1" dirty="0"/>
              <a:t>graphical user interface </a:t>
            </a:r>
            <a:r>
              <a:rPr lang="en-US" dirty="0"/>
              <a:t>(</a:t>
            </a:r>
            <a:r>
              <a:rPr lang="en-US" b="1" dirty="0"/>
              <a:t>GUI</a:t>
            </a:r>
            <a:r>
              <a:rPr lang="en-US" dirty="0"/>
              <a:t>) client or web interface for discussing proposed changes, between teams' users, before integrating them into the main branch.</a:t>
            </a:r>
            <a:endParaRPr lang="en-IN" dirty="0"/>
          </a:p>
        </p:txBody>
      </p:sp>
    </p:spTree>
    <p:extLst>
      <p:ext uri="{BB962C8B-B14F-4D97-AF65-F5344CB8AC3E}">
        <p14:creationId xmlns:p14="http://schemas.microsoft.com/office/powerpoint/2010/main" val="1393737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42C699-40E1-CED2-E3CD-B5961B35A1BE}"/>
              </a:ext>
            </a:extLst>
          </p:cNvPr>
          <p:cNvSpPr>
            <a:spLocks noGrp="1"/>
          </p:cNvSpPr>
          <p:nvPr>
            <p:ph idx="1"/>
          </p:nvPr>
        </p:nvSpPr>
        <p:spPr>
          <a:xfrm>
            <a:off x="817293" y="471748"/>
            <a:ext cx="8596668" cy="3880773"/>
          </a:xfrm>
        </p:spPr>
        <p:txBody>
          <a:bodyPr>
            <a:noAutofit/>
          </a:bodyPr>
          <a:lstStyle/>
          <a:p>
            <a:r>
              <a:rPr lang="en-IN" sz="1200" dirty="0"/>
              <a:t>git </a:t>
            </a:r>
            <a:r>
              <a:rPr lang="en-IN" sz="1200" dirty="0" err="1"/>
              <a:t>init</a:t>
            </a:r>
            <a:r>
              <a:rPr lang="en-IN" sz="1200" dirty="0"/>
              <a:t> — Create a new repository.</a:t>
            </a:r>
          </a:p>
          <a:p>
            <a:r>
              <a:rPr lang="en-IN" sz="1200" dirty="0"/>
              <a:t>git clone &lt;</a:t>
            </a:r>
            <a:r>
              <a:rPr lang="en-IN" sz="1200" dirty="0" err="1"/>
              <a:t>url</a:t>
            </a:r>
            <a:r>
              <a:rPr lang="en-IN" sz="1200" dirty="0"/>
              <a:t>&gt; — Copy an existing repository.</a:t>
            </a:r>
          </a:p>
          <a:p>
            <a:r>
              <a:rPr lang="en-IN" sz="1200" dirty="0"/>
              <a:t>git status — Show changed, staged, and untracked files.</a:t>
            </a:r>
          </a:p>
          <a:p>
            <a:r>
              <a:rPr lang="en-IN" sz="1200" dirty="0"/>
              <a:t>git add &lt;file&gt; — Stage a file.</a:t>
            </a:r>
          </a:p>
          <a:p>
            <a:r>
              <a:rPr lang="en-IN" sz="1200" dirty="0"/>
              <a:t>git add . — Stage all current changes.</a:t>
            </a:r>
          </a:p>
          <a:p>
            <a:r>
              <a:rPr lang="en-IN" sz="1200" dirty="0"/>
              <a:t>git commit -m "message" — Save staged changes.</a:t>
            </a:r>
          </a:p>
          <a:p>
            <a:r>
              <a:rPr lang="en-IN" sz="1200" dirty="0"/>
              <a:t>git log — Show commit history.</a:t>
            </a:r>
          </a:p>
          <a:p>
            <a:r>
              <a:rPr lang="en-IN" sz="1200" dirty="0"/>
              <a:t>git branch — List branches.</a:t>
            </a:r>
          </a:p>
          <a:p>
            <a:r>
              <a:rPr lang="en-IN" sz="1200" dirty="0"/>
              <a:t>git switch &lt;branch&gt; — Switch branches.</a:t>
            </a:r>
          </a:p>
          <a:p>
            <a:r>
              <a:rPr lang="en-IN" sz="1200" dirty="0"/>
              <a:t>git switch -c &lt;branch&gt; — Create and switch to a new branch.</a:t>
            </a:r>
          </a:p>
          <a:p>
            <a:r>
              <a:rPr lang="en-IN" sz="1200" dirty="0"/>
              <a:t>git merge &lt;branch&gt; — Merge a branch into the current branch.</a:t>
            </a:r>
          </a:p>
          <a:p>
            <a:r>
              <a:rPr lang="en-IN" sz="1200" dirty="0"/>
              <a:t>git pull — Fetch and merge remote changes.</a:t>
            </a:r>
          </a:p>
          <a:p>
            <a:r>
              <a:rPr lang="en-IN" sz="1200" dirty="0"/>
              <a:t>git fetch — Download remote changes without merging.</a:t>
            </a:r>
          </a:p>
          <a:p>
            <a:r>
              <a:rPr lang="en-IN" sz="1200" dirty="0"/>
              <a:t>git push — Upload local commits to a remote.</a:t>
            </a:r>
          </a:p>
          <a:p>
            <a:r>
              <a:rPr lang="en-IN" sz="1200" dirty="0"/>
              <a:t>git remote -v — Show remote repository URLs.</a:t>
            </a:r>
          </a:p>
          <a:p>
            <a:r>
              <a:rPr lang="en-IN" sz="1200" dirty="0"/>
              <a:t>git stash — Save uncommitted work temporarily.</a:t>
            </a:r>
          </a:p>
          <a:p>
            <a:r>
              <a:rPr lang="en-IN" sz="1200" dirty="0"/>
              <a:t>git restore &lt;file&gt; — Discard local changes in a file.</a:t>
            </a:r>
          </a:p>
          <a:p>
            <a:pPr marL="0" indent="0">
              <a:buNone/>
            </a:pPr>
            <a:r>
              <a:rPr lang="en-IN" sz="1200" dirty="0"/>
              <a:t/>
            </a:r>
            <a:br>
              <a:rPr lang="en-IN" sz="1200" dirty="0"/>
            </a:br>
            <a:endParaRPr lang="en-IN" sz="1200" dirty="0"/>
          </a:p>
        </p:txBody>
      </p:sp>
    </p:spTree>
    <p:extLst>
      <p:ext uri="{BB962C8B-B14F-4D97-AF65-F5344CB8AC3E}">
        <p14:creationId xmlns:p14="http://schemas.microsoft.com/office/powerpoint/2010/main" val="42550044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637E7-89F2-C5E5-90A9-328C1B7F12C9}"/>
              </a:ext>
            </a:extLst>
          </p:cNvPr>
          <p:cNvSpPr>
            <a:spLocks noGrp="1"/>
          </p:cNvSpPr>
          <p:nvPr>
            <p:ph type="title"/>
          </p:nvPr>
        </p:nvSpPr>
        <p:spPr/>
        <p:txBody>
          <a:bodyPr/>
          <a:lstStyle/>
          <a:p>
            <a:r>
              <a:rPr lang="en-IN" b="1" dirty="0"/>
              <a:t>Quick example</a:t>
            </a:r>
            <a:br>
              <a:rPr lang="en-IN" b="1" dirty="0"/>
            </a:br>
            <a:endParaRPr lang="en-IN" dirty="0"/>
          </a:p>
        </p:txBody>
      </p:sp>
      <p:sp>
        <p:nvSpPr>
          <p:cNvPr id="3" name="Content Placeholder 2">
            <a:extLst>
              <a:ext uri="{FF2B5EF4-FFF2-40B4-BE49-F238E27FC236}">
                <a16:creationId xmlns:a16="http://schemas.microsoft.com/office/drawing/2014/main" id="{2C82CF15-DF9B-8EF9-516B-D29F0C003AAA}"/>
              </a:ext>
            </a:extLst>
          </p:cNvPr>
          <p:cNvSpPr>
            <a:spLocks noGrp="1"/>
          </p:cNvSpPr>
          <p:nvPr>
            <p:ph idx="1"/>
          </p:nvPr>
        </p:nvSpPr>
        <p:spPr/>
        <p:txBody>
          <a:bodyPr>
            <a:normAutofit/>
          </a:bodyPr>
          <a:lstStyle/>
          <a:p>
            <a:r>
              <a:rPr lang="en-IN" dirty="0"/>
              <a:t>bash</a:t>
            </a:r>
          </a:p>
          <a:p>
            <a:r>
              <a:rPr lang="en-IN" dirty="0"/>
              <a:t>git clone https://github.com/user/repo.git</a:t>
            </a:r>
          </a:p>
          <a:p>
            <a:r>
              <a:rPr lang="en-IN" dirty="0"/>
              <a:t>cd repo</a:t>
            </a:r>
          </a:p>
          <a:p>
            <a:r>
              <a:rPr lang="en-IN" dirty="0"/>
              <a:t>git switch -c feature-login</a:t>
            </a:r>
          </a:p>
          <a:p>
            <a:r>
              <a:rPr lang="en-IN" dirty="0"/>
              <a:t>git add .</a:t>
            </a:r>
          </a:p>
          <a:p>
            <a:r>
              <a:rPr lang="en-IN" dirty="0"/>
              <a:t>git commit -m "Add login feature"</a:t>
            </a:r>
          </a:p>
          <a:p>
            <a:r>
              <a:rPr lang="en-IN" dirty="0"/>
              <a:t>git push origin feature-login</a:t>
            </a:r>
          </a:p>
          <a:p>
            <a:endParaRPr lang="en-IN" dirty="0"/>
          </a:p>
        </p:txBody>
      </p:sp>
    </p:spTree>
    <p:extLst>
      <p:ext uri="{BB962C8B-B14F-4D97-AF65-F5344CB8AC3E}">
        <p14:creationId xmlns:p14="http://schemas.microsoft.com/office/powerpoint/2010/main" val="18366622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9A94B-260F-F234-DB9B-CB27AFAB82FC}"/>
              </a:ext>
            </a:extLst>
          </p:cNvPr>
          <p:cNvSpPr>
            <a:spLocks noGrp="1"/>
          </p:cNvSpPr>
          <p:nvPr>
            <p:ph type="title"/>
          </p:nvPr>
        </p:nvSpPr>
        <p:spPr/>
        <p:txBody>
          <a:bodyPr/>
          <a:lstStyle/>
          <a:p>
            <a:r>
              <a:rPr lang="en-IN" dirty="0"/>
              <a:t>Git command lines</a:t>
            </a:r>
          </a:p>
        </p:txBody>
      </p:sp>
      <p:sp>
        <p:nvSpPr>
          <p:cNvPr id="3" name="Content Placeholder 2">
            <a:extLst>
              <a:ext uri="{FF2B5EF4-FFF2-40B4-BE49-F238E27FC236}">
                <a16:creationId xmlns:a16="http://schemas.microsoft.com/office/drawing/2014/main" id="{780A7FF0-307A-08BA-D5CC-C8F5FE8AFE14}"/>
              </a:ext>
            </a:extLst>
          </p:cNvPr>
          <p:cNvSpPr>
            <a:spLocks noGrp="1"/>
          </p:cNvSpPr>
          <p:nvPr>
            <p:ph idx="1"/>
          </p:nvPr>
        </p:nvSpPr>
        <p:spPr/>
        <p:txBody>
          <a:bodyPr/>
          <a:lstStyle/>
          <a:p>
            <a:pPr marL="0" indent="0">
              <a:buNone/>
            </a:pPr>
            <a:r>
              <a:rPr lang="en-IN" dirty="0"/>
              <a:t>1.Retrieving a remote repository:</a:t>
            </a:r>
          </a:p>
          <a:p>
            <a:pPr marL="0" indent="0">
              <a:buNone/>
            </a:pPr>
            <a:r>
              <a:rPr lang="en-US" b="1" dirty="0"/>
              <a:t>git clone &lt;</a:t>
            </a:r>
            <a:r>
              <a:rPr lang="en-US" b="1" dirty="0" err="1"/>
              <a:t>url</a:t>
            </a:r>
            <a:r>
              <a:rPr lang="en-US" b="1" dirty="0"/>
              <a:t> of the remote repository&gt;</a:t>
            </a:r>
          </a:p>
          <a:p>
            <a:pPr marL="0" indent="0">
              <a:buNone/>
            </a:pPr>
            <a:r>
              <a:rPr lang="en-US" b="1" dirty="0"/>
              <a:t>2. </a:t>
            </a:r>
            <a:r>
              <a:rPr lang="en-IN" dirty="0"/>
              <a:t>Initializing a local repository: </a:t>
            </a:r>
            <a:r>
              <a:rPr lang="en-IN" b="1" dirty="0"/>
              <a:t>git </a:t>
            </a:r>
            <a:r>
              <a:rPr lang="en-IN" b="1" dirty="0" err="1"/>
              <a:t>init</a:t>
            </a:r>
            <a:endParaRPr lang="en-IN" b="1" dirty="0"/>
          </a:p>
          <a:p>
            <a:pPr marL="0" indent="0">
              <a:buNone/>
            </a:pPr>
            <a:r>
              <a:rPr lang="en-IN" b="1" dirty="0"/>
              <a:t>3.</a:t>
            </a:r>
            <a:r>
              <a:rPr lang="en-IN" dirty="0"/>
              <a:t> Configuring a local repository</a:t>
            </a:r>
          </a:p>
          <a:p>
            <a:pPr marL="0" indent="0">
              <a:buNone/>
            </a:pPr>
            <a:r>
              <a:rPr lang="en-US" b="1" dirty="0"/>
              <a:t>git remote add &lt;name&gt; &lt;</a:t>
            </a:r>
            <a:r>
              <a:rPr lang="en-US" b="1" dirty="0" err="1"/>
              <a:t>url</a:t>
            </a:r>
            <a:r>
              <a:rPr lang="en-US" b="1" dirty="0"/>
              <a:t> of the remote&gt;</a:t>
            </a:r>
          </a:p>
          <a:p>
            <a:pPr marL="0" indent="0">
              <a:buNone/>
            </a:pPr>
            <a:r>
              <a:rPr lang="en-US" b="1" dirty="0"/>
              <a:t>4.</a:t>
            </a:r>
            <a:r>
              <a:rPr lang="en-US" dirty="0"/>
              <a:t> Adding a file for the next commit</a:t>
            </a:r>
          </a:p>
          <a:p>
            <a:pPr marL="0" indent="0">
              <a:buNone/>
            </a:pPr>
            <a:r>
              <a:rPr lang="en-US" b="1" dirty="0"/>
              <a:t>git add &lt;files path to add&gt;</a:t>
            </a:r>
          </a:p>
          <a:p>
            <a:pPr marL="0" indent="0">
              <a:buNone/>
            </a:pPr>
            <a:r>
              <a:rPr lang="en-US" b="1" dirty="0"/>
              <a:t>5.</a:t>
            </a:r>
            <a:r>
              <a:rPr lang="en-IN" dirty="0"/>
              <a:t> Creating a commit:</a:t>
            </a:r>
            <a:r>
              <a:rPr lang="en-US" b="1" dirty="0"/>
              <a:t>git commit -m "&lt;your commit message&gt;"</a:t>
            </a:r>
            <a:endParaRPr lang="en-IN" dirty="0"/>
          </a:p>
        </p:txBody>
      </p:sp>
    </p:spTree>
    <p:extLst>
      <p:ext uri="{BB962C8B-B14F-4D97-AF65-F5344CB8AC3E}">
        <p14:creationId xmlns:p14="http://schemas.microsoft.com/office/powerpoint/2010/main" val="1026069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5BFE1-AFF7-23BC-BD62-71729A63234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DF5CC2D-B5DA-67BE-DD19-4E912BE85A6B}"/>
              </a:ext>
            </a:extLst>
          </p:cNvPr>
          <p:cNvSpPr>
            <a:spLocks noGrp="1"/>
          </p:cNvSpPr>
          <p:nvPr>
            <p:ph idx="1"/>
          </p:nvPr>
        </p:nvSpPr>
        <p:spPr/>
        <p:txBody>
          <a:bodyPr>
            <a:normAutofit/>
          </a:bodyPr>
          <a:lstStyle/>
          <a:p>
            <a:pPr marL="0" indent="0">
              <a:buNone/>
            </a:pPr>
            <a:r>
              <a:rPr lang="en-IN" dirty="0"/>
              <a:t>6. Updating the remote </a:t>
            </a:r>
            <a:r>
              <a:rPr lang="en-IN" dirty="0" err="1"/>
              <a:t>repository:</a:t>
            </a:r>
            <a:r>
              <a:rPr lang="en-IN" b="1" dirty="0" err="1"/>
              <a:t>git</a:t>
            </a:r>
            <a:r>
              <a:rPr lang="en-IN" b="1" dirty="0"/>
              <a:t> push &lt;alias&gt; &lt;branch&gt;</a:t>
            </a:r>
          </a:p>
          <a:p>
            <a:pPr marL="0" indent="0">
              <a:buNone/>
            </a:pPr>
            <a:r>
              <a:rPr lang="en-IN" b="1" dirty="0"/>
              <a:t>7.</a:t>
            </a:r>
            <a:r>
              <a:rPr lang="en-US" dirty="0"/>
              <a:t> Synchronizing the local repository from the remote:</a:t>
            </a:r>
          </a:p>
          <a:p>
            <a:pPr marL="0" indent="0">
              <a:buNone/>
            </a:pPr>
            <a:r>
              <a:rPr lang="en-IN" b="1" dirty="0"/>
              <a:t>git pull</a:t>
            </a:r>
          </a:p>
          <a:p>
            <a:pPr marL="0" indent="0">
              <a:buNone/>
            </a:pPr>
            <a:r>
              <a:rPr lang="en-IN" b="1" dirty="0"/>
              <a:t>git fetch</a:t>
            </a:r>
          </a:p>
          <a:p>
            <a:pPr marL="0" indent="0">
              <a:buNone/>
            </a:pPr>
            <a:r>
              <a:rPr lang="en-IN" b="1" dirty="0"/>
              <a:t>8.</a:t>
            </a:r>
            <a:r>
              <a:rPr lang="en-IN" dirty="0"/>
              <a:t> Managing branches</a:t>
            </a:r>
          </a:p>
          <a:p>
            <a:pPr marL="0" indent="0">
              <a:buNone/>
            </a:pPr>
            <a:r>
              <a:rPr lang="en-US" b="1" dirty="0"/>
              <a:t>git branch &lt;name of the desired branch&gt;</a:t>
            </a:r>
          </a:p>
          <a:p>
            <a:pPr marL="0" indent="0">
              <a:buNone/>
            </a:pPr>
            <a:r>
              <a:rPr lang="en-US" b="1" dirty="0"/>
              <a:t>git checkout &lt;name of the branch&gt;</a:t>
            </a:r>
          </a:p>
          <a:p>
            <a:pPr marL="0" indent="0">
              <a:buNone/>
            </a:pPr>
            <a:r>
              <a:rPr lang="en-IN" b="1" dirty="0"/>
              <a:t>git merge &lt;branch name&gt;</a:t>
            </a:r>
          </a:p>
          <a:p>
            <a:pPr marL="0" indent="0">
              <a:buNone/>
            </a:pPr>
            <a:r>
              <a:rPr lang="en-IN" b="1" dirty="0"/>
              <a:t>git branch</a:t>
            </a:r>
            <a:endParaRPr lang="en-IN" dirty="0"/>
          </a:p>
        </p:txBody>
      </p:sp>
    </p:spTree>
    <p:extLst>
      <p:ext uri="{BB962C8B-B14F-4D97-AF65-F5344CB8AC3E}">
        <p14:creationId xmlns:p14="http://schemas.microsoft.com/office/powerpoint/2010/main" val="28698749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9B7CC-E335-4AFD-E7F0-FAD072F960CB}"/>
              </a:ext>
            </a:extLst>
          </p:cNvPr>
          <p:cNvSpPr>
            <a:spLocks noGrp="1"/>
          </p:cNvSpPr>
          <p:nvPr>
            <p:ph type="title"/>
          </p:nvPr>
        </p:nvSpPr>
        <p:spPr/>
        <p:txBody>
          <a:bodyPr>
            <a:normAutofit fontScale="90000"/>
          </a:bodyPr>
          <a:lstStyle/>
          <a:p>
            <a:r>
              <a:rPr lang="en-IN" dirty="0">
                <a:latin typeface="Times New Roman" panose="02020603050405020304" pitchFamily="18" charset="0"/>
                <a:ea typeface="Times New Roman" panose="02020603050405020304" pitchFamily="18" charset="0"/>
              </a:rPr>
              <a:t>Understanding the Git process and </a:t>
            </a:r>
            <a:r>
              <a:rPr lang="en-IN" dirty="0" err="1">
                <a:latin typeface="Times New Roman" panose="02020603050405020304" pitchFamily="18" charset="0"/>
                <a:ea typeface="Times New Roman" panose="02020603050405020304" pitchFamily="18" charset="0"/>
              </a:rPr>
              <a:t>Gitflow</a:t>
            </a:r>
            <a:r>
              <a:rPr lang="en-IN" dirty="0">
                <a:latin typeface="Times New Roman" panose="02020603050405020304" pitchFamily="18" charset="0"/>
                <a:ea typeface="Times New Roman" panose="02020603050405020304" pitchFamily="18" charset="0"/>
              </a:rPr>
              <a:t> pattern</a:t>
            </a:r>
            <a:br>
              <a:rPr lang="en-IN" dirty="0">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4CF795A9-23E2-D228-E64F-C9FD410DFF76}"/>
              </a:ext>
            </a:extLst>
          </p:cNvPr>
          <p:cNvSpPr>
            <a:spLocks noGrp="1"/>
          </p:cNvSpPr>
          <p:nvPr>
            <p:ph idx="1"/>
          </p:nvPr>
        </p:nvSpPr>
        <p:spPr/>
        <p:txBody>
          <a:bodyPr>
            <a:normAutofit/>
          </a:bodyPr>
          <a:lstStyle/>
          <a:p>
            <a:pPr marL="0" indent="0">
              <a:buNone/>
            </a:pPr>
            <a:r>
              <a:rPr lang="en-US" dirty="0"/>
              <a:t>Here are the steps of the Git process that we will discuss in detail in this section:</a:t>
            </a:r>
          </a:p>
          <a:p>
            <a:pPr marL="0" indent="0">
              <a:buNone/>
            </a:pPr>
            <a:r>
              <a:rPr lang="en-US" dirty="0"/>
              <a:t>1. The first developer commits the code on the local repository and pushes it to the</a:t>
            </a:r>
          </a:p>
          <a:p>
            <a:pPr marL="0" indent="0">
              <a:buNone/>
            </a:pPr>
            <a:r>
              <a:rPr lang="en-IN" dirty="0"/>
              <a:t>remote repository.</a:t>
            </a:r>
          </a:p>
          <a:p>
            <a:pPr marL="0" indent="0">
              <a:buNone/>
            </a:pPr>
            <a:r>
              <a:rPr lang="en-US" dirty="0"/>
              <a:t>2. Then, the second developer gets the pushed code from the remote repository.</a:t>
            </a:r>
          </a:p>
          <a:p>
            <a:pPr marL="0" indent="0">
              <a:buNone/>
            </a:pPr>
            <a:r>
              <a:rPr lang="en-US" dirty="0"/>
              <a:t>3. The second developer updates this code, creates a commit, and pushes the new</a:t>
            </a:r>
          </a:p>
          <a:p>
            <a:pPr marL="0" indent="0">
              <a:buNone/>
            </a:pPr>
            <a:r>
              <a:rPr lang="en-US" dirty="0"/>
              <a:t>version of the code to the remote repository.</a:t>
            </a:r>
          </a:p>
          <a:p>
            <a:pPr marL="0" indent="0">
              <a:buNone/>
            </a:pPr>
            <a:r>
              <a:rPr lang="en-US" dirty="0"/>
              <a:t>4. Finally, the first developer retrieves the last version of the code in the local</a:t>
            </a:r>
          </a:p>
          <a:p>
            <a:pPr marL="0" indent="0">
              <a:buNone/>
            </a:pPr>
            <a:r>
              <a:rPr lang="en-IN" dirty="0"/>
              <a:t>repository.</a:t>
            </a:r>
          </a:p>
        </p:txBody>
      </p:sp>
    </p:spTree>
    <p:extLst>
      <p:ext uri="{BB962C8B-B14F-4D97-AF65-F5344CB8AC3E}">
        <p14:creationId xmlns:p14="http://schemas.microsoft.com/office/powerpoint/2010/main" val="19399346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10EA40-AF7A-4028-6E74-E657B51BE946}"/>
              </a:ext>
            </a:extLst>
          </p:cNvPr>
          <p:cNvPicPr>
            <a:picLocks noChangeAspect="1"/>
          </p:cNvPicPr>
          <p:nvPr/>
        </p:nvPicPr>
        <p:blipFill>
          <a:blip r:embed="rId2"/>
          <a:stretch>
            <a:fillRect/>
          </a:stretch>
        </p:blipFill>
        <p:spPr>
          <a:xfrm>
            <a:off x="1665513" y="533400"/>
            <a:ext cx="9252857" cy="6095999"/>
          </a:xfrm>
          <a:prstGeom prst="rect">
            <a:avLst/>
          </a:prstGeom>
        </p:spPr>
      </p:pic>
    </p:spTree>
    <p:extLst>
      <p:ext uri="{BB962C8B-B14F-4D97-AF65-F5344CB8AC3E}">
        <p14:creationId xmlns:p14="http://schemas.microsoft.com/office/powerpoint/2010/main" val="15577082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E9666-3C16-3317-F020-47D27D7E34AA}"/>
              </a:ext>
            </a:extLst>
          </p:cNvPr>
          <p:cNvSpPr>
            <a:spLocks noGrp="1"/>
          </p:cNvSpPr>
          <p:nvPr>
            <p:ph type="title"/>
          </p:nvPr>
        </p:nvSpPr>
        <p:spPr/>
        <p:txBody>
          <a:bodyPr/>
          <a:lstStyle/>
          <a:p>
            <a:r>
              <a:rPr lang="en-IN" dirty="0"/>
              <a:t>Branching strategy with </a:t>
            </a:r>
            <a:r>
              <a:rPr lang="en-IN" dirty="0" err="1"/>
              <a:t>Gitflow</a:t>
            </a:r>
            <a:r>
              <a:rPr lang="en-IN" dirty="0"/>
              <a:t>, </a:t>
            </a:r>
            <a:r>
              <a:rPr lang="en-IN" dirty="0" err="1"/>
              <a:t>Gitflow</a:t>
            </a:r>
            <a:r>
              <a:rPr lang="en-IN" dirty="0"/>
              <a:t> tools</a:t>
            </a:r>
          </a:p>
        </p:txBody>
      </p:sp>
      <p:sp>
        <p:nvSpPr>
          <p:cNvPr id="3" name="Content Placeholder 2">
            <a:extLst>
              <a:ext uri="{FF2B5EF4-FFF2-40B4-BE49-F238E27FC236}">
                <a16:creationId xmlns:a16="http://schemas.microsoft.com/office/drawing/2014/main" id="{F8E2F146-1C1A-61FF-2516-77E8C73E8EFC}"/>
              </a:ext>
            </a:extLst>
          </p:cNvPr>
          <p:cNvSpPr>
            <a:spLocks noGrp="1"/>
          </p:cNvSpPr>
          <p:nvPr>
            <p:ph idx="1"/>
          </p:nvPr>
        </p:nvSpPr>
        <p:spPr/>
        <p:txBody>
          <a:bodyPr>
            <a:normAutofit fontScale="85000" lnSpcReduction="10000"/>
          </a:bodyPr>
          <a:lstStyle/>
          <a:p>
            <a:pPr marL="0" indent="0">
              <a:buNone/>
            </a:pPr>
            <a:r>
              <a:rPr lang="en-US" dirty="0"/>
              <a:t>1. First of all, we have the master branch, which contains the code that is currently in</a:t>
            </a:r>
          </a:p>
          <a:p>
            <a:pPr marL="0" indent="0">
              <a:buNone/>
            </a:pPr>
            <a:r>
              <a:rPr lang="en-US" dirty="0"/>
              <a:t>production. No developer is working directly on it.</a:t>
            </a:r>
          </a:p>
          <a:p>
            <a:pPr marL="0" indent="0">
              <a:buNone/>
            </a:pPr>
            <a:r>
              <a:rPr lang="en-US" dirty="0"/>
              <a:t>2. From this master branch, we create a develop branch, which is the branch that</a:t>
            </a:r>
          </a:p>
          <a:p>
            <a:pPr marL="0" indent="0">
              <a:buNone/>
            </a:pPr>
            <a:r>
              <a:rPr lang="en-US" dirty="0"/>
              <a:t>will contain the changes to be deployed in the next delivery of the application.</a:t>
            </a:r>
          </a:p>
          <a:p>
            <a:pPr marL="0" indent="0">
              <a:buNone/>
            </a:pPr>
            <a:r>
              <a:rPr lang="en-US" dirty="0"/>
              <a:t>3. For each of the application's functionalities, a feature/&lt;name of the</a:t>
            </a:r>
          </a:p>
          <a:p>
            <a:pPr marL="0" indent="0">
              <a:buNone/>
            </a:pPr>
            <a:r>
              <a:rPr lang="en-US" dirty="0"/>
              <a:t>feature&gt; branch is created (/ will hence create a feature directory) from the</a:t>
            </a:r>
          </a:p>
          <a:p>
            <a:pPr marL="0" indent="0">
              <a:buNone/>
            </a:pPr>
            <a:r>
              <a:rPr lang="en-IN" dirty="0"/>
              <a:t>develop branch.</a:t>
            </a:r>
          </a:p>
          <a:p>
            <a:pPr marL="0" indent="0">
              <a:buNone/>
            </a:pPr>
            <a:r>
              <a:rPr lang="en-US" dirty="0"/>
              <a:t>4. As soon as a feature is finished being coded, the branch of the feature is merged into</a:t>
            </a:r>
          </a:p>
          <a:p>
            <a:pPr marL="0" indent="0">
              <a:buNone/>
            </a:pPr>
            <a:r>
              <a:rPr lang="en-IN" dirty="0"/>
              <a:t>the develop branch.</a:t>
            </a:r>
          </a:p>
          <a:p>
            <a:pPr marL="0" indent="0">
              <a:buNone/>
            </a:pPr>
            <a:r>
              <a:rPr lang="en-US" dirty="0"/>
              <a:t>5. Then, as soon as we want to deploy all of the latest features developed, we create a</a:t>
            </a:r>
          </a:p>
          <a:p>
            <a:pPr marL="0" indent="0">
              <a:buNone/>
            </a:pPr>
            <a:r>
              <a:rPr lang="en-IN" dirty="0"/>
              <a:t>release branch from develop.</a:t>
            </a:r>
          </a:p>
        </p:txBody>
      </p:sp>
    </p:spTree>
    <p:extLst>
      <p:ext uri="{BB962C8B-B14F-4D97-AF65-F5344CB8AC3E}">
        <p14:creationId xmlns:p14="http://schemas.microsoft.com/office/powerpoint/2010/main" val="32448599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F596D8-3A58-867D-3329-708095338324}"/>
              </a:ext>
            </a:extLst>
          </p:cNvPr>
          <p:cNvSpPr>
            <a:spLocks noGrp="1"/>
          </p:cNvSpPr>
          <p:nvPr>
            <p:ph idx="1"/>
          </p:nvPr>
        </p:nvSpPr>
        <p:spPr>
          <a:xfrm>
            <a:off x="985244" y="565054"/>
            <a:ext cx="10052870" cy="3880773"/>
          </a:xfrm>
        </p:spPr>
        <p:txBody>
          <a:bodyPr>
            <a:normAutofit/>
          </a:bodyPr>
          <a:lstStyle/>
          <a:p>
            <a:pPr marL="0" indent="0">
              <a:buNone/>
            </a:pPr>
            <a:r>
              <a:rPr lang="en-US" dirty="0"/>
              <a:t>6. The release branch content is deployed in all environments successively.</a:t>
            </a:r>
          </a:p>
          <a:p>
            <a:pPr marL="0" indent="0">
              <a:buNone/>
            </a:pPr>
            <a:r>
              <a:rPr lang="en-US" dirty="0"/>
              <a:t>7. As soon as the deployment in production has taken place, the release branch</a:t>
            </a:r>
          </a:p>
          <a:p>
            <a:pPr marL="0" indent="0">
              <a:buNone/>
            </a:pPr>
            <a:r>
              <a:rPr lang="en-US" dirty="0"/>
              <a:t>is merged with the master branch, and, with this merge operation, the master</a:t>
            </a:r>
          </a:p>
          <a:p>
            <a:pPr marL="0" indent="0">
              <a:buNone/>
            </a:pPr>
            <a:r>
              <a:rPr lang="en-US" dirty="0"/>
              <a:t>branch contains the production code. Hence, the code that is on the release</a:t>
            </a:r>
          </a:p>
          <a:p>
            <a:pPr marL="0" indent="0">
              <a:buNone/>
            </a:pPr>
            <a:r>
              <a:rPr lang="en-US" dirty="0"/>
              <a:t>branch and feature branch is no longer necessary, and these branches can be</a:t>
            </a:r>
          </a:p>
          <a:p>
            <a:pPr marL="0" indent="0">
              <a:buNone/>
            </a:pPr>
            <a:r>
              <a:rPr lang="en-IN" dirty="0"/>
              <a:t>deleted.</a:t>
            </a:r>
          </a:p>
          <a:p>
            <a:pPr marL="0" indent="0">
              <a:buNone/>
            </a:pPr>
            <a:r>
              <a:rPr lang="en-US" dirty="0"/>
              <a:t>8. If a bug is detected in production, we create a hotfix/&lt;bug name&gt; branch;</a:t>
            </a:r>
          </a:p>
          <a:p>
            <a:pPr marL="0" indent="0">
              <a:buNone/>
            </a:pPr>
            <a:r>
              <a:rPr lang="en-US" dirty="0"/>
              <a:t>then, once the bug is fixed, we merge this branch into the master and develop</a:t>
            </a:r>
          </a:p>
          <a:p>
            <a:pPr marL="0" indent="0">
              <a:buNone/>
            </a:pPr>
            <a:r>
              <a:rPr lang="en-US" dirty="0"/>
              <a:t>branches to propagate the fix on the next branches and deployments.</a:t>
            </a:r>
            <a:endParaRPr lang="en-IN" dirty="0"/>
          </a:p>
        </p:txBody>
      </p:sp>
    </p:spTree>
    <p:extLst>
      <p:ext uri="{BB962C8B-B14F-4D97-AF65-F5344CB8AC3E}">
        <p14:creationId xmlns:p14="http://schemas.microsoft.com/office/powerpoint/2010/main" val="26681583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514EE4-78EF-DF1E-61AD-CD50204688CC}"/>
              </a:ext>
            </a:extLst>
          </p:cNvPr>
          <p:cNvPicPr>
            <a:picLocks noChangeAspect="1"/>
          </p:cNvPicPr>
          <p:nvPr/>
        </p:nvPicPr>
        <p:blipFill>
          <a:blip r:embed="rId2"/>
          <a:stretch>
            <a:fillRect/>
          </a:stretch>
        </p:blipFill>
        <p:spPr>
          <a:xfrm>
            <a:off x="2013857" y="838200"/>
            <a:ext cx="6981067" cy="3632253"/>
          </a:xfrm>
          <a:prstGeom prst="rect">
            <a:avLst/>
          </a:prstGeom>
        </p:spPr>
      </p:pic>
    </p:spTree>
    <p:extLst>
      <p:ext uri="{BB962C8B-B14F-4D97-AF65-F5344CB8AC3E}">
        <p14:creationId xmlns:p14="http://schemas.microsoft.com/office/powerpoint/2010/main" val="191474574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4468</TotalTime>
  <Words>1423</Words>
  <Application>Microsoft Office PowerPoint</Application>
  <PresentationFormat>Widescreen</PresentationFormat>
  <Paragraphs>131</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Times New Roman</vt:lpstr>
      <vt:lpstr>Trebuchet MS</vt:lpstr>
      <vt:lpstr>Wingdings 3</vt:lpstr>
      <vt:lpstr>Facet</vt:lpstr>
      <vt:lpstr>Module 2: Managing Your Source Code with Git</vt:lpstr>
      <vt:lpstr>Introduction</vt:lpstr>
      <vt:lpstr>PowerPoint Presentation</vt:lpstr>
      <vt:lpstr>PowerPoint Presentation</vt:lpstr>
      <vt:lpstr>Getting started with Git, Technical requirements</vt:lpstr>
      <vt:lpstr>Overviewing Git and its principal command lines</vt:lpstr>
      <vt:lpstr>Centralized source control</vt:lpstr>
      <vt:lpstr>PowerPoint Presentation</vt:lpstr>
      <vt:lpstr>Distributed system</vt:lpstr>
      <vt:lpstr>PowerPoint Presentation</vt:lpstr>
      <vt:lpstr>Git configuration</vt:lpstr>
      <vt:lpstr>Useful Git vocabulary</vt:lpstr>
      <vt:lpstr>PowerPoint Presentation</vt:lpstr>
      <vt:lpstr>PowerPoint Presentation</vt:lpstr>
      <vt:lpstr>PowerPoint Presentation</vt:lpstr>
      <vt:lpstr>Quick example </vt:lpstr>
      <vt:lpstr>Git command lines</vt:lpstr>
      <vt:lpstr>PowerPoint Presentation</vt:lpstr>
      <vt:lpstr>Understanding the Git process and Gitflow pattern </vt:lpstr>
      <vt:lpstr>PowerPoint Presentation</vt:lpstr>
      <vt:lpstr>Branching strategy with Gitflow, Gitflow tools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Managing Your Source Code with Git</dc:title>
  <dc:creator>Mubeen Akhtar.D</dc:creator>
  <cp:lastModifiedBy>DELL</cp:lastModifiedBy>
  <cp:revision>28</cp:revision>
  <dcterms:created xsi:type="dcterms:W3CDTF">2026-07-27T05:20:16Z</dcterms:created>
  <dcterms:modified xsi:type="dcterms:W3CDTF">2026-09-09T06:06:45Z</dcterms:modified>
</cp:coreProperties>
</file>