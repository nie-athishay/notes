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8" r:id="rId1"/>
  </p:sldMasterIdLst>
  <p:notesMasterIdLst>
    <p:notesMasterId r:id="rId44"/>
  </p:notesMasterIdLst>
  <p:sldIdLst>
    <p:sldId id="256" r:id="rId2"/>
    <p:sldId id="275" r:id="rId3"/>
    <p:sldId id="282" r:id="rId4"/>
    <p:sldId id="276" r:id="rId5"/>
    <p:sldId id="278" r:id="rId6"/>
    <p:sldId id="277" r:id="rId7"/>
    <p:sldId id="257" r:id="rId8"/>
    <p:sldId id="264" r:id="rId9"/>
    <p:sldId id="280" r:id="rId10"/>
    <p:sldId id="286" r:id="rId11"/>
    <p:sldId id="283" r:id="rId12"/>
    <p:sldId id="299" r:id="rId13"/>
    <p:sldId id="284" r:id="rId14"/>
    <p:sldId id="287" r:id="rId15"/>
    <p:sldId id="265" r:id="rId16"/>
    <p:sldId id="267" r:id="rId17"/>
    <p:sldId id="268" r:id="rId18"/>
    <p:sldId id="266" r:id="rId19"/>
    <p:sldId id="304" r:id="rId20"/>
    <p:sldId id="279" r:id="rId21"/>
    <p:sldId id="285" r:id="rId22"/>
    <p:sldId id="289" r:id="rId23"/>
    <p:sldId id="259" r:id="rId24"/>
    <p:sldId id="270" r:id="rId25"/>
    <p:sldId id="305" r:id="rId26"/>
    <p:sldId id="307" r:id="rId27"/>
    <p:sldId id="306" r:id="rId28"/>
    <p:sldId id="271" r:id="rId29"/>
    <p:sldId id="309" r:id="rId30"/>
    <p:sldId id="310" r:id="rId31"/>
    <p:sldId id="311" r:id="rId32"/>
    <p:sldId id="308" r:id="rId33"/>
    <p:sldId id="272" r:id="rId34"/>
    <p:sldId id="313" r:id="rId35"/>
    <p:sldId id="260" r:id="rId36"/>
    <p:sldId id="273" r:id="rId37"/>
    <p:sldId id="261" r:id="rId38"/>
    <p:sldId id="262" r:id="rId39"/>
    <p:sldId id="263" r:id="rId40"/>
    <p:sldId id="314" r:id="rId41"/>
    <p:sldId id="274" r:id="rId42"/>
    <p:sldId id="300"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87" d="100"/>
          <a:sy n="87" d="100"/>
        </p:scale>
        <p:origin x="38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E95958-59A5-47EE-A2E4-EDB33D94587A}" type="datetimeFigureOut">
              <a:rPr lang="en-IN" smtClean="0"/>
              <a:t>27-08-2026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531AF8-501D-4072-A431-FDFAE7130EA3}" type="slidenum">
              <a:rPr lang="en-IN" smtClean="0"/>
              <a:t>‹#›</a:t>
            </a:fld>
            <a:endParaRPr lang="en-IN"/>
          </a:p>
        </p:txBody>
      </p:sp>
    </p:spTree>
    <p:extLst>
      <p:ext uri="{BB962C8B-B14F-4D97-AF65-F5344CB8AC3E}">
        <p14:creationId xmlns:p14="http://schemas.microsoft.com/office/powerpoint/2010/main" val="1513639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8531AF8-501D-4072-A431-FDFAE7130EA3}" type="slidenum">
              <a:rPr lang="en-IN" smtClean="0"/>
              <a:t>1</a:t>
            </a:fld>
            <a:endParaRPr lang="en-IN"/>
          </a:p>
        </p:txBody>
      </p:sp>
    </p:spTree>
    <p:extLst>
      <p:ext uri="{BB962C8B-B14F-4D97-AF65-F5344CB8AC3E}">
        <p14:creationId xmlns:p14="http://schemas.microsoft.com/office/powerpoint/2010/main" val="2663953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8CF7934-1BAC-4B20-9F07-9059E66CDE73}"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2272686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8CF7934-1BAC-4B20-9F07-9059E66CDE73}"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1142601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8CF7934-1BAC-4B20-9F07-9059E66CDE73}"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3226804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8CF7934-1BAC-4B20-9F07-9059E66CDE73}" type="datetimeFigureOut">
              <a:rPr lang="en-IN" smtClean="0"/>
              <a:t>27-08-2026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2976819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8CF7934-1BAC-4B20-9F07-9059E66CDE73}" type="datetimeFigureOut">
              <a:rPr lang="en-IN" smtClean="0"/>
              <a:t>27-08-2026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2429163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8CF7934-1BAC-4B20-9F07-9059E66CDE73}" type="datetimeFigureOut">
              <a:rPr lang="en-IN" smtClean="0"/>
              <a:t>27-08-2026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2402755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CF7934-1BAC-4B20-9F07-9059E66CDE73}" type="datetimeFigureOut">
              <a:rPr lang="en-IN" smtClean="0"/>
              <a:t>27-08-2026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3700992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8CF7934-1BAC-4B20-9F07-9059E66CDE73}" type="datetimeFigureOut">
              <a:rPr lang="en-IN" smtClean="0"/>
              <a:t>27-08-2026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496857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8CF7934-1BAC-4B20-9F07-9059E66CDE73}" type="datetimeFigureOut">
              <a:rPr lang="en-IN" smtClean="0"/>
              <a:t>27-08-2026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1137676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8CF7934-1BAC-4B20-9F07-9059E66CDE73}"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3401308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8CF7934-1BAC-4B20-9F07-9059E66CDE73}"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C52A4F-9347-4AFF-9676-AE9DD4716C4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748681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8CF7934-1BAC-4B20-9F07-9059E66CDE73}"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3762947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8CF7934-1BAC-4B20-9F07-9059E66CDE73}"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C52A4F-9347-4AFF-9676-AE9DD4716C4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71070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8CF7934-1BAC-4B20-9F07-9059E66CDE73}"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2910156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8CF7934-1BAC-4B20-9F07-9059E66CDE73}"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12629285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8CF7934-1BAC-4B20-9F07-9059E66CDE73}"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C52A4F-9347-4AFF-9676-AE9DD4716C40}" type="slidenum">
              <a:rPr lang="en-IN" smtClean="0"/>
              <a:t>‹#›</a:t>
            </a:fld>
            <a:endParaRPr lang="en-IN"/>
          </a:p>
        </p:txBody>
      </p:sp>
    </p:spTree>
    <p:extLst>
      <p:ext uri="{BB962C8B-B14F-4D97-AF65-F5344CB8AC3E}">
        <p14:creationId xmlns:p14="http://schemas.microsoft.com/office/powerpoint/2010/main" val="2577392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8CF7934-1BAC-4B20-9F07-9059E66CDE73}" type="datetimeFigureOut">
              <a:rPr lang="en-IN" smtClean="0"/>
              <a:t>27-08-2026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6C52A4F-9347-4AFF-9676-AE9DD4716C40}" type="slidenum">
              <a:rPr lang="en-IN" smtClean="0"/>
              <a:t>‹#›</a:t>
            </a:fld>
            <a:endParaRPr lang="en-IN"/>
          </a:p>
        </p:txBody>
      </p:sp>
    </p:spTree>
    <p:extLst>
      <p:ext uri="{BB962C8B-B14F-4D97-AF65-F5344CB8AC3E}">
        <p14:creationId xmlns:p14="http://schemas.microsoft.com/office/powerpoint/2010/main" val="3034972123"/>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 id="2147483882" r:id="rId14"/>
    <p:sldLayoutId id="2147483883" r:id="rId15"/>
    <p:sldLayoutId id="214748388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FEF34-5B6F-18A3-716B-DE2110CE01D9}"/>
              </a:ext>
            </a:extLst>
          </p:cNvPr>
          <p:cNvSpPr>
            <a:spLocks noGrp="1"/>
          </p:cNvSpPr>
          <p:nvPr>
            <p:ph type="ctrTitle"/>
          </p:nvPr>
        </p:nvSpPr>
        <p:spPr>
          <a:xfrm>
            <a:off x="700390" y="1324764"/>
            <a:ext cx="10535056" cy="1646302"/>
          </a:xfrm>
        </p:spPr>
        <p:txBody>
          <a:bodyPr>
            <a:normAutofit fontScale="90000"/>
          </a:bodyPr>
          <a:lstStyle/>
          <a:p>
            <a:pPr algn="just"/>
            <a:r>
              <a:rPr lang="en-IN" b="1" dirty="0" smtClean="0">
                <a:latin typeface="Times New Roman" panose="02020603050405020304" pitchFamily="18" charset="0"/>
                <a:cs typeface="Times New Roman" panose="02020603050405020304" pitchFamily="18" charset="0"/>
              </a:rPr>
              <a:t>DevOps and Infrastructure as Code</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20AC18A-86D4-B76B-08C5-C2C29DF3BFC8}"/>
              </a:ext>
            </a:extLst>
          </p:cNvPr>
          <p:cNvSpPr>
            <a:spLocks noGrp="1"/>
          </p:cNvSpPr>
          <p:nvPr>
            <p:ph type="subTitle" idx="1"/>
          </p:nvPr>
        </p:nvSpPr>
        <p:spPr>
          <a:xfrm>
            <a:off x="1638749" y="3369896"/>
            <a:ext cx="8152500" cy="1980316"/>
          </a:xfrm>
        </p:spPr>
        <p:txBody>
          <a:bodyPr>
            <a:normAutofit/>
          </a:bodyPr>
          <a:lstStyle/>
          <a:p>
            <a:pPr algn="ctr"/>
            <a:r>
              <a:rPr lang="en-IN" sz="2400" dirty="0" smtClean="0">
                <a:latin typeface="Times New Roman" panose="02020603050405020304" pitchFamily="18" charset="0"/>
                <a:cs typeface="Times New Roman" panose="02020603050405020304" pitchFamily="18" charset="0"/>
              </a:rPr>
              <a:t>Prepared by :</a:t>
            </a:r>
          </a:p>
          <a:p>
            <a:pPr algn="ctr"/>
            <a:r>
              <a:rPr lang="en-IN" sz="2400" dirty="0" smtClean="0">
                <a:latin typeface="Times New Roman" panose="02020603050405020304" pitchFamily="18" charset="0"/>
                <a:cs typeface="Times New Roman" panose="02020603050405020304" pitchFamily="18" charset="0"/>
              </a:rPr>
              <a:t>Gowtham R Naik </a:t>
            </a:r>
          </a:p>
          <a:p>
            <a:pPr algn="ctr"/>
            <a:r>
              <a:rPr lang="en-IN" sz="2400" dirty="0" smtClean="0">
                <a:latin typeface="Times New Roman" panose="02020603050405020304" pitchFamily="18" charset="0"/>
                <a:cs typeface="Times New Roman" panose="02020603050405020304" pitchFamily="18" charset="0"/>
              </a:rPr>
              <a:t>Assistant professor </a:t>
            </a:r>
          </a:p>
          <a:p>
            <a:pPr algn="ctr"/>
            <a:r>
              <a:rPr lang="en-IN" sz="2400" dirty="0" smtClean="0">
                <a:latin typeface="Times New Roman" panose="02020603050405020304" pitchFamily="18" charset="0"/>
                <a:cs typeface="Times New Roman" panose="02020603050405020304" pitchFamily="18" charset="0"/>
              </a:rPr>
              <a:t>CSE Department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97136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9CF0D-D5D0-2188-D386-67FFB632B92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BB18862C-49D4-2521-BFF4-B3856DB7A172}"/>
              </a:ext>
            </a:extLst>
          </p:cNvPr>
          <p:cNvSpPr>
            <a:spLocks noGrp="1"/>
          </p:cNvSpPr>
          <p:nvPr>
            <p:ph idx="1"/>
          </p:nvPr>
        </p:nvSpPr>
        <p:spPr>
          <a:xfrm>
            <a:off x="677334" y="1353194"/>
            <a:ext cx="10645662" cy="3880773"/>
          </a:xfrm>
        </p:spPr>
        <p:txBody>
          <a:bodyPr>
            <a:noAutofit/>
          </a:bodyPr>
          <a:lstStyle/>
          <a:p>
            <a:pPr>
              <a:lnSpc>
                <a:spcPct val="150000"/>
              </a:lnSpc>
            </a:pPr>
            <a:r>
              <a:rPr lang="en-IN" sz="2400" dirty="0">
                <a:latin typeface="Times New Roman" panose="02020603050405020304" pitchFamily="18" charset="0"/>
                <a:cs typeface="Times New Roman" panose="02020603050405020304" pitchFamily="18" charset="0"/>
              </a:rPr>
              <a:t>DevOps is a cultural and technical approach that unites software development (Dev) and IT operations (Ops) so teams can deliver software faster, more reliably, and with continuous feedback.</a:t>
            </a:r>
          </a:p>
          <a:p>
            <a:pPr>
              <a:lnSpc>
                <a:spcPct val="150000"/>
              </a:lnSpc>
            </a:pPr>
            <a:r>
              <a:rPr lang="en-IN" sz="2400" dirty="0">
                <a:latin typeface="Times New Roman" panose="02020603050405020304" pitchFamily="18" charset="0"/>
                <a:cs typeface="Times New Roman" panose="02020603050405020304" pitchFamily="18" charset="0"/>
              </a:rPr>
              <a:t>DevOps is not a single software; it’s a way of working supported by a set of tools that automate the software delivery pipeline.</a:t>
            </a:r>
          </a:p>
          <a:p>
            <a:pPr>
              <a:lnSpc>
                <a:spcPct val="150000"/>
              </a:lnSpc>
            </a:pPr>
            <a:r>
              <a:rPr lang="en-IN" sz="2400" b="1" dirty="0">
                <a:latin typeface="Times New Roman" panose="02020603050405020304" pitchFamily="18" charset="0"/>
                <a:cs typeface="Times New Roman" panose="02020603050405020304" pitchFamily="18" charset="0"/>
              </a:rPr>
              <a:t>DevOps</a:t>
            </a:r>
            <a:r>
              <a:rPr lang="en-IN" sz="2400" dirty="0">
                <a:latin typeface="Times New Roman" panose="02020603050405020304" pitchFamily="18" charset="0"/>
                <a:cs typeface="Times New Roman" panose="02020603050405020304" pitchFamily="18" charset="0"/>
              </a:rPr>
              <a:t> is a combination of </a:t>
            </a:r>
            <a:r>
              <a:rPr lang="en-IN" sz="2400" b="1" dirty="0">
                <a:latin typeface="Times New Roman" panose="02020603050405020304" pitchFamily="18" charset="0"/>
                <a:cs typeface="Times New Roman" panose="02020603050405020304" pitchFamily="18" charset="0"/>
              </a:rPr>
              <a:t>Development (Dev)</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Operations (Ops)</a:t>
            </a:r>
            <a:r>
              <a:rPr lang="en-IN" sz="2400" dirty="0">
                <a:latin typeface="Times New Roman" panose="02020603050405020304" pitchFamily="18" charset="0"/>
                <a:cs typeface="Times New Roman" panose="02020603050405020304" pitchFamily="18" charset="0"/>
              </a:rPr>
              <a:t>. It is a set of practices, tools, and cultural principles that helps software development and IT operations teams </a:t>
            </a:r>
            <a:r>
              <a:rPr lang="en-IN" sz="2400" b="1" dirty="0">
                <a:latin typeface="Times New Roman" panose="02020603050405020304" pitchFamily="18" charset="0"/>
                <a:cs typeface="Times New Roman" panose="02020603050405020304" pitchFamily="18" charset="0"/>
              </a:rPr>
              <a:t>work together to develop, test, deploy, and maintain software faster and more reliably</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40314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6605A9-FC4A-A26B-F3CF-79B51E9C8A4E}"/>
              </a:ext>
            </a:extLst>
          </p:cNvPr>
          <p:cNvSpPr>
            <a:spLocks noGrp="1"/>
          </p:cNvSpPr>
          <p:nvPr>
            <p:ph idx="1"/>
          </p:nvPr>
        </p:nvSpPr>
        <p:spPr>
          <a:xfrm>
            <a:off x="745427" y="759806"/>
            <a:ext cx="10723484" cy="5417258"/>
          </a:xfrm>
        </p:spPr>
        <p:txBody>
          <a:bodyPr>
            <a:normAutofit/>
          </a:bodyPr>
          <a:lstStyle/>
          <a:p>
            <a:r>
              <a:rPr lang="en-IN" sz="2800" dirty="0">
                <a:latin typeface="Times New Roman" panose="02020603050405020304" pitchFamily="18" charset="0"/>
                <a:cs typeface="Times New Roman" panose="02020603050405020304" pitchFamily="18" charset="0"/>
              </a:rPr>
              <a:t>In traditional software development:</a:t>
            </a:r>
          </a:p>
          <a:p>
            <a:r>
              <a:rPr lang="en-IN" sz="2800" b="1" dirty="0">
                <a:latin typeface="Times New Roman" panose="02020603050405020304" pitchFamily="18" charset="0"/>
                <a:cs typeface="Times New Roman" panose="02020603050405020304" pitchFamily="18" charset="0"/>
              </a:rPr>
              <a:t>Developers → Write Code → Testing → Operations → Deployment</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This can lead to delays, communication gaps, and deployment errors.</a:t>
            </a:r>
          </a:p>
          <a:p>
            <a:r>
              <a:rPr lang="en-IN" sz="2800" dirty="0">
                <a:latin typeface="Times New Roman" panose="02020603050405020304" pitchFamily="18" charset="0"/>
                <a:cs typeface="Times New Roman" panose="02020603050405020304" pitchFamily="18" charset="0"/>
              </a:rPr>
              <a:t>With DevOps:</a:t>
            </a:r>
          </a:p>
          <a:p>
            <a:r>
              <a:rPr lang="en-IN" sz="2800" b="1" dirty="0">
                <a:latin typeface="Times New Roman" panose="02020603050405020304" pitchFamily="18" charset="0"/>
                <a:cs typeface="Times New Roman" panose="02020603050405020304" pitchFamily="18" charset="0"/>
              </a:rPr>
              <a:t>Plan → Code → Build → Test → Release → Deploy → Operate → Monitor → Feedback</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The process is </a:t>
            </a:r>
            <a:r>
              <a:rPr lang="en-IN" sz="2800" b="1" dirty="0">
                <a:latin typeface="Times New Roman" panose="02020603050405020304" pitchFamily="18" charset="0"/>
                <a:cs typeface="Times New Roman" panose="02020603050405020304" pitchFamily="18" charset="0"/>
              </a:rPr>
              <a:t>continuous and automated</a:t>
            </a:r>
            <a:r>
              <a:rPr lang="en-IN" sz="2800" dirty="0">
                <a:latin typeface="Times New Roman" panose="02020603050405020304" pitchFamily="18" charset="0"/>
                <a:cs typeface="Times New Roman" panose="02020603050405020304" pitchFamily="18" charset="0"/>
              </a:rPr>
              <a:t>, allowing teams to release software frequently.</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3240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33DF9-8C0A-EAD7-05D7-422B5928AC70}"/>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What DevOps is</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7F5EB6-5A1B-E062-1596-C4AB3BEA6BAF}"/>
              </a:ext>
            </a:extLst>
          </p:cNvPr>
          <p:cNvSpPr>
            <a:spLocks noGrp="1"/>
          </p:cNvSpPr>
          <p:nvPr>
            <p:ph idx="1"/>
          </p:nvPr>
        </p:nvSpPr>
        <p:spPr>
          <a:xfrm>
            <a:off x="677334" y="1270000"/>
            <a:ext cx="10801305" cy="3880773"/>
          </a:xfrm>
        </p:spPr>
        <p:txBody>
          <a:bodyPr>
            <a:noAutofit/>
          </a:bodyPr>
          <a:lstStyle/>
          <a:p>
            <a:pPr lvl="0" algn="just">
              <a:lnSpc>
                <a:spcPct val="150000"/>
              </a:lnSpc>
            </a:pPr>
            <a:r>
              <a:rPr lang="en-IN" sz="2000" b="1" dirty="0">
                <a:latin typeface="Times New Roman" panose="02020603050405020304" pitchFamily="18" charset="0"/>
                <a:cs typeface="Times New Roman" panose="02020603050405020304" pitchFamily="18" charset="0"/>
              </a:rPr>
              <a:t>Culture + Practices + Tools:</a:t>
            </a:r>
            <a:r>
              <a:rPr lang="en-IN" sz="2000" dirty="0">
                <a:latin typeface="Times New Roman" panose="02020603050405020304" pitchFamily="18" charset="0"/>
                <a:cs typeface="Times New Roman" panose="02020603050405020304" pitchFamily="18" charset="0"/>
              </a:rPr>
              <a:t> DevOps isn’t just a toolchain; it’s a way of working that emphasizes </a:t>
            </a:r>
            <a:r>
              <a:rPr lang="en-IN" sz="2000" b="1" dirty="0">
                <a:latin typeface="Times New Roman" panose="02020603050405020304" pitchFamily="18" charset="0"/>
                <a:cs typeface="Times New Roman" panose="02020603050405020304" pitchFamily="18" charset="0"/>
              </a:rPr>
              <a:t>collaboration, shared ownership, automation, and constant feedback</a:t>
            </a:r>
            <a:r>
              <a:rPr lang="en-IN" sz="2000" dirty="0">
                <a:latin typeface="Times New Roman" panose="02020603050405020304" pitchFamily="18" charset="0"/>
                <a:cs typeface="Times New Roman" panose="02020603050405020304" pitchFamily="18" charset="0"/>
              </a:rPr>
              <a:t> between developers, operations engineers, QA, and often security.</a:t>
            </a:r>
          </a:p>
          <a:p>
            <a:pPr lvl="0" algn="just">
              <a:lnSpc>
                <a:spcPct val="150000"/>
              </a:lnSpc>
            </a:pPr>
            <a:r>
              <a:rPr lang="en-IN" sz="2000" b="1" dirty="0">
                <a:latin typeface="Times New Roman" panose="02020603050405020304" pitchFamily="18" charset="0"/>
                <a:cs typeface="Times New Roman" panose="02020603050405020304" pitchFamily="18" charset="0"/>
              </a:rPr>
              <a:t>End-to-end responsibility:</a:t>
            </a:r>
            <a:r>
              <a:rPr lang="en-IN" sz="2000" dirty="0">
                <a:latin typeface="Times New Roman" panose="02020603050405020304" pitchFamily="18" charset="0"/>
                <a:cs typeface="Times New Roman" panose="02020603050405020304" pitchFamily="18" charset="0"/>
              </a:rPr>
              <a:t> Instead of “Dev writes code, then throws it over the wall to Ops,” a DevOps mindset means both sides care about the </a:t>
            </a:r>
            <a:r>
              <a:rPr lang="en-IN" sz="2000" b="1" dirty="0">
                <a:latin typeface="Times New Roman" panose="02020603050405020304" pitchFamily="18" charset="0"/>
                <a:cs typeface="Times New Roman" panose="02020603050405020304" pitchFamily="18" charset="0"/>
              </a:rPr>
              <a:t>entire lifecycle</a:t>
            </a:r>
            <a:r>
              <a:rPr lang="en-IN" sz="2000" dirty="0">
                <a:latin typeface="Times New Roman" panose="02020603050405020304" pitchFamily="18" charset="0"/>
                <a:cs typeface="Times New Roman" panose="02020603050405020304" pitchFamily="18" charset="0"/>
              </a:rPr>
              <a:t>—from planning and coding to deployment, monitoring, and improvement.</a:t>
            </a:r>
          </a:p>
          <a:p>
            <a:pPr lvl="0" algn="just">
              <a:lnSpc>
                <a:spcPct val="150000"/>
              </a:lnSpc>
            </a:pPr>
            <a:r>
              <a:rPr lang="en-IN" sz="2000" b="1" dirty="0">
                <a:latin typeface="Times New Roman" panose="02020603050405020304" pitchFamily="18" charset="0"/>
                <a:cs typeface="Times New Roman" panose="02020603050405020304" pitchFamily="18" charset="0"/>
              </a:rPr>
              <a:t>Automation at the core:</a:t>
            </a:r>
            <a:r>
              <a:rPr lang="en-IN" sz="2000" dirty="0">
                <a:latin typeface="Times New Roman" panose="02020603050405020304" pitchFamily="18" charset="0"/>
                <a:cs typeface="Times New Roman" panose="02020603050405020304" pitchFamily="18" charset="0"/>
              </a:rPr>
              <a:t> DevOps teams automate repetitive work—building, testing, deploying, and managing infrastructure—so humans focus on design, problem-solving, and learning from production.</a:t>
            </a:r>
          </a:p>
          <a:p>
            <a:pPr lvl="0" algn="just">
              <a:lnSpc>
                <a:spcPct val="150000"/>
              </a:lnSpc>
            </a:pPr>
            <a:r>
              <a:rPr lang="en-IN" sz="2000" b="1" dirty="0">
                <a:latin typeface="Times New Roman" panose="02020603050405020304" pitchFamily="18" charset="0"/>
                <a:cs typeface="Times New Roman" panose="02020603050405020304" pitchFamily="18" charset="0"/>
              </a:rPr>
              <a:t>Continuous flow:</a:t>
            </a:r>
            <a:r>
              <a:rPr lang="en-IN" sz="2000" dirty="0">
                <a:latin typeface="Times New Roman" panose="02020603050405020304" pitchFamily="18" charset="0"/>
                <a:cs typeface="Times New Roman" panose="02020603050405020304" pitchFamily="18" charset="0"/>
              </a:rPr>
              <a:t> Practices like </a:t>
            </a:r>
            <a:r>
              <a:rPr lang="en-IN" sz="2000" b="1" dirty="0">
                <a:latin typeface="Times New Roman" panose="02020603050405020304" pitchFamily="18" charset="0"/>
                <a:cs typeface="Times New Roman" panose="02020603050405020304" pitchFamily="18" charset="0"/>
              </a:rPr>
              <a:t>CI/CD (Continuous Integration/Continuous Delivery)</a:t>
            </a:r>
            <a:r>
              <a:rPr lang="en-IN" sz="2000" dirty="0">
                <a:latin typeface="Times New Roman" panose="02020603050405020304" pitchFamily="18" charset="0"/>
                <a:cs typeface="Times New Roman" panose="02020603050405020304" pitchFamily="18" charset="0"/>
              </a:rPr>
              <a:t> enable small, frequent changes instead of rare, risky “big-bang” releases.</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92386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01B5B-2FFE-D5C7-02C1-BDABB2B14D85}"/>
              </a:ext>
            </a:extLst>
          </p:cNvPr>
          <p:cNvSpPr>
            <a:spLocks noGrp="1"/>
          </p:cNvSpPr>
          <p:nvPr>
            <p:ph type="title"/>
          </p:nvPr>
        </p:nvSpPr>
        <p:spPr>
          <a:xfrm>
            <a:off x="560602" y="337226"/>
            <a:ext cx="8596668" cy="1320800"/>
          </a:xfrm>
        </p:spPr>
        <p:txBody>
          <a:bodyPr>
            <a:normAutofit/>
          </a:bodyPr>
          <a:lstStyle/>
          <a:p>
            <a:r>
              <a:rPr lang="en-IN" b="1" dirty="0">
                <a:latin typeface="Times New Roman" panose="02020603050405020304" pitchFamily="18" charset="0"/>
                <a:cs typeface="Times New Roman" panose="02020603050405020304" pitchFamily="18" charset="0"/>
              </a:rPr>
              <a:t>Why DevOps exists</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C0DC58-28A6-B889-8623-8F4B3E3D7248}"/>
              </a:ext>
            </a:extLst>
          </p:cNvPr>
          <p:cNvSpPr>
            <a:spLocks noGrp="1"/>
          </p:cNvSpPr>
          <p:nvPr>
            <p:ph idx="1"/>
          </p:nvPr>
        </p:nvSpPr>
        <p:spPr>
          <a:xfrm>
            <a:off x="414686" y="929533"/>
            <a:ext cx="11083408" cy="3817566"/>
          </a:xfrm>
        </p:spPr>
        <p:txBody>
          <a:bodyPr>
            <a:noAutofit/>
          </a:bodyPr>
          <a:lstStyle/>
          <a:p>
            <a:pPr algn="just">
              <a:lnSpc>
                <a:spcPct val="150000"/>
              </a:lnSpc>
            </a:pPr>
            <a:r>
              <a:rPr lang="en-IN" dirty="0">
                <a:latin typeface="Times New Roman" panose="02020603050405020304" pitchFamily="18" charset="0"/>
                <a:cs typeface="Times New Roman" panose="02020603050405020304" pitchFamily="18" charset="0"/>
              </a:rPr>
              <a:t>DevOps emerged as a response to real problems in traditional software delivery:</a:t>
            </a:r>
          </a:p>
          <a:p>
            <a:pPr lvl="0" algn="just">
              <a:lnSpc>
                <a:spcPct val="150000"/>
              </a:lnSpc>
            </a:pPr>
            <a:r>
              <a:rPr lang="en-IN" b="1" dirty="0">
                <a:latin typeface="Times New Roman" panose="02020603050405020304" pitchFamily="18" charset="0"/>
                <a:cs typeface="Times New Roman" panose="02020603050405020304" pitchFamily="18" charset="0"/>
              </a:rPr>
              <a:t>Siloed teams caused friction:</a:t>
            </a:r>
            <a:endParaRPr lang="en-IN" dirty="0">
              <a:latin typeface="Times New Roman" panose="02020603050405020304" pitchFamily="18" charset="0"/>
              <a:cs typeface="Times New Roman" panose="02020603050405020304" pitchFamily="18" charset="0"/>
            </a:endParaRPr>
          </a:p>
          <a:p>
            <a:pPr marL="800100" lvl="1"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Developers wanted </a:t>
            </a:r>
            <a:r>
              <a:rPr lang="en-IN" sz="1800" b="1" dirty="0">
                <a:latin typeface="Times New Roman" panose="02020603050405020304" pitchFamily="18" charset="0"/>
                <a:cs typeface="Times New Roman" panose="02020603050405020304" pitchFamily="18" charset="0"/>
              </a:rPr>
              <a:t>fast change and new features</a:t>
            </a:r>
            <a:r>
              <a:rPr lang="en-IN" sz="1800" dirty="0">
                <a:latin typeface="Times New Roman" panose="02020603050405020304" pitchFamily="18" charset="0"/>
                <a:cs typeface="Times New Roman" panose="02020603050405020304" pitchFamily="18" charset="0"/>
              </a:rPr>
              <a:t>.</a:t>
            </a:r>
          </a:p>
          <a:p>
            <a:pPr marL="800100" lvl="1"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Operations wanted </a:t>
            </a:r>
            <a:r>
              <a:rPr lang="en-IN" sz="1800" b="1" dirty="0">
                <a:latin typeface="Times New Roman" panose="02020603050405020304" pitchFamily="18" charset="0"/>
                <a:cs typeface="Times New Roman" panose="02020603050405020304" pitchFamily="18" charset="0"/>
              </a:rPr>
              <a:t>stability and minimal risk</a:t>
            </a:r>
            <a:r>
              <a:rPr lang="en-IN" sz="1800" dirty="0">
                <a:latin typeface="Times New Roman" panose="02020603050405020304" pitchFamily="18" charset="0"/>
                <a:cs typeface="Times New Roman" panose="02020603050405020304" pitchFamily="18" charset="0"/>
              </a:rPr>
              <a:t>.</a:t>
            </a:r>
          </a:p>
          <a:p>
            <a:pPr marL="800100" lvl="1" indent="-342900">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With separate goals and poor communication, releases became slow, error-prone, and </a:t>
            </a:r>
            <a:r>
              <a:rPr lang="en-IN" sz="1800" dirty="0" smtClean="0">
                <a:latin typeface="Times New Roman" panose="02020603050405020304" pitchFamily="18" charset="0"/>
                <a:cs typeface="Times New Roman" panose="02020603050405020304" pitchFamily="18" charset="0"/>
              </a:rPr>
              <a:t>blame-heavy.</a:t>
            </a:r>
          </a:p>
          <a:p>
            <a:pPr marL="800100" lvl="1" indent="-342900">
              <a:lnSpc>
                <a:spcPct val="150000"/>
              </a:lnSpc>
              <a:buFont typeface="+mj-lt"/>
              <a:buAutoNum type="arabicPeriod"/>
            </a:pPr>
            <a:r>
              <a:rPr lang="en-IN" b="1" dirty="0" smtClean="0">
                <a:latin typeface="Times New Roman" panose="02020603050405020304" pitchFamily="18" charset="0"/>
                <a:cs typeface="Times New Roman" panose="02020603050405020304" pitchFamily="18" charset="0"/>
              </a:rPr>
              <a:t>Market pressure </a:t>
            </a:r>
            <a:r>
              <a:rPr lang="en-IN" b="1" dirty="0">
                <a:latin typeface="Times New Roman" panose="02020603050405020304" pitchFamily="18" charset="0"/>
                <a:cs typeface="Times New Roman" panose="02020603050405020304" pitchFamily="18" charset="0"/>
              </a:rPr>
              <a:t>for speed and quality</a:t>
            </a:r>
            <a:r>
              <a:rPr lang="en-IN" b="1"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As businesses went digital, customers expected </a:t>
            </a:r>
            <a:r>
              <a:rPr lang="en-IN" b="1" dirty="0">
                <a:latin typeface="Times New Roman" panose="02020603050405020304" pitchFamily="18" charset="0"/>
                <a:cs typeface="Times New Roman" panose="02020603050405020304" pitchFamily="18" charset="0"/>
              </a:rPr>
              <a:t>frequent updates, high availability, and quick fixes</a:t>
            </a:r>
            <a:r>
              <a:rPr lang="en-IN" dirty="0">
                <a:latin typeface="Times New Roman" panose="02020603050405020304" pitchFamily="18" charset="0"/>
                <a:cs typeface="Times New Roman" panose="02020603050405020304" pitchFamily="18" charset="0"/>
              </a:rPr>
              <a:t>. The old “waterfall” or heavily siloed models couldn’t keep up without sacrificing reliability.</a:t>
            </a:r>
          </a:p>
          <a:p>
            <a:pPr lvl="0">
              <a:lnSpc>
                <a:spcPct val="150000"/>
              </a:lnSpc>
            </a:pPr>
            <a:r>
              <a:rPr lang="en-IN" b="1" dirty="0">
                <a:latin typeface="Times New Roman" panose="02020603050405020304" pitchFamily="18" charset="0"/>
                <a:cs typeface="Times New Roman" panose="02020603050405020304" pitchFamily="18" charset="0"/>
              </a:rPr>
              <a:t>Need for </a:t>
            </a:r>
            <a:r>
              <a:rPr lang="en-IN" b="1" dirty="0" smtClean="0">
                <a:latin typeface="Times New Roman" panose="02020603050405020304" pitchFamily="18" charset="0"/>
                <a:cs typeface="Times New Roman" panose="02020603050405020304" pitchFamily="18" charset="0"/>
              </a:rPr>
              <a:t>reliable, repeatable </a:t>
            </a:r>
            <a:r>
              <a:rPr lang="en-IN" b="1" dirty="0">
                <a:latin typeface="Times New Roman" panose="02020603050405020304" pitchFamily="18" charset="0"/>
                <a:cs typeface="Times New Roman" panose="02020603050405020304" pitchFamily="18" charset="0"/>
              </a:rPr>
              <a:t>delivery:</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Manual deployments and “snowflake” servers (each configured differently by hand) led to </a:t>
            </a:r>
            <a:r>
              <a:rPr lang="en-IN" b="1" dirty="0">
                <a:latin typeface="Times New Roman" panose="02020603050405020304" pitchFamily="18" charset="0"/>
                <a:cs typeface="Times New Roman" panose="02020603050405020304" pitchFamily="18" charset="0"/>
              </a:rPr>
              <a:t>“works on my machine”</a:t>
            </a:r>
            <a:r>
              <a:rPr lang="en-IN" dirty="0">
                <a:latin typeface="Times New Roman" panose="02020603050405020304" pitchFamily="18" charset="0"/>
                <a:cs typeface="Times New Roman" panose="02020603050405020304" pitchFamily="18" charset="0"/>
              </a:rPr>
              <a:t> issues and production outages. DevOps promotes </a:t>
            </a:r>
            <a:r>
              <a:rPr lang="en-IN" b="1" dirty="0">
                <a:latin typeface="Times New Roman" panose="02020603050405020304" pitchFamily="18" charset="0"/>
                <a:cs typeface="Times New Roman" panose="02020603050405020304" pitchFamily="18" charset="0"/>
              </a:rPr>
              <a:t>automation, standardization, and Infrastructure as Code</a:t>
            </a:r>
            <a:r>
              <a:rPr lang="en-IN" dirty="0">
                <a:latin typeface="Times New Roman" panose="02020603050405020304" pitchFamily="18" charset="0"/>
                <a:cs typeface="Times New Roman" panose="02020603050405020304" pitchFamily="18" charset="0"/>
              </a:rPr>
              <a:t> to make environments consistent and changes predictable.</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507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1E5126-F837-426A-ABAE-322D399ED9B5}"/>
              </a:ext>
            </a:extLst>
          </p:cNvPr>
          <p:cNvSpPr>
            <a:spLocks noGrp="1"/>
          </p:cNvSpPr>
          <p:nvPr>
            <p:ph idx="1"/>
          </p:nvPr>
        </p:nvSpPr>
        <p:spPr>
          <a:xfrm>
            <a:off x="327138" y="477704"/>
            <a:ext cx="10830488" cy="5281070"/>
          </a:xfrm>
        </p:spPr>
        <p:txBody>
          <a:bodyPr>
            <a:normAutofit/>
          </a:bodyPr>
          <a:lstStyle/>
          <a:p>
            <a:pPr lvl="0">
              <a:lnSpc>
                <a:spcPct val="150000"/>
              </a:lnSpc>
            </a:pPr>
            <a:r>
              <a:rPr lang="en-IN" sz="2400" b="1" dirty="0" smtClean="0">
                <a:latin typeface="Times New Roman" panose="02020603050405020304" pitchFamily="18" charset="0"/>
                <a:cs typeface="Times New Roman" panose="02020603050405020304" pitchFamily="18" charset="0"/>
              </a:rPr>
              <a:t>Feedback and learning</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By integrating </a:t>
            </a:r>
            <a:r>
              <a:rPr lang="en-IN" sz="2400" b="1" dirty="0">
                <a:latin typeface="Times New Roman" panose="02020603050405020304" pitchFamily="18" charset="0"/>
                <a:cs typeface="Times New Roman" panose="02020603050405020304" pitchFamily="18" charset="0"/>
              </a:rPr>
              <a:t>monitoring, logging, and metrics</a:t>
            </a:r>
            <a:r>
              <a:rPr lang="en-IN" sz="2400" dirty="0">
                <a:latin typeface="Times New Roman" panose="02020603050405020304" pitchFamily="18" charset="0"/>
                <a:cs typeface="Times New Roman" panose="02020603050405020304" pitchFamily="18" charset="0"/>
              </a:rPr>
              <a:t> into the delivery pipeline, teams get rapid feedback on what’s working in production and can iterate quickly. This closes the loop between building software and running it.</a:t>
            </a:r>
          </a:p>
          <a:p>
            <a:pPr algn="just">
              <a:lnSpc>
                <a:spcPct val="150000"/>
              </a:lnSpc>
            </a:pPr>
            <a:r>
              <a:rPr lang="en-IN" sz="2400" dirty="0">
                <a:latin typeface="Times New Roman" panose="02020603050405020304" pitchFamily="18" charset="0"/>
                <a:cs typeface="Times New Roman" panose="02020603050405020304" pitchFamily="18" charset="0"/>
              </a:rPr>
              <a:t>In short, </a:t>
            </a:r>
            <a:r>
              <a:rPr lang="en-IN" sz="2400" b="1" dirty="0">
                <a:latin typeface="Times New Roman" panose="02020603050405020304" pitchFamily="18" charset="0"/>
                <a:cs typeface="Times New Roman" panose="02020603050405020304" pitchFamily="18" charset="0"/>
              </a:rPr>
              <a:t>DevOps exists to resolve the tension between speed and stability</a:t>
            </a:r>
            <a:r>
              <a:rPr lang="en-IN" sz="2400" dirty="0">
                <a:latin typeface="Times New Roman" panose="02020603050405020304" pitchFamily="18" charset="0"/>
                <a:cs typeface="Times New Roman" panose="02020603050405020304" pitchFamily="18" charset="0"/>
              </a:rPr>
              <a:t> by changing how people work together and by automating the software delivery pipeline so organizations can innovate continuously without breaking things.</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25910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F5905-3EB8-CA95-3E0B-BC9723A4B056}"/>
              </a:ext>
            </a:extLst>
          </p:cNvPr>
          <p:cNvSpPr>
            <a:spLocks noGrp="1"/>
          </p:cNvSpPr>
          <p:nvPr>
            <p:ph type="title"/>
          </p:nvPr>
        </p:nvSpPr>
        <p:spPr/>
        <p:txBody>
          <a:bodyPr>
            <a:normAutofit fontScale="90000"/>
          </a:bodyPr>
          <a:lstStyle/>
          <a:p>
            <a:pPr>
              <a:lnSpc>
                <a:spcPct val="150000"/>
              </a:lnSpc>
            </a:pPr>
            <a:r>
              <a:rPr lang="en-IN" sz="2800" dirty="0">
                <a:latin typeface="Times New Roman" panose="02020603050405020304" pitchFamily="18" charset="0"/>
                <a:cs typeface="Times New Roman" panose="02020603050405020304" pitchFamily="18" charset="0"/>
              </a:rPr>
              <a:t>What DevOps is · Dev vs Ops gap · DevOps culture and mindset · Benefits to an organization · DevOps team model</a:t>
            </a:r>
          </a:p>
        </p:txBody>
      </p:sp>
      <p:sp>
        <p:nvSpPr>
          <p:cNvPr id="3" name="Content Placeholder 2">
            <a:extLst>
              <a:ext uri="{FF2B5EF4-FFF2-40B4-BE49-F238E27FC236}">
                <a16:creationId xmlns:a16="http://schemas.microsoft.com/office/drawing/2014/main" id="{09FF2897-C3D2-57D6-CF55-7F6B7CDA8D60}"/>
              </a:ext>
            </a:extLst>
          </p:cNvPr>
          <p:cNvSpPr>
            <a:spLocks noGrp="1"/>
          </p:cNvSpPr>
          <p:nvPr>
            <p:ph idx="1"/>
          </p:nvPr>
        </p:nvSpPr>
        <p:spPr>
          <a:xfrm>
            <a:off x="677334" y="2160589"/>
            <a:ext cx="10246828" cy="3880773"/>
          </a:xfrm>
        </p:spPr>
        <p:txBody>
          <a:bodyP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DevOps is a way of working that brings </a:t>
            </a:r>
            <a:r>
              <a:rPr lang="en-IN" sz="2000" b="1" dirty="0">
                <a:latin typeface="Times New Roman" panose="02020603050405020304" pitchFamily="18" charset="0"/>
                <a:cs typeface="Times New Roman" panose="02020603050405020304" pitchFamily="18" charset="0"/>
              </a:rPr>
              <a:t>development</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operations</a:t>
            </a:r>
            <a:r>
              <a:rPr lang="en-IN" sz="2000" dirty="0">
                <a:latin typeface="Times New Roman" panose="02020603050405020304" pitchFamily="18" charset="0"/>
                <a:cs typeface="Times New Roman" panose="02020603050405020304" pitchFamily="18" charset="0"/>
              </a:rPr>
              <a:t> teams together to build, test, release, and maintain software more quickly and reliably. It combines people, processes, and automation so software can be delivered with fewer delays and fewer errors.</a:t>
            </a:r>
          </a:p>
          <a:p>
            <a:pPr marL="0" indent="0" algn="just">
              <a:lnSpc>
                <a:spcPct val="150000"/>
              </a:lnSpc>
              <a:buNone/>
            </a:pPr>
            <a:r>
              <a:rPr lang="en-IN" sz="2000" dirty="0">
                <a:effectLst/>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Main idea</a:t>
            </a:r>
          </a:p>
          <a:p>
            <a:pPr>
              <a:lnSpc>
                <a:spcPct val="150000"/>
              </a:lnSpc>
            </a:pPr>
            <a:r>
              <a:rPr lang="en-IN" sz="2000" dirty="0">
                <a:latin typeface="Times New Roman" panose="02020603050405020304" pitchFamily="18" charset="0"/>
                <a:cs typeface="Times New Roman" panose="02020603050405020304" pitchFamily="18" charset="0"/>
              </a:rPr>
              <a:t>Development creates the software.</a:t>
            </a:r>
          </a:p>
          <a:p>
            <a:pPr>
              <a:lnSpc>
                <a:spcPct val="150000"/>
              </a:lnSpc>
            </a:pPr>
            <a:r>
              <a:rPr lang="en-IN" sz="2000" dirty="0">
                <a:latin typeface="Times New Roman" panose="02020603050405020304" pitchFamily="18" charset="0"/>
                <a:cs typeface="Times New Roman" panose="02020603050405020304" pitchFamily="18" charset="0"/>
              </a:rPr>
              <a:t>Operations runs and supports it.</a:t>
            </a:r>
          </a:p>
          <a:p>
            <a:pPr>
              <a:lnSpc>
                <a:spcPct val="150000"/>
              </a:lnSpc>
            </a:pPr>
            <a:r>
              <a:rPr lang="en-IN" sz="2000" dirty="0">
                <a:latin typeface="Times New Roman" panose="02020603050405020304" pitchFamily="18" charset="0"/>
                <a:cs typeface="Times New Roman" panose="02020603050405020304" pitchFamily="18" charset="0"/>
              </a:rPr>
              <a:t>DevOps connects both sides so they share responsibility across the full software lifecycle.</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85739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E9620A-F299-EA3E-AA5B-B0BB3D0C915C}"/>
              </a:ext>
            </a:extLst>
          </p:cNvPr>
          <p:cNvSpPr>
            <a:spLocks noGrp="1"/>
          </p:cNvSpPr>
          <p:nvPr>
            <p:ph idx="1"/>
          </p:nvPr>
        </p:nvSpPr>
        <p:spPr>
          <a:xfrm>
            <a:off x="589785" y="613891"/>
            <a:ext cx="10353832" cy="3880773"/>
          </a:xfrm>
        </p:spPr>
        <p:txBody>
          <a:bodyPr>
            <a:noAutofit/>
          </a:bodyPr>
          <a:lstStyle/>
          <a:p>
            <a:pPr>
              <a:lnSpc>
                <a:spcPct val="150000"/>
              </a:lnSpc>
            </a:pPr>
            <a:r>
              <a:rPr lang="en-US" sz="2400" dirty="0">
                <a:latin typeface="Times New Roman" panose="02020603050405020304" pitchFamily="18" charset="0"/>
                <a:cs typeface="Times New Roman" panose="02020603050405020304" pitchFamily="18" charset="0"/>
              </a:rPr>
              <a:t>DevOps culture is a set of practices that reduce the barriers between </a:t>
            </a:r>
            <a:r>
              <a:rPr lang="en-US" sz="2400" b="1" dirty="0">
                <a:latin typeface="Times New Roman" panose="02020603050405020304" pitchFamily="18" charset="0"/>
                <a:cs typeface="Times New Roman" panose="02020603050405020304" pitchFamily="18" charset="0"/>
              </a:rPr>
              <a:t>developers</a:t>
            </a:r>
            <a:r>
              <a:rPr lang="en-US" sz="2400" dirty="0">
                <a:latin typeface="Times New Roman" panose="02020603050405020304" pitchFamily="18" charset="0"/>
                <a:cs typeface="Times New Roman" panose="02020603050405020304" pitchFamily="18" charset="0"/>
              </a:rPr>
              <a:t>, who want to innovate and deliver faster, and </a:t>
            </a:r>
            <a:r>
              <a:rPr lang="en-US" sz="2400" b="1" dirty="0">
                <a:latin typeface="Times New Roman" panose="02020603050405020304" pitchFamily="18" charset="0"/>
                <a:cs typeface="Times New Roman" panose="02020603050405020304" pitchFamily="18" charset="0"/>
              </a:rPr>
              <a:t>operations</a:t>
            </a:r>
            <a:r>
              <a:rPr lang="en-US" sz="2400" dirty="0">
                <a:latin typeface="Times New Roman" panose="02020603050405020304" pitchFamily="18" charset="0"/>
                <a:cs typeface="Times New Roman" panose="02020603050405020304" pitchFamily="18" charset="0"/>
              </a:rPr>
              <a:t>, who want to guarantee the stability of production systems and the quality of the system changes they make.</a:t>
            </a:r>
          </a:p>
          <a:p>
            <a:pPr>
              <a:lnSpc>
                <a:spcPct val="150000"/>
              </a:lnSpc>
            </a:pPr>
            <a:r>
              <a:rPr lang="en-US" sz="2400" dirty="0">
                <a:latin typeface="Times New Roman" panose="02020603050405020304" pitchFamily="18" charset="0"/>
                <a:cs typeface="Times New Roman" panose="02020603050405020304" pitchFamily="18" charset="0"/>
              </a:rPr>
              <a:t>DevOps culture is also the extension of agile processes (Scrum, XP, and so on), which makes it possible to reduce delivery times and already involves developers and business teams.</a:t>
            </a:r>
          </a:p>
          <a:p>
            <a:pPr>
              <a:lnSpc>
                <a:spcPct val="150000"/>
              </a:lnSpc>
            </a:pPr>
            <a:r>
              <a:rPr lang="en-US" sz="2400" dirty="0">
                <a:latin typeface="Times New Roman" panose="02020603050405020304" pitchFamily="18" charset="0"/>
                <a:cs typeface="Times New Roman" panose="02020603050405020304" pitchFamily="18" charset="0"/>
              </a:rPr>
              <a:t>However, they are often hindered because of the non-inclusion of Ops in the same teams.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8558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17846-C690-92FA-7855-D726FBBCDBF6}"/>
              </a:ext>
            </a:extLst>
          </p:cNvPr>
          <p:cNvSpPr>
            <a:spLocks noGrp="1"/>
          </p:cNvSpPr>
          <p:nvPr>
            <p:ph type="title"/>
          </p:nvPr>
        </p:nvSpPr>
        <p:spPr>
          <a:xfrm>
            <a:off x="677334" y="249677"/>
            <a:ext cx="8596668" cy="1320800"/>
          </a:xfrm>
        </p:spPr>
        <p:txBody>
          <a:bodyPr/>
          <a:lstStyle/>
          <a:p>
            <a:pPr algn="ctr"/>
            <a:r>
              <a:rPr lang="en-IN" b="1" dirty="0">
                <a:latin typeface="Times New Roman" panose="02020603050405020304" pitchFamily="18" charset="0"/>
                <a:cs typeface="Times New Roman" panose="02020603050405020304" pitchFamily="18" charset="0"/>
              </a:rPr>
              <a:t>DevOps Lifecycle </a:t>
            </a:r>
          </a:p>
        </p:txBody>
      </p:sp>
      <p:sp>
        <p:nvSpPr>
          <p:cNvPr id="3" name="Content Placeholder 2">
            <a:extLst>
              <a:ext uri="{FF2B5EF4-FFF2-40B4-BE49-F238E27FC236}">
                <a16:creationId xmlns:a16="http://schemas.microsoft.com/office/drawing/2014/main" id="{A4362975-246F-05CB-2DCB-A9888F12D9CB}"/>
              </a:ext>
            </a:extLst>
          </p:cNvPr>
          <p:cNvSpPr>
            <a:spLocks noGrp="1"/>
          </p:cNvSpPr>
          <p:nvPr>
            <p:ph idx="1"/>
          </p:nvPr>
        </p:nvSpPr>
        <p:spPr>
          <a:xfrm>
            <a:off x="599513" y="1061364"/>
            <a:ext cx="10587296" cy="3880773"/>
          </a:xfrm>
        </p:spPr>
        <p:txBody>
          <a:bodyPr>
            <a:noAutofit/>
          </a:bodyPr>
          <a:lstStyle/>
          <a:p>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DevOps lifecycle</a:t>
            </a:r>
            <a:r>
              <a:rPr lang="en-IN" sz="2400" dirty="0">
                <a:latin typeface="Times New Roman" panose="02020603050405020304" pitchFamily="18" charset="0"/>
                <a:cs typeface="Times New Roman" panose="02020603050405020304" pitchFamily="18" charset="0"/>
              </a:rPr>
              <a:t> is a continuous, iterative loop that guides how software is planned, built, tested, released, deployed, operated, and monitored.</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Plan</a:t>
            </a:r>
            <a:r>
              <a:rPr lang="en-IN" sz="2400" dirty="0">
                <a:latin typeface="Times New Roman" panose="02020603050405020304" pitchFamily="18" charset="0"/>
                <a:cs typeface="Times New Roman" panose="02020603050405020304" pitchFamily="18" charset="0"/>
              </a:rPr>
              <a:t> – Define requirements, priorities, and goals.</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Code</a:t>
            </a:r>
            <a:r>
              <a:rPr lang="en-IN" sz="2400" dirty="0">
                <a:latin typeface="Times New Roman" panose="02020603050405020304" pitchFamily="18" charset="0"/>
                <a:cs typeface="Times New Roman" panose="02020603050405020304" pitchFamily="18" charset="0"/>
              </a:rPr>
              <a:t> – Developers write and commit code in version control (e.g., Git).</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Build</a:t>
            </a:r>
            <a:r>
              <a:rPr lang="en-IN" sz="2400" dirty="0">
                <a:latin typeface="Times New Roman" panose="02020603050405020304" pitchFamily="18" charset="0"/>
                <a:cs typeface="Times New Roman" panose="02020603050405020304" pitchFamily="18" charset="0"/>
              </a:rPr>
              <a:t> – Compile/package code into artifacts (binaries, containers).</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Test</a:t>
            </a:r>
            <a:r>
              <a:rPr lang="en-IN" sz="2400" dirty="0">
                <a:latin typeface="Times New Roman" panose="02020603050405020304" pitchFamily="18" charset="0"/>
                <a:cs typeface="Times New Roman" panose="02020603050405020304" pitchFamily="18" charset="0"/>
              </a:rPr>
              <a:t> – Run automated and manual tests (unit, integration, security, etc.).</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Release</a:t>
            </a:r>
            <a:r>
              <a:rPr lang="en-IN" sz="2400" dirty="0">
                <a:latin typeface="Times New Roman" panose="02020603050405020304" pitchFamily="18" charset="0"/>
                <a:cs typeface="Times New Roman" panose="02020603050405020304" pitchFamily="18" charset="0"/>
              </a:rPr>
              <a:t> – Prepare a validated build for deployment (approvals, scheduling).</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Deploy</a:t>
            </a:r>
            <a:r>
              <a:rPr lang="en-IN" sz="2400" dirty="0">
                <a:latin typeface="Times New Roman" panose="02020603050405020304" pitchFamily="18" charset="0"/>
                <a:cs typeface="Times New Roman" panose="02020603050405020304" pitchFamily="18" charset="0"/>
              </a:rPr>
              <a:t> – Push the release to staging/production, often via CI/CD.</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Operate</a:t>
            </a:r>
            <a:r>
              <a:rPr lang="en-IN" sz="2400" dirty="0">
                <a:latin typeface="Times New Roman" panose="02020603050405020304" pitchFamily="18" charset="0"/>
                <a:cs typeface="Times New Roman" panose="02020603050405020304" pitchFamily="18" charset="0"/>
              </a:rPr>
              <a:t> – Run and maintain the live system (patches, scaling, incidents).</a:t>
            </a:r>
          </a:p>
          <a:p>
            <a:pPr marL="457200" lvl="0" indent="-457200">
              <a:buFont typeface="+mj-lt"/>
              <a:buAutoNum type="arabicPeriod"/>
            </a:pPr>
            <a:r>
              <a:rPr lang="en-IN" sz="2400" b="1" dirty="0">
                <a:latin typeface="Times New Roman" panose="02020603050405020304" pitchFamily="18" charset="0"/>
                <a:cs typeface="Times New Roman" panose="02020603050405020304" pitchFamily="18" charset="0"/>
              </a:rPr>
              <a:t>Monitor</a:t>
            </a:r>
            <a:r>
              <a:rPr lang="en-IN" sz="2400" dirty="0">
                <a:latin typeface="Times New Roman" panose="02020603050405020304" pitchFamily="18" charset="0"/>
                <a:cs typeface="Times New Roman" panose="02020603050405020304" pitchFamily="18" charset="0"/>
              </a:rPr>
              <a:t> – Collect logs, metrics, and user feedback; feed insights back into </a:t>
            </a:r>
            <a:r>
              <a:rPr lang="en-IN" sz="2400" b="1" dirty="0">
                <a:latin typeface="Times New Roman" panose="02020603050405020304" pitchFamily="18" charset="0"/>
                <a:cs typeface="Times New Roman" panose="02020603050405020304" pitchFamily="18" charset="0"/>
              </a:rPr>
              <a:t>Plan</a:t>
            </a:r>
            <a:r>
              <a:rPr lang="en-IN" sz="2400" dirty="0">
                <a:latin typeface="Times New Roman" panose="02020603050405020304" pitchFamily="18" charset="0"/>
                <a:cs typeface="Times New Roman" panose="02020603050405020304" pitchFamily="18" charset="0"/>
              </a:rPr>
              <a:t>.</a:t>
            </a:r>
          </a:p>
          <a:p>
            <a:pPr marL="457200" lvl="0" indent="-457200">
              <a:buFont typeface="+mj-lt"/>
              <a:buAutoNum type="arabicPeriod"/>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2837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ttps://images.openai.com/static-rsc-4/ktaI3ptYYsnt2K9RZafG2ISbkiJb2lRFh64VVlNCYpDC_spXdAQaCvNydr2_RBWO8stwKC6itRp3uuI87sEtqi1X6yJ4WWuEMo_1bxj3RduMTvOcuHN2B3bvPb7xySilTxw07O2eQZIXzL21SdnN1PuovoEogL_N9qidUljSbF2UBUBNYncFWPWqyf3jn7DR?purpose=fullsize">
            <a:extLst>
              <a:ext uri="{FF2B5EF4-FFF2-40B4-BE49-F238E27FC236}">
                <a16:creationId xmlns:a16="http://schemas.microsoft.com/office/drawing/2014/main" id="{0ACD5C43-2A1A-D5CD-96C9-208058890D27}"/>
              </a:ext>
            </a:extLst>
          </p:cNvPr>
          <p:cNvPicPr>
            <a:picLocks noChangeAspect="1"/>
          </p:cNvPicPr>
          <p:nvPr/>
        </p:nvPicPr>
        <p:blipFill>
          <a:blip r:embed="rId2"/>
          <a:stretch>
            <a:fillRect/>
          </a:stretch>
        </p:blipFill>
        <p:spPr>
          <a:xfrm>
            <a:off x="856035" y="838200"/>
            <a:ext cx="9095361" cy="5159829"/>
          </a:xfrm>
          <a:prstGeom prst="rect">
            <a:avLst/>
          </a:prstGeom>
        </p:spPr>
      </p:pic>
    </p:spTree>
    <p:extLst>
      <p:ext uri="{BB962C8B-B14F-4D97-AF65-F5344CB8AC3E}">
        <p14:creationId xmlns:p14="http://schemas.microsoft.com/office/powerpoint/2010/main" val="10534312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5B34F-ED1F-AEF6-E0BC-630265DED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3A5C8-A31A-82FB-4F61-9087A8825B64}"/>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Simple Example</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BE1878-268B-6602-D3CB-6539046C306C}"/>
              </a:ext>
            </a:extLst>
          </p:cNvPr>
          <p:cNvSpPr>
            <a:spLocks noGrp="1"/>
          </p:cNvSpPr>
          <p:nvPr>
            <p:ph idx="1"/>
          </p:nvPr>
        </p:nvSpPr>
        <p:spPr>
          <a:xfrm>
            <a:off x="677333" y="1411560"/>
            <a:ext cx="10558113" cy="4318031"/>
          </a:xfrm>
        </p:spPr>
        <p:txBody>
          <a:bodyPr>
            <a:normAutofit fontScale="92500" lnSpcReduction="20000"/>
          </a:bodyPr>
          <a:lstStyle/>
          <a:p>
            <a:pPr algn="just">
              <a:lnSpc>
                <a:spcPct val="170000"/>
              </a:lnSpc>
            </a:pPr>
            <a:r>
              <a:rPr lang="en-IN" sz="2800" dirty="0">
                <a:latin typeface="Times New Roman" panose="02020603050405020304" pitchFamily="18" charset="0"/>
                <a:cs typeface="Times New Roman" panose="02020603050405020304" pitchFamily="18" charset="0"/>
              </a:rPr>
              <a:t>Suppose a college develops a </a:t>
            </a:r>
            <a:r>
              <a:rPr lang="en-IN" sz="2800" b="1" dirty="0">
                <a:latin typeface="Times New Roman" panose="02020603050405020304" pitchFamily="18" charset="0"/>
                <a:cs typeface="Times New Roman" panose="02020603050405020304" pitchFamily="18" charset="0"/>
              </a:rPr>
              <a:t>Student Attendance Management System</a:t>
            </a:r>
            <a:r>
              <a:rPr lang="en-IN" sz="2800" dirty="0">
                <a:latin typeface="Times New Roman" panose="02020603050405020304" pitchFamily="18" charset="0"/>
                <a:cs typeface="Times New Roman" panose="02020603050405020304" pitchFamily="18" charset="0"/>
              </a:rPr>
              <a:t>.</a:t>
            </a:r>
          </a:p>
          <a:p>
            <a:pPr algn="just">
              <a:lnSpc>
                <a:spcPct val="170000"/>
              </a:lnSpc>
            </a:pPr>
            <a:r>
              <a:rPr lang="en-IN" sz="2800" dirty="0">
                <a:latin typeface="Times New Roman" panose="02020603050405020304" pitchFamily="18" charset="0"/>
                <a:cs typeface="Times New Roman" panose="02020603050405020304" pitchFamily="18" charset="0"/>
              </a:rPr>
              <a:t>Without DevOps:</a:t>
            </a:r>
          </a:p>
          <a:p>
            <a:pPr lvl="0" algn="just">
              <a:lnSpc>
                <a:spcPct val="170000"/>
              </a:lnSpc>
            </a:pPr>
            <a:r>
              <a:rPr lang="en-IN" sz="2800" dirty="0">
                <a:latin typeface="Times New Roman" panose="02020603050405020304" pitchFamily="18" charset="0"/>
                <a:cs typeface="Times New Roman" panose="02020603050405020304" pitchFamily="18" charset="0"/>
              </a:rPr>
              <a:t>Developers write new attendance features. </a:t>
            </a:r>
          </a:p>
          <a:p>
            <a:pPr lvl="0" algn="just">
              <a:lnSpc>
                <a:spcPct val="170000"/>
              </a:lnSpc>
            </a:pPr>
            <a:r>
              <a:rPr lang="en-IN" sz="2800" dirty="0">
                <a:latin typeface="Times New Roman" panose="02020603050405020304" pitchFamily="18" charset="0"/>
                <a:cs typeface="Times New Roman" panose="02020603050405020304" pitchFamily="18" charset="0"/>
              </a:rPr>
              <a:t>Testers manually test the application. </a:t>
            </a:r>
          </a:p>
          <a:p>
            <a:pPr lvl="0" algn="just">
              <a:lnSpc>
                <a:spcPct val="170000"/>
              </a:lnSpc>
            </a:pPr>
            <a:r>
              <a:rPr lang="en-IN" sz="2800" dirty="0">
                <a:latin typeface="Times New Roman" panose="02020603050405020304" pitchFamily="18" charset="0"/>
                <a:cs typeface="Times New Roman" panose="02020603050405020304" pitchFamily="18" charset="0"/>
              </a:rPr>
              <a:t>The operations team manually deploys it to the server. </a:t>
            </a:r>
          </a:p>
          <a:p>
            <a:pPr lvl="0" algn="just">
              <a:lnSpc>
                <a:spcPct val="170000"/>
              </a:lnSpc>
            </a:pPr>
            <a:r>
              <a:rPr lang="en-IN" sz="2800" dirty="0">
                <a:latin typeface="Times New Roman" panose="02020603050405020304" pitchFamily="18" charset="0"/>
                <a:cs typeface="Times New Roman" panose="02020603050405020304" pitchFamily="18" charset="0"/>
              </a:rPr>
              <a:t>If an error occurs, the process may have to start again. </a:t>
            </a:r>
          </a:p>
          <a:p>
            <a:pPr algn="just">
              <a:lnSpc>
                <a:spcPct val="170000"/>
              </a:lnSpc>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92392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C7D0C-AEC7-B9D7-3B28-777969EC555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Without DevOps:</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24E7085-1EFF-EE49-BD41-2C7DF919ECBF}"/>
              </a:ext>
            </a:extLst>
          </p:cNvPr>
          <p:cNvSpPr>
            <a:spLocks noGrp="1"/>
          </p:cNvSpPr>
          <p:nvPr>
            <p:ph idx="1"/>
          </p:nvPr>
        </p:nvSpPr>
        <p:spPr>
          <a:xfrm>
            <a:off x="677334" y="1270000"/>
            <a:ext cx="8596668" cy="3880773"/>
          </a:xfrm>
        </p:spPr>
        <p:txBody>
          <a:bodyPr>
            <a:normAutofit/>
          </a:bodyPr>
          <a:lstStyle/>
          <a:p>
            <a:pPr lvl="0" algn="just">
              <a:lnSpc>
                <a:spcPct val="150000"/>
              </a:lnSpc>
            </a:pPr>
            <a:r>
              <a:rPr lang="en-IN" sz="2800" dirty="0">
                <a:latin typeface="Times New Roman" panose="02020603050405020304" pitchFamily="18" charset="0"/>
                <a:cs typeface="Times New Roman" panose="02020603050405020304" pitchFamily="18" charset="0"/>
              </a:rPr>
              <a:t>Developers write new attendance features. </a:t>
            </a:r>
          </a:p>
          <a:p>
            <a:pPr lvl="0" algn="just">
              <a:lnSpc>
                <a:spcPct val="150000"/>
              </a:lnSpc>
            </a:pPr>
            <a:r>
              <a:rPr lang="en-IN" sz="2800" dirty="0">
                <a:latin typeface="Times New Roman" panose="02020603050405020304" pitchFamily="18" charset="0"/>
                <a:cs typeface="Times New Roman" panose="02020603050405020304" pitchFamily="18" charset="0"/>
              </a:rPr>
              <a:t>Testers manually test the application. </a:t>
            </a:r>
          </a:p>
          <a:p>
            <a:pPr lvl="0" algn="just">
              <a:lnSpc>
                <a:spcPct val="150000"/>
              </a:lnSpc>
            </a:pPr>
            <a:r>
              <a:rPr lang="en-IN" sz="2800" dirty="0">
                <a:latin typeface="Times New Roman" panose="02020603050405020304" pitchFamily="18" charset="0"/>
                <a:cs typeface="Times New Roman" panose="02020603050405020304" pitchFamily="18" charset="0"/>
              </a:rPr>
              <a:t>The operations team manually deploys it to the server. </a:t>
            </a:r>
          </a:p>
          <a:p>
            <a:pPr lvl="0" algn="just">
              <a:lnSpc>
                <a:spcPct val="150000"/>
              </a:lnSpc>
            </a:pPr>
            <a:r>
              <a:rPr lang="en-IN" sz="2800" dirty="0">
                <a:latin typeface="Times New Roman" panose="02020603050405020304" pitchFamily="18" charset="0"/>
                <a:cs typeface="Times New Roman" panose="02020603050405020304" pitchFamily="18" charset="0"/>
              </a:rPr>
              <a:t>If an error occurs, the process may have to start again.</a:t>
            </a:r>
          </a:p>
          <a:p>
            <a:pPr marL="0" indent="0" algn="just">
              <a:lnSpc>
                <a:spcPct val="150000"/>
              </a:lnSpc>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9239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A6315-7AF5-6DF3-08F1-773B709D5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C1C78-4FC1-04E0-03ED-829635D45BE3}"/>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With DevOps: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60378F-2EAF-3133-923F-8E527E9331C9}"/>
              </a:ext>
            </a:extLst>
          </p:cNvPr>
          <p:cNvSpPr>
            <a:spLocks noGrp="1"/>
          </p:cNvSpPr>
          <p:nvPr>
            <p:ph idx="1"/>
          </p:nvPr>
        </p:nvSpPr>
        <p:spPr>
          <a:xfrm>
            <a:off x="677334" y="1372648"/>
            <a:ext cx="9847994" cy="3880773"/>
          </a:xfrm>
        </p:spPr>
        <p:txBody>
          <a:bodyPr>
            <a:noAutofit/>
          </a:bodyPr>
          <a:lstStyle/>
          <a:p>
            <a:pPr lvl="0">
              <a:lnSpc>
                <a:spcPct val="150000"/>
              </a:lnSpc>
            </a:pPr>
            <a:r>
              <a:rPr lang="en-IN" sz="2400" b="1" dirty="0">
                <a:latin typeface="Times New Roman" panose="02020603050405020304" pitchFamily="18" charset="0"/>
                <a:cs typeface="Times New Roman" panose="02020603050405020304" pitchFamily="18" charset="0"/>
              </a:rPr>
              <a:t>Developer</a:t>
            </a:r>
            <a:r>
              <a:rPr lang="en-IN" sz="2400" dirty="0">
                <a:latin typeface="Times New Roman" panose="02020603050405020304" pitchFamily="18" charset="0"/>
                <a:cs typeface="Times New Roman" panose="02020603050405020304" pitchFamily="18" charset="0"/>
              </a:rPr>
              <a:t> writes the attendance feature. </a:t>
            </a:r>
          </a:p>
          <a:p>
            <a:pPr lvl="0">
              <a:lnSpc>
                <a:spcPct val="150000"/>
              </a:lnSpc>
            </a:pPr>
            <a:r>
              <a:rPr lang="en-IN" sz="2400" dirty="0">
                <a:latin typeface="Times New Roman" panose="02020603050405020304" pitchFamily="18" charset="0"/>
                <a:cs typeface="Times New Roman" panose="02020603050405020304" pitchFamily="18" charset="0"/>
              </a:rPr>
              <a:t>Code is uploaded to </a:t>
            </a:r>
            <a:r>
              <a:rPr lang="en-IN" sz="2400" b="1" dirty="0">
                <a:latin typeface="Times New Roman" panose="02020603050405020304" pitchFamily="18" charset="0"/>
                <a:cs typeface="Times New Roman" panose="02020603050405020304" pitchFamily="18" charset="0"/>
              </a:rPr>
              <a:t>GitHub</a:t>
            </a:r>
            <a:r>
              <a:rPr lang="en-IN" sz="2400" dirty="0">
                <a:latin typeface="Times New Roman" panose="02020603050405020304" pitchFamily="18" charset="0"/>
                <a:cs typeface="Times New Roman" panose="02020603050405020304" pitchFamily="18" charset="0"/>
              </a:rPr>
              <a:t>. </a:t>
            </a:r>
          </a:p>
          <a:p>
            <a:pPr lvl="0">
              <a:lnSpc>
                <a:spcPct val="150000"/>
              </a:lnSpc>
            </a:pPr>
            <a:r>
              <a:rPr lang="en-IN" sz="2400" b="1" dirty="0">
                <a:latin typeface="Times New Roman" panose="02020603050405020304" pitchFamily="18" charset="0"/>
                <a:cs typeface="Times New Roman" panose="02020603050405020304" pitchFamily="18" charset="0"/>
              </a:rPr>
              <a:t>GitHub Actions/Jenkins</a:t>
            </a:r>
            <a:r>
              <a:rPr lang="en-IN" sz="2400" dirty="0">
                <a:latin typeface="Times New Roman" panose="02020603050405020304" pitchFamily="18" charset="0"/>
                <a:cs typeface="Times New Roman" panose="02020603050405020304" pitchFamily="18" charset="0"/>
              </a:rPr>
              <a:t> automatically builds the application. </a:t>
            </a:r>
          </a:p>
          <a:p>
            <a:pPr lvl="0">
              <a:lnSpc>
                <a:spcPct val="150000"/>
              </a:lnSpc>
            </a:pPr>
            <a:r>
              <a:rPr lang="en-IN" sz="2400" dirty="0">
                <a:latin typeface="Times New Roman" panose="02020603050405020304" pitchFamily="18" charset="0"/>
                <a:cs typeface="Times New Roman" panose="02020603050405020304" pitchFamily="18" charset="0"/>
              </a:rPr>
              <a:t>Automated tests are executed. </a:t>
            </a:r>
          </a:p>
          <a:p>
            <a:pPr lvl="0">
              <a:lnSpc>
                <a:spcPct val="150000"/>
              </a:lnSpc>
            </a:pPr>
            <a:r>
              <a:rPr lang="en-IN" sz="2400" b="1" dirty="0">
                <a:latin typeface="Times New Roman" panose="02020603050405020304" pitchFamily="18" charset="0"/>
                <a:cs typeface="Times New Roman" panose="02020603050405020304" pitchFamily="18" charset="0"/>
              </a:rPr>
              <a:t>Docker</a:t>
            </a:r>
            <a:r>
              <a:rPr lang="en-IN" sz="2400" dirty="0">
                <a:latin typeface="Times New Roman" panose="02020603050405020304" pitchFamily="18" charset="0"/>
                <a:cs typeface="Times New Roman" panose="02020603050405020304" pitchFamily="18" charset="0"/>
              </a:rPr>
              <a:t> packages the application into a container. </a:t>
            </a:r>
          </a:p>
          <a:p>
            <a:pPr lvl="0">
              <a:lnSpc>
                <a:spcPct val="150000"/>
              </a:lnSpc>
            </a:pPr>
            <a:r>
              <a:rPr lang="en-IN" sz="2400" dirty="0">
                <a:latin typeface="Times New Roman" panose="02020603050405020304" pitchFamily="18" charset="0"/>
                <a:cs typeface="Times New Roman" panose="02020603050405020304" pitchFamily="18" charset="0"/>
              </a:rPr>
              <a:t>The application is automatically deployed to a server/cloud. </a:t>
            </a:r>
          </a:p>
          <a:p>
            <a:pPr lvl="0">
              <a:lnSpc>
                <a:spcPct val="150000"/>
              </a:lnSpc>
            </a:pPr>
            <a:r>
              <a:rPr lang="en-IN" sz="2400" dirty="0">
                <a:latin typeface="Times New Roman" panose="02020603050405020304" pitchFamily="18" charset="0"/>
                <a:cs typeface="Times New Roman" panose="02020603050405020304" pitchFamily="18" charset="0"/>
              </a:rPr>
              <a:t>Monitoring tools check whether the application is running correctly. </a:t>
            </a:r>
          </a:p>
          <a:p>
            <a:pPr lvl="0">
              <a:lnSpc>
                <a:spcPct val="150000"/>
              </a:lnSpc>
            </a:pPr>
            <a:r>
              <a:rPr lang="en-IN" sz="2400" dirty="0">
                <a:latin typeface="Times New Roman" panose="02020603050405020304" pitchFamily="18" charset="0"/>
                <a:cs typeface="Times New Roman" panose="02020603050405020304" pitchFamily="18" charset="0"/>
              </a:rPr>
              <a:t>Feedback is sent back to developers for improvements.</a:t>
            </a: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0167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6EE94-229A-B026-9CCA-1721973A1074}"/>
            </a:ext>
          </a:extLst>
        </p:cNvPr>
        <p:cNvGrpSpPr/>
        <p:nvPr/>
      </p:nvGrpSpPr>
      <p:grpSpPr>
        <a:xfrm>
          <a:off x="0" y="0"/>
          <a:ext cx="0" cy="0"/>
          <a:chOff x="0" y="0"/>
          <a:chExt cx="0" cy="0"/>
        </a:xfrm>
      </p:grpSpPr>
      <p:pic>
        <p:nvPicPr>
          <p:cNvPr id="2" name="Picture 1" descr="ByteByteGo | DevOps vs NoOps: What's the Difference?">
            <a:extLst>
              <a:ext uri="{FF2B5EF4-FFF2-40B4-BE49-F238E27FC236}">
                <a16:creationId xmlns:a16="http://schemas.microsoft.com/office/drawing/2014/main" id="{6EB1419B-21B9-22D6-98E0-D17D827691E5}"/>
              </a:ext>
            </a:extLst>
          </p:cNvPr>
          <p:cNvPicPr>
            <a:picLocks noChangeAspect="1"/>
          </p:cNvPicPr>
          <p:nvPr/>
        </p:nvPicPr>
        <p:blipFill>
          <a:blip r:embed="rId2"/>
          <a:stretch>
            <a:fillRect/>
          </a:stretch>
        </p:blipFill>
        <p:spPr>
          <a:xfrm>
            <a:off x="486383" y="348343"/>
            <a:ext cx="9419617" cy="6161313"/>
          </a:xfrm>
          <a:prstGeom prst="rect">
            <a:avLst/>
          </a:prstGeom>
        </p:spPr>
      </p:pic>
    </p:spTree>
    <p:extLst>
      <p:ext uri="{BB962C8B-B14F-4D97-AF65-F5344CB8AC3E}">
        <p14:creationId xmlns:p14="http://schemas.microsoft.com/office/powerpoint/2010/main" val="2528854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ADCCD-69EB-9638-8997-A30AEF9CBC7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Getting started with DevOps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63DF98-DFAD-B380-DE09-D2CFE58EE965}"/>
              </a:ext>
            </a:extLst>
          </p:cNvPr>
          <p:cNvSpPr>
            <a:spLocks noGrp="1"/>
          </p:cNvSpPr>
          <p:nvPr>
            <p:ph idx="1"/>
          </p:nvPr>
        </p:nvSpPr>
        <p:spPr>
          <a:xfrm>
            <a:off x="677334" y="1270000"/>
            <a:ext cx="9274386" cy="447548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To facilitate this collaboration and to improve communication between Dev and Ops, there are several key elements in the processes that must be put in place, as shown here:</a:t>
            </a:r>
          </a:p>
          <a:p>
            <a:pPr>
              <a:buFont typeface="+mj-lt"/>
              <a:buAutoNum type="arabicPeriod"/>
            </a:pPr>
            <a:r>
              <a:rPr lang="en-US" sz="2400" dirty="0" smtClean="0">
                <a:latin typeface="Times New Roman" panose="02020603050405020304" pitchFamily="18" charset="0"/>
                <a:cs typeface="Times New Roman" panose="02020603050405020304" pitchFamily="18" charset="0"/>
              </a:rPr>
              <a:t>More </a:t>
            </a:r>
            <a:r>
              <a:rPr lang="en-US" sz="2400" dirty="0">
                <a:latin typeface="Times New Roman" panose="02020603050405020304" pitchFamily="18" charset="0"/>
                <a:cs typeface="Times New Roman" panose="02020603050405020304" pitchFamily="18" charset="0"/>
              </a:rPr>
              <a:t>frequent application deployments with integration and continuous delivery </a:t>
            </a:r>
            <a:r>
              <a:rPr lang="en-IN" sz="2400" dirty="0">
                <a:latin typeface="Times New Roman" panose="02020603050405020304" pitchFamily="18" charset="0"/>
                <a:cs typeface="Times New Roman" panose="02020603050405020304" pitchFamily="18" charset="0"/>
              </a:rPr>
              <a:t>(called </a:t>
            </a:r>
            <a:r>
              <a:rPr lang="en-IN" sz="2400" b="1" dirty="0">
                <a:latin typeface="Times New Roman" panose="02020603050405020304" pitchFamily="18" charset="0"/>
                <a:cs typeface="Times New Roman" panose="02020603050405020304" pitchFamily="18" charset="0"/>
              </a:rPr>
              <a:t>CI/CD</a:t>
            </a:r>
            <a:r>
              <a:rPr lang="en-IN" sz="2400" dirty="0">
                <a:latin typeface="Times New Roman" panose="02020603050405020304" pitchFamily="18" charset="0"/>
                <a:cs typeface="Times New Roman" panose="02020603050405020304" pitchFamily="18" charset="0"/>
              </a:rPr>
              <a:t>).</a:t>
            </a:r>
          </a:p>
          <a:p>
            <a:pPr>
              <a:buFont typeface="+mj-lt"/>
              <a:buAutoNum type="arabicPeriod"/>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implementation and automation of unitary and integration tests, with a process focused on </a:t>
            </a:r>
            <a:r>
              <a:rPr lang="en-US" sz="2400" b="1" dirty="0">
                <a:latin typeface="Times New Roman" panose="02020603050405020304" pitchFamily="18" charset="0"/>
                <a:cs typeface="Times New Roman" panose="02020603050405020304" pitchFamily="18" charset="0"/>
              </a:rPr>
              <a:t>behavior-driven design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BDD</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test-driven design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TDD</a:t>
            </a:r>
            <a:r>
              <a:rPr lang="en-US" sz="2400" dirty="0">
                <a:latin typeface="Times New Roman" panose="02020603050405020304" pitchFamily="18" charset="0"/>
                <a:cs typeface="Times New Roman" panose="02020603050405020304" pitchFamily="18" charset="0"/>
              </a:rPr>
              <a:t>).</a:t>
            </a:r>
          </a:p>
          <a:p>
            <a:pPr>
              <a:buFont typeface="+mj-lt"/>
              <a:buAutoNum type="arabicPeriod"/>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implementation of a means of collecting feedback from </a:t>
            </a:r>
            <a:r>
              <a:rPr lang="en-US" sz="2400" dirty="0" smtClean="0">
                <a:latin typeface="Times New Roman" panose="02020603050405020304" pitchFamily="18" charset="0"/>
                <a:cs typeface="Times New Roman" panose="02020603050405020304" pitchFamily="18" charset="0"/>
              </a:rPr>
              <a:t>users.</a:t>
            </a:r>
          </a:p>
          <a:p>
            <a:pPr>
              <a:buFont typeface="+mj-lt"/>
              <a:buAutoNum type="arabicPeriod"/>
            </a:pPr>
            <a:r>
              <a:rPr lang="en-IN" sz="2400" dirty="0" smtClean="0">
                <a:latin typeface="Times New Roman" panose="02020603050405020304" pitchFamily="18" charset="0"/>
                <a:cs typeface="Times New Roman" panose="02020603050405020304" pitchFamily="18" charset="0"/>
              </a:rPr>
              <a:t>Monitoring </a:t>
            </a:r>
            <a:r>
              <a:rPr lang="en-IN" sz="2400" dirty="0">
                <a:latin typeface="Times New Roman" panose="02020603050405020304" pitchFamily="18" charset="0"/>
                <a:cs typeface="Times New Roman" panose="02020603050405020304" pitchFamily="18" charset="0"/>
              </a:rPr>
              <a:t>applications and infrastructure.</a:t>
            </a:r>
          </a:p>
        </p:txBody>
      </p:sp>
    </p:spTree>
    <p:extLst>
      <p:ext uri="{BB962C8B-B14F-4D97-AF65-F5344CB8AC3E}">
        <p14:creationId xmlns:p14="http://schemas.microsoft.com/office/powerpoint/2010/main" val="5523112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A42CF-4BB4-00AF-DD43-950581115015}"/>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The DevOps movement is based on three axes: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7E5FBE-DF21-7818-A54D-92B65CE6CBA3}"/>
              </a:ext>
            </a:extLst>
          </p:cNvPr>
          <p:cNvSpPr>
            <a:spLocks noGrp="1"/>
          </p:cNvSpPr>
          <p:nvPr>
            <p:ph idx="1"/>
          </p:nvPr>
        </p:nvSpPr>
        <p:spPr>
          <a:xfrm>
            <a:off x="677334" y="1343466"/>
            <a:ext cx="10402470" cy="4532040"/>
          </a:xfrm>
        </p:spPr>
        <p:txBody>
          <a:bodyPr>
            <a:normAutofit lnSpcReduction="10000"/>
          </a:bodyPr>
          <a:lstStyle/>
          <a:p>
            <a:pPr algn="just">
              <a:lnSpc>
                <a:spcPct val="150000"/>
              </a:lnSpc>
              <a:buAutoNum type="arabicPeriod"/>
            </a:pPr>
            <a:r>
              <a:rPr lang="en-IN" sz="2800" b="1" dirty="0" smtClean="0">
                <a:latin typeface="Times New Roman" panose="02020603050405020304" pitchFamily="18" charset="0"/>
                <a:cs typeface="Times New Roman" panose="02020603050405020304" pitchFamily="18" charset="0"/>
              </a:rPr>
              <a:t>The </a:t>
            </a:r>
            <a:r>
              <a:rPr lang="en-IN" sz="2800" b="1" dirty="0">
                <a:latin typeface="Times New Roman" panose="02020603050405020304" pitchFamily="18" charset="0"/>
                <a:cs typeface="Times New Roman" panose="02020603050405020304" pitchFamily="18" charset="0"/>
              </a:rPr>
              <a:t>culture of collaboration</a:t>
            </a:r>
            <a:r>
              <a:rPr lang="en-IN" sz="28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This is the very essence of DevOps – the fact that teams are no longer separated by silos specialization (one team of developers, one team of Ops, one team of testers, and so on). </a:t>
            </a:r>
            <a:endParaRPr lang="en-US" sz="2800" dirty="0" smtClean="0">
              <a:latin typeface="Times New Roman" panose="02020603050405020304" pitchFamily="18" charset="0"/>
              <a:cs typeface="Times New Roman" panose="02020603050405020304" pitchFamily="18" charset="0"/>
            </a:endParaRPr>
          </a:p>
          <a:p>
            <a:pPr algn="just">
              <a:lnSpc>
                <a:spcPct val="150000"/>
              </a:lnSpc>
              <a:buAutoNum type="arabicPeriod"/>
            </a:pPr>
            <a:r>
              <a:rPr lang="en-US" sz="2800" b="1" dirty="0" smtClean="0">
                <a:latin typeface="Times New Roman" panose="02020603050405020304" pitchFamily="18" charset="0"/>
                <a:cs typeface="Times New Roman" panose="02020603050405020304" pitchFamily="18" charset="0"/>
              </a:rPr>
              <a:t>Processes</a:t>
            </a:r>
            <a:r>
              <a:rPr lang="en-US" sz="2800" dirty="0">
                <a:latin typeface="Times New Roman" panose="02020603050405020304" pitchFamily="18" charset="0"/>
                <a:cs typeface="Times New Roman" panose="02020603050405020304" pitchFamily="18" charset="0"/>
              </a:rPr>
              <a:t>: To expect rapid deployment, these teams must follow development processes from agile methodologies with iterative phases that allow for better functionality, quality, and rapid feedback.</a:t>
            </a:r>
          </a:p>
          <a:p>
            <a:pPr algn="just">
              <a:lnSpc>
                <a:spcPct val="150000"/>
              </a:lnSpc>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00446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459694-74D5-A95F-2F76-565349EDF9FB}"/>
              </a:ext>
            </a:extLst>
          </p:cNvPr>
          <p:cNvSpPr>
            <a:spLocks noGrp="1"/>
          </p:cNvSpPr>
          <p:nvPr>
            <p:ph idx="1"/>
          </p:nvPr>
        </p:nvSpPr>
        <p:spPr>
          <a:xfrm>
            <a:off x="463324" y="238868"/>
            <a:ext cx="10713755" cy="3880773"/>
          </a:xfrm>
        </p:spPr>
        <p:txBody>
          <a:bodyPr>
            <a:noAutofit/>
          </a:bodyPr>
          <a:lstStyle/>
          <a:p>
            <a:pPr marL="0" indent="0" algn="just">
              <a:lnSpc>
                <a:spcPct val="150000"/>
              </a:lnSpc>
              <a:buNone/>
            </a:pPr>
            <a:r>
              <a:rPr lang="en-US" sz="2400" b="1" dirty="0">
                <a:latin typeface="Times New Roman" panose="02020603050405020304" pitchFamily="18" charset="0"/>
                <a:cs typeface="Times New Roman" panose="02020603050405020304" pitchFamily="18" charset="0"/>
              </a:rPr>
              <a:t>P</a:t>
            </a:r>
            <a:r>
              <a:rPr lang="en-US" sz="2400" b="1" dirty="0" smtClean="0">
                <a:latin typeface="Times New Roman" panose="02020603050405020304" pitchFamily="18" charset="0"/>
                <a:cs typeface="Times New Roman" panose="02020603050405020304" pitchFamily="18" charset="0"/>
              </a:rPr>
              <a:t>rocess </a:t>
            </a:r>
            <a:r>
              <a:rPr lang="en-US" sz="2400" b="1" dirty="0">
                <a:latin typeface="Times New Roman" panose="02020603050405020304" pitchFamily="18" charset="0"/>
                <a:cs typeface="Times New Roman" panose="02020603050405020304" pitchFamily="18" charset="0"/>
              </a:rPr>
              <a:t>is divided into several phases:</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A. Planning and prioritizing functionalities</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B. Development</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C. Continuous integration and delivery</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D. Continuous deployment</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E. Continuous monitoring</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These phases are carried out cyclically and iteratively throughout the life of </a:t>
            </a:r>
            <a:r>
              <a:rPr lang="en-IN" sz="2400" dirty="0">
                <a:latin typeface="Times New Roman" panose="02020603050405020304" pitchFamily="18" charset="0"/>
                <a:cs typeface="Times New Roman" panose="02020603050405020304" pitchFamily="18" charset="0"/>
              </a:rPr>
              <a:t>the project</a:t>
            </a:r>
            <a:r>
              <a:rPr lang="en-IN" sz="2400" dirty="0" smtClean="0">
                <a:latin typeface="Times New Roman" panose="02020603050405020304" pitchFamily="18" charset="0"/>
                <a:cs typeface="Times New Roman" panose="02020603050405020304" pitchFamily="18" charset="0"/>
              </a:rPr>
              <a:t>.</a:t>
            </a:r>
          </a:p>
          <a:p>
            <a:pPr marL="0" indent="0" algn="just">
              <a:lnSpc>
                <a:spcPct val="150000"/>
              </a:lnSpc>
              <a:buNone/>
            </a:pPr>
            <a:r>
              <a:rPr lang="en-US" sz="2400" b="1" dirty="0" smtClean="0">
                <a:latin typeface="Times New Roman" panose="02020603050405020304" pitchFamily="18" charset="0"/>
                <a:cs typeface="Times New Roman" panose="02020603050405020304" pitchFamily="18" charset="0"/>
              </a:rPr>
              <a:t>3. Tools</a:t>
            </a:r>
            <a:r>
              <a:rPr lang="en-US" sz="2400" dirty="0">
                <a:latin typeface="Times New Roman" panose="02020603050405020304" pitchFamily="18" charset="0"/>
                <a:cs typeface="Times New Roman" panose="02020603050405020304" pitchFamily="18" charset="0"/>
              </a:rPr>
              <a:t>: The choice of tools and products used by teams is very important in DevOps.</a:t>
            </a:r>
            <a:endParaRPr lang="en-IN" sz="24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574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7745" y="0"/>
            <a:ext cx="11264629" cy="646331"/>
          </a:xfrm>
          <a:prstGeom prst="rect">
            <a:avLst/>
          </a:prstGeom>
        </p:spPr>
        <p:txBody>
          <a:bodyPr wrap="square">
            <a:spAutoFit/>
          </a:bodyPr>
          <a:lstStyle/>
          <a:p>
            <a:pPr algn="just"/>
            <a:r>
              <a:rPr lang="en-US" b="1" dirty="0">
                <a:latin typeface="Times New Roman" panose="02020603050405020304" pitchFamily="18" charset="0"/>
                <a:cs typeface="Times New Roman" panose="02020603050405020304" pitchFamily="18" charset="0"/>
              </a:rPr>
              <a:t>The following diagram illustrates the three axes of DevOps culture </a:t>
            </a:r>
            <a:r>
              <a:rPr lang="en-US" dirty="0">
                <a:latin typeface="Times New Roman" panose="02020603050405020304" pitchFamily="18" charset="0"/>
                <a:cs typeface="Times New Roman" panose="02020603050405020304" pitchFamily="18" charset="0"/>
              </a:rPr>
              <a:t>– the collaboration between Dev and Ops, the processes, and the use of tools:</a:t>
            </a:r>
          </a:p>
        </p:txBody>
      </p:sp>
      <p:pic>
        <p:nvPicPr>
          <p:cNvPr id="3" name="Picture 2">
            <a:extLst>
              <a:ext uri="{FF2B5EF4-FFF2-40B4-BE49-F238E27FC236}">
                <a16:creationId xmlns:a16="http://schemas.microsoft.com/office/drawing/2014/main" id="{1663DEBE-A4EA-8A76-77FC-F6D03ACC9880}"/>
              </a:ext>
            </a:extLst>
          </p:cNvPr>
          <p:cNvPicPr>
            <a:picLocks noChangeAspect="1"/>
          </p:cNvPicPr>
          <p:nvPr/>
        </p:nvPicPr>
        <p:blipFill>
          <a:blip r:embed="rId2"/>
          <a:stretch>
            <a:fillRect/>
          </a:stretch>
        </p:blipFill>
        <p:spPr>
          <a:xfrm>
            <a:off x="974816" y="791120"/>
            <a:ext cx="9219771" cy="5445616"/>
          </a:xfrm>
          <a:prstGeom prst="rect">
            <a:avLst/>
          </a:prstGeom>
        </p:spPr>
      </p:pic>
    </p:spTree>
    <p:extLst>
      <p:ext uri="{BB962C8B-B14F-4D97-AF65-F5344CB8AC3E}">
        <p14:creationId xmlns:p14="http://schemas.microsoft.com/office/powerpoint/2010/main" val="20689098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8181" y="372644"/>
            <a:ext cx="11136922" cy="5078313"/>
          </a:xfrm>
          <a:prstGeom prst="rect">
            <a:avLst/>
          </a:prstGeom>
        </p:spPr>
        <p:txBody>
          <a:bodyPr wrap="square">
            <a:spAutoFit/>
          </a:bodyPr>
          <a:lstStyle/>
          <a:p>
            <a:pPr>
              <a:lnSpc>
                <a:spcPct val="150000"/>
              </a:lnSpc>
            </a:pPr>
            <a:r>
              <a:rPr lang="en-US" sz="2400" b="1" dirty="0" smtClean="0">
                <a:latin typeface="Times New Roman" panose="02020603050405020304" pitchFamily="18" charset="0"/>
                <a:cs typeface="Times New Roman" panose="02020603050405020304" pitchFamily="18" charset="0"/>
              </a:rPr>
              <a:t>The benefits of establishing a DevOps culture within an enterprise are as follows:</a:t>
            </a:r>
          </a:p>
          <a:p>
            <a:pPr>
              <a:lnSpc>
                <a:spcPct val="150000"/>
              </a:lnSpc>
            </a:pPr>
            <a:r>
              <a:rPr lang="en-US" sz="2400" dirty="0" smtClean="0">
                <a:latin typeface="Times New Roman" panose="02020603050405020304" pitchFamily="18" charset="0"/>
                <a:cs typeface="Times New Roman" panose="02020603050405020304" pitchFamily="18" charset="0"/>
              </a:rPr>
              <a:t>1• Better collaboration and communication in teams, which has a human and social impact within the company</a:t>
            </a:r>
          </a:p>
          <a:p>
            <a:pPr>
              <a:lnSpc>
                <a:spcPct val="150000"/>
              </a:lnSpc>
            </a:pPr>
            <a:r>
              <a:rPr lang="en-US" sz="2400" dirty="0" smtClean="0">
                <a:latin typeface="Times New Roman" panose="02020603050405020304" pitchFamily="18" charset="0"/>
                <a:cs typeface="Times New Roman" panose="02020603050405020304" pitchFamily="18" charset="0"/>
              </a:rPr>
              <a:t>2. Shorter lead times to production, resulting in better performance and end user satisfaction </a:t>
            </a:r>
          </a:p>
          <a:p>
            <a:pPr>
              <a:lnSpc>
                <a:spcPct val="150000"/>
              </a:lnSpc>
            </a:pPr>
            <a:r>
              <a:rPr lang="en-US" sz="2400" dirty="0" smtClean="0">
                <a:latin typeface="Times New Roman" panose="02020603050405020304" pitchFamily="18" charset="0"/>
                <a:cs typeface="Times New Roman" panose="02020603050405020304" pitchFamily="18" charset="0"/>
              </a:rPr>
              <a:t>3. Reduced infrastructure costs with </a:t>
            </a:r>
            <a:r>
              <a:rPr lang="en-US" sz="2400" dirty="0" err="1" smtClean="0">
                <a:latin typeface="Times New Roman" panose="02020603050405020304" pitchFamily="18" charset="0"/>
                <a:cs typeface="Times New Roman" panose="02020603050405020304" pitchFamily="18" charset="0"/>
              </a:rPr>
              <a:t>IaC</a:t>
            </a:r>
            <a:r>
              <a:rPr lang="en-US" sz="2400" dirty="0" smtClean="0">
                <a:latin typeface="Times New Roman" panose="02020603050405020304" pitchFamily="18" charset="0"/>
                <a:cs typeface="Times New Roman" panose="02020603050405020304" pitchFamily="18" charset="0"/>
              </a:rPr>
              <a:t> </a:t>
            </a:r>
          </a:p>
          <a:p>
            <a:pPr>
              <a:lnSpc>
                <a:spcPct val="150000"/>
              </a:lnSpc>
            </a:pPr>
            <a:r>
              <a:rPr lang="en-US" sz="2400" dirty="0" smtClean="0">
                <a:latin typeface="Times New Roman" panose="02020603050405020304" pitchFamily="18" charset="0"/>
                <a:cs typeface="Times New Roman" panose="02020603050405020304" pitchFamily="18" charset="0"/>
              </a:rPr>
              <a:t>4. Significant time saved with iterative cycles that reduce application errors and automation tools that reduce manual tasks, so teams focus more on developing  new functionalities with added business value.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52226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8F17-3240-7AB8-3208-8F86B50CB5E4}"/>
              </a:ext>
            </a:extLst>
          </p:cNvPr>
          <p:cNvSpPr>
            <a:spLocks noGrp="1"/>
          </p:cNvSpPr>
          <p:nvPr>
            <p:ph type="title"/>
          </p:nvPr>
        </p:nvSpPr>
        <p:spPr>
          <a:xfrm>
            <a:off x="580058" y="123217"/>
            <a:ext cx="8596668" cy="1320800"/>
          </a:xfrm>
        </p:spPr>
        <p:txBody>
          <a:bodyPr>
            <a:normAutofit/>
          </a:bodyPr>
          <a:lstStyle/>
          <a:p>
            <a:r>
              <a:rPr lang="en-IN" dirty="0">
                <a:latin typeface="Times New Roman" panose="02020603050405020304" pitchFamily="18" charset="0"/>
                <a:cs typeface="Times New Roman" panose="02020603050405020304" pitchFamily="18" charset="0"/>
              </a:rPr>
              <a:t>A typical DevOps toolchain includes: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696FC3-BFAB-6FA5-5101-538322817D75}"/>
              </a:ext>
            </a:extLst>
          </p:cNvPr>
          <p:cNvSpPr>
            <a:spLocks noGrp="1"/>
          </p:cNvSpPr>
          <p:nvPr>
            <p:ph idx="1"/>
          </p:nvPr>
        </p:nvSpPr>
        <p:spPr>
          <a:xfrm>
            <a:off x="580058" y="783617"/>
            <a:ext cx="11122316" cy="3880773"/>
          </a:xfrm>
        </p:spPr>
        <p:txBody>
          <a:bodyPr>
            <a:noAutofit/>
          </a:bodyPr>
          <a:lstStyle/>
          <a:p>
            <a:pPr lvl="0" algn="just">
              <a:lnSpc>
                <a:spcPct val="150000"/>
              </a:lnSpc>
            </a:pPr>
            <a:r>
              <a:rPr lang="en-IN" sz="2400" b="1" dirty="0">
                <a:latin typeface="Times New Roman" panose="02020603050405020304" pitchFamily="18" charset="0"/>
                <a:cs typeface="Times New Roman" panose="02020603050405020304" pitchFamily="18" charset="0"/>
              </a:rPr>
              <a:t>Plan &amp; Track:</a:t>
            </a:r>
            <a:r>
              <a:rPr lang="en-IN" sz="2400" dirty="0">
                <a:latin typeface="Times New Roman" panose="02020603050405020304" pitchFamily="18" charset="0"/>
                <a:cs typeface="Times New Roman" panose="02020603050405020304" pitchFamily="18" charset="0"/>
              </a:rPr>
              <a:t> Jira, GitHub Projects, Azure Boards – to manage work and link it to code.</a:t>
            </a:r>
          </a:p>
          <a:p>
            <a:pPr lvl="0" algn="just">
              <a:lnSpc>
                <a:spcPct val="150000"/>
              </a:lnSpc>
            </a:pPr>
            <a:r>
              <a:rPr lang="en-IN" sz="2400" b="1" dirty="0" smtClean="0">
                <a:latin typeface="Times New Roman" panose="02020603050405020304" pitchFamily="18" charset="0"/>
                <a:cs typeface="Times New Roman" panose="02020603050405020304" pitchFamily="18" charset="0"/>
              </a:rPr>
              <a:t>Code </a:t>
            </a:r>
            <a:r>
              <a:rPr lang="en-IN" sz="2400" b="1" dirty="0">
                <a:latin typeface="Times New Roman" panose="02020603050405020304" pitchFamily="18" charset="0"/>
                <a:cs typeface="Times New Roman" panose="02020603050405020304" pitchFamily="18" charset="0"/>
              </a:rPr>
              <a:t>&amp; Version Control:</a:t>
            </a:r>
            <a:r>
              <a:rPr lang="en-IN" sz="2400" dirty="0">
                <a:latin typeface="Times New Roman" panose="02020603050405020304" pitchFamily="18" charset="0"/>
                <a:cs typeface="Times New Roman" panose="02020603050405020304" pitchFamily="18" charset="0"/>
              </a:rPr>
              <a:t> Git via GitHub, GitLab, Bitbucket – where both application code and infrastructure code live.</a:t>
            </a:r>
          </a:p>
          <a:p>
            <a:pPr lvl="0" algn="just">
              <a:lnSpc>
                <a:spcPct val="150000"/>
              </a:lnSpc>
            </a:pPr>
            <a:r>
              <a:rPr lang="en-IN" sz="2400" b="1" dirty="0">
                <a:latin typeface="Times New Roman" panose="02020603050405020304" pitchFamily="18" charset="0"/>
                <a:cs typeface="Times New Roman" panose="02020603050405020304" pitchFamily="18" charset="0"/>
              </a:rPr>
              <a:t>Build &amp; CI (Continuous Integration):</a:t>
            </a:r>
            <a:r>
              <a:rPr lang="en-IN" sz="2400" dirty="0">
                <a:latin typeface="Times New Roman" panose="02020603050405020304" pitchFamily="18" charset="0"/>
                <a:cs typeface="Times New Roman" panose="02020603050405020304" pitchFamily="18" charset="0"/>
              </a:rPr>
              <a:t> Jenkins, GitHub Actions, GitLab CI, </a:t>
            </a:r>
            <a:r>
              <a:rPr lang="en-IN" sz="2400" dirty="0" err="1">
                <a:latin typeface="Times New Roman" panose="02020603050405020304" pitchFamily="18" charset="0"/>
                <a:cs typeface="Times New Roman" panose="02020603050405020304" pitchFamily="18" charset="0"/>
              </a:rPr>
              <a:t>CircleCI</a:t>
            </a:r>
            <a:r>
              <a:rPr lang="en-IN" sz="2400" dirty="0">
                <a:latin typeface="Times New Roman" panose="02020603050405020304" pitchFamily="18" charset="0"/>
                <a:cs typeface="Times New Roman" panose="02020603050405020304" pitchFamily="18" charset="0"/>
              </a:rPr>
              <a:t> – automatically build and test on every commit.</a:t>
            </a:r>
          </a:p>
          <a:p>
            <a:pPr lvl="0" algn="just">
              <a:lnSpc>
                <a:spcPct val="150000"/>
              </a:lnSpc>
            </a:pPr>
            <a:r>
              <a:rPr lang="en-IN" sz="2400" b="1" dirty="0">
                <a:latin typeface="Times New Roman" panose="02020603050405020304" pitchFamily="18" charset="0"/>
                <a:cs typeface="Times New Roman" panose="02020603050405020304" pitchFamily="18" charset="0"/>
              </a:rPr>
              <a:t>Artifact/Container Registry:</a:t>
            </a:r>
            <a:r>
              <a:rPr lang="en-IN" sz="2400" dirty="0">
                <a:latin typeface="Times New Roman" panose="02020603050405020304" pitchFamily="18" charset="0"/>
                <a:cs typeface="Times New Roman" panose="02020603050405020304" pitchFamily="18" charset="0"/>
              </a:rPr>
              <a:t> Docker Hub, GitHub Container Registry, </a:t>
            </a:r>
            <a:r>
              <a:rPr lang="en-IN" sz="2400" dirty="0" err="1">
                <a:latin typeface="Times New Roman" panose="02020603050405020304" pitchFamily="18" charset="0"/>
                <a:cs typeface="Times New Roman" panose="02020603050405020304" pitchFamily="18" charset="0"/>
              </a:rPr>
              <a:t>JFrog</a:t>
            </a:r>
            <a:r>
              <a:rPr lang="en-IN" sz="2400" dirty="0">
                <a:latin typeface="Times New Roman" panose="02020603050405020304" pitchFamily="18" charset="0"/>
                <a:cs typeface="Times New Roman" panose="02020603050405020304" pitchFamily="18" charset="0"/>
              </a:rPr>
              <a:t> Artifactory, ECR – store build outputs and container images.</a:t>
            </a:r>
          </a:p>
          <a:p>
            <a:pPr lvl="0" algn="just">
              <a:lnSpc>
                <a:spcPct val="150000"/>
              </a:lnSpc>
            </a:pPr>
            <a:r>
              <a:rPr lang="en-IN" sz="2400" b="1" dirty="0">
                <a:latin typeface="Times New Roman" panose="02020603050405020304" pitchFamily="18" charset="0"/>
                <a:cs typeface="Times New Roman" panose="02020603050405020304" pitchFamily="18" charset="0"/>
              </a:rPr>
              <a:t>Deploy &amp; CD (Continuous Delivery/Deployment):</a:t>
            </a:r>
            <a:r>
              <a:rPr lang="en-IN" sz="2400" dirty="0">
                <a:latin typeface="Times New Roman" panose="02020603050405020304" pitchFamily="18" charset="0"/>
                <a:cs typeface="Times New Roman" panose="02020603050405020304" pitchFamily="18" charset="0"/>
              </a:rPr>
              <a:t> Jenkins, GitHub Actions, GitLab CI, Argo CD, Harness – automate releases to staging/production.</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75874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63E88E-9028-8F2D-FDC9-0D4D90C252F1}"/>
              </a:ext>
            </a:extLst>
          </p:cNvPr>
          <p:cNvSpPr>
            <a:spLocks noGrp="1"/>
          </p:cNvSpPr>
          <p:nvPr>
            <p:ph idx="1"/>
          </p:nvPr>
        </p:nvSpPr>
        <p:spPr>
          <a:xfrm>
            <a:off x="764881" y="244240"/>
            <a:ext cx="10626207" cy="3880773"/>
          </a:xfrm>
        </p:spPr>
        <p:txBody>
          <a:bodyPr>
            <a:noAutofit/>
          </a:bodyPr>
          <a:lstStyle/>
          <a:p>
            <a:pPr lvl="0" algn="just">
              <a:lnSpc>
                <a:spcPct val="150000"/>
              </a:lnSpc>
            </a:pPr>
            <a:r>
              <a:rPr lang="en-IN" sz="2400" b="1" dirty="0">
                <a:latin typeface="Times New Roman" panose="02020603050405020304" pitchFamily="18" charset="0"/>
                <a:cs typeface="Times New Roman" panose="02020603050405020304" pitchFamily="18" charset="0"/>
              </a:rPr>
              <a:t>Infrastructure as Code (</a:t>
            </a:r>
            <a:r>
              <a:rPr lang="en-IN" sz="2400" b="1" dirty="0" err="1">
                <a:latin typeface="Times New Roman" panose="02020603050405020304" pitchFamily="18" charset="0"/>
                <a:cs typeface="Times New Roman" panose="02020603050405020304" pitchFamily="18" charset="0"/>
              </a:rPr>
              <a:t>IaC</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Terraform, </a:t>
            </a:r>
            <a:r>
              <a:rPr lang="en-IN" sz="2400" dirty="0" err="1">
                <a:latin typeface="Times New Roman" panose="02020603050405020304" pitchFamily="18" charset="0"/>
                <a:cs typeface="Times New Roman" panose="02020603050405020304" pitchFamily="18" charset="0"/>
              </a:rPr>
              <a:t>Pulumi</a:t>
            </a:r>
            <a:r>
              <a:rPr lang="en-IN" sz="2400" dirty="0">
                <a:latin typeface="Times New Roman" panose="02020603050405020304" pitchFamily="18" charset="0"/>
                <a:cs typeface="Times New Roman" panose="02020603050405020304" pitchFamily="18" charset="0"/>
              </a:rPr>
              <a:t>, AWS CloudFormation – define servers, networks, databases as code.</a:t>
            </a:r>
          </a:p>
          <a:p>
            <a:pPr lvl="0" algn="just">
              <a:lnSpc>
                <a:spcPct val="150000"/>
              </a:lnSpc>
            </a:pPr>
            <a:r>
              <a:rPr lang="en-IN" sz="2400" b="1" dirty="0">
                <a:latin typeface="Times New Roman" panose="02020603050405020304" pitchFamily="18" charset="0"/>
                <a:cs typeface="Times New Roman" panose="02020603050405020304" pitchFamily="18" charset="0"/>
              </a:rPr>
              <a:t>Configuration Management:</a:t>
            </a:r>
            <a:r>
              <a:rPr lang="en-IN" sz="2400" dirty="0">
                <a:latin typeface="Times New Roman" panose="02020603050405020304" pitchFamily="18" charset="0"/>
                <a:cs typeface="Times New Roman" panose="02020603050405020304" pitchFamily="18" charset="0"/>
              </a:rPr>
              <a:t> Ansible, Chef, Puppet – configure what runs inside servers/VMs.</a:t>
            </a:r>
          </a:p>
          <a:p>
            <a:pPr lvl="0" algn="just">
              <a:lnSpc>
                <a:spcPct val="150000"/>
              </a:lnSpc>
            </a:pPr>
            <a:r>
              <a:rPr lang="en-IN" sz="2400" b="1" dirty="0">
                <a:latin typeface="Times New Roman" panose="02020603050405020304" pitchFamily="18" charset="0"/>
                <a:cs typeface="Times New Roman" panose="02020603050405020304" pitchFamily="18" charset="0"/>
              </a:rPr>
              <a:t>Containers &amp; Orchestration:</a:t>
            </a:r>
            <a:r>
              <a:rPr lang="en-IN" sz="2400" dirty="0">
                <a:latin typeface="Times New Roman" panose="02020603050405020304" pitchFamily="18" charset="0"/>
                <a:cs typeface="Times New Roman" panose="02020603050405020304" pitchFamily="18" charset="0"/>
              </a:rPr>
              <a:t> Docker, Kubernetes, Helm – package apps and run them consistently at scale.</a:t>
            </a:r>
          </a:p>
          <a:p>
            <a:pPr lvl="0" algn="just">
              <a:lnSpc>
                <a:spcPct val="150000"/>
              </a:lnSpc>
            </a:pPr>
            <a:r>
              <a:rPr lang="en-IN" sz="2400" b="1" dirty="0">
                <a:latin typeface="Times New Roman" panose="02020603050405020304" pitchFamily="18" charset="0"/>
                <a:cs typeface="Times New Roman" panose="02020603050405020304" pitchFamily="18" charset="0"/>
              </a:rPr>
              <a:t>Security (</a:t>
            </a:r>
            <a:r>
              <a:rPr lang="en-IN" sz="2400" b="1" dirty="0" err="1">
                <a:latin typeface="Times New Roman" panose="02020603050405020304" pitchFamily="18" charset="0"/>
                <a:cs typeface="Times New Roman" panose="02020603050405020304" pitchFamily="18" charset="0"/>
              </a:rPr>
              <a:t>DevSecOps</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Snyk</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Trivy</a:t>
            </a:r>
            <a:r>
              <a:rPr lang="en-IN" sz="2400" dirty="0">
                <a:latin typeface="Times New Roman" panose="02020603050405020304" pitchFamily="18" charset="0"/>
                <a:cs typeface="Times New Roman" panose="02020603050405020304" pitchFamily="18" charset="0"/>
              </a:rPr>
              <a:t>, SonarQube, OWASP ZAP – scan code, dependencies, and containers for vulnerabilities. </a:t>
            </a:r>
          </a:p>
          <a:p>
            <a:pPr lvl="0" algn="just">
              <a:lnSpc>
                <a:spcPct val="150000"/>
              </a:lnSpc>
            </a:pPr>
            <a:r>
              <a:rPr lang="en-IN" sz="2400" b="1" dirty="0">
                <a:latin typeface="Times New Roman" panose="02020603050405020304" pitchFamily="18" charset="0"/>
                <a:cs typeface="Times New Roman" panose="02020603050405020304" pitchFamily="18" charset="0"/>
              </a:rPr>
              <a:t>Observability (Monitor &amp; Respond):</a:t>
            </a:r>
            <a:r>
              <a:rPr lang="en-IN" sz="2400" dirty="0">
                <a:latin typeface="Times New Roman" panose="02020603050405020304" pitchFamily="18" charset="0"/>
                <a:cs typeface="Times New Roman" panose="02020603050405020304" pitchFamily="18" charset="0"/>
              </a:rPr>
              <a:t> Prometheus, Grafana, Datadog, Splunk, New Relic – track performance, errors, and usage; alert on issues</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52802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B21F5B-D855-5BBA-1C7E-DC2D80FA5521}"/>
              </a:ext>
            </a:extLst>
          </p:cNvPr>
          <p:cNvSpPr>
            <a:spLocks noGrp="1"/>
          </p:cNvSpPr>
          <p:nvPr>
            <p:ph idx="1"/>
          </p:nvPr>
        </p:nvSpPr>
        <p:spPr>
          <a:xfrm>
            <a:off x="560602" y="1353193"/>
            <a:ext cx="8596668" cy="3880773"/>
          </a:xfrm>
        </p:spPr>
        <p:txBody>
          <a:bodyPr>
            <a:normAutofit/>
          </a:bodyPr>
          <a:lstStyle/>
          <a:p>
            <a:pPr marL="0" indent="0" algn="ctr">
              <a:buNone/>
            </a:pPr>
            <a:endParaRPr lang="en-US" sz="3200" i="1" dirty="0">
              <a:latin typeface="Times New Roman" panose="02020603050405020304" pitchFamily="18" charset="0"/>
              <a:cs typeface="Times New Roman" panose="02020603050405020304" pitchFamily="18" charset="0"/>
            </a:endParaRPr>
          </a:p>
          <a:p>
            <a:pPr marL="0" indent="0" algn="ctr">
              <a:buNone/>
            </a:pPr>
            <a:endParaRPr lang="en-US" sz="3200" i="1" dirty="0">
              <a:latin typeface="Times New Roman" panose="02020603050405020304" pitchFamily="18" charset="0"/>
              <a:cs typeface="Times New Roman" panose="02020603050405020304" pitchFamily="18" charset="0"/>
            </a:endParaRPr>
          </a:p>
          <a:p>
            <a:pPr marL="0" indent="0" algn="ctr">
              <a:buNone/>
            </a:pPr>
            <a:r>
              <a:rPr lang="en-US" sz="3200" i="1" dirty="0">
                <a:latin typeface="Times New Roman" panose="02020603050405020304" pitchFamily="18" charset="0"/>
                <a:cs typeface="Times New Roman" panose="02020603050405020304" pitchFamily="18" charset="0"/>
              </a:rPr>
              <a:t>"DevOps is the union of people, processes, and products to enable</a:t>
            </a:r>
          </a:p>
          <a:p>
            <a:pPr marL="0" indent="0" algn="ctr">
              <a:buNone/>
            </a:pPr>
            <a:r>
              <a:rPr lang="en-US" sz="3200" i="1" dirty="0">
                <a:latin typeface="Times New Roman" panose="02020603050405020304" pitchFamily="18" charset="0"/>
                <a:cs typeface="Times New Roman" panose="02020603050405020304" pitchFamily="18" charset="0"/>
              </a:rPr>
              <a:t>continuous delivery of value to our end users."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04117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73428-A580-A20E-302D-3A4D7C9B4420}"/>
              </a:ext>
            </a:extLst>
          </p:cNvPr>
          <p:cNvSpPr>
            <a:spLocks noGrp="1"/>
          </p:cNvSpPr>
          <p:nvPr>
            <p:ph type="title"/>
          </p:nvPr>
        </p:nvSpPr>
        <p:spPr/>
        <p:txBody>
          <a:bodyPr>
            <a:normAutofit fontScale="90000"/>
          </a:bodyPr>
          <a:lstStyle/>
          <a:p>
            <a:r>
              <a:rPr lang="en-IN" dirty="0" smtClean="0">
                <a:latin typeface="Times New Roman" panose="02020603050405020304" pitchFamily="18" charset="0"/>
                <a:ea typeface="Times New Roman" panose="02020603050405020304" pitchFamily="18" charset="0"/>
              </a:rPr>
              <a:t>Implementing CI/CD and continuous deployment</a:t>
            </a:r>
            <a:r>
              <a:rPr lang="en-IN" sz="5400" dirty="0" smtClean="0">
                <a:effectLst/>
                <a:latin typeface="Times New Roman" panose="02020603050405020304" pitchFamily="18" charset="0"/>
                <a:ea typeface="Times New Roman" panose="02020603050405020304" pitchFamily="18" charset="0"/>
              </a:rPr>
              <a:t/>
            </a:r>
            <a:br>
              <a:rPr lang="en-IN" sz="5400" dirty="0" smtClean="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30C1253-908F-92FF-A67D-51532489FB53}"/>
              </a:ext>
            </a:extLst>
          </p:cNvPr>
          <p:cNvSpPr>
            <a:spLocks noGrp="1"/>
          </p:cNvSpPr>
          <p:nvPr>
            <p:ph idx="1"/>
          </p:nvPr>
        </p:nvSpPr>
        <p:spPr>
          <a:xfrm>
            <a:off x="677333" y="1576929"/>
            <a:ext cx="9526981" cy="3880773"/>
          </a:xfrm>
        </p:spPr>
        <p:txBody>
          <a:bodyPr>
            <a:normAutofit/>
          </a:bodyPr>
          <a:lstStyle/>
          <a:p>
            <a:pPr marL="0" indent="0" algn="just">
              <a:lnSpc>
                <a:spcPct val="150000"/>
              </a:lnSpc>
              <a:buNone/>
            </a:pPr>
            <a:r>
              <a:rPr lang="en-US" sz="3600" dirty="0" smtClean="0">
                <a:latin typeface="Times New Roman" panose="02020603050405020304" pitchFamily="18" charset="0"/>
                <a:cs typeface="Times New Roman" panose="02020603050405020304" pitchFamily="18" charset="0"/>
              </a:rPr>
              <a:t>CI/CD, there are three practices:</a:t>
            </a:r>
          </a:p>
          <a:p>
            <a:pPr marL="0" indent="0" algn="just">
              <a:lnSpc>
                <a:spcPct val="150000"/>
              </a:lnSpc>
              <a:buNone/>
            </a:pPr>
            <a:r>
              <a:rPr lang="en-IN" sz="3600" dirty="0" smtClean="0">
                <a:latin typeface="Times New Roman" panose="02020603050405020304" pitchFamily="18" charset="0"/>
                <a:cs typeface="Times New Roman" panose="02020603050405020304" pitchFamily="18" charset="0"/>
              </a:rPr>
              <a:t>• </a:t>
            </a:r>
            <a:r>
              <a:rPr lang="en-IN" sz="3600" b="1" dirty="0" smtClean="0">
                <a:latin typeface="Times New Roman" panose="02020603050405020304" pitchFamily="18" charset="0"/>
                <a:cs typeface="Times New Roman" panose="02020603050405020304" pitchFamily="18" charset="0"/>
              </a:rPr>
              <a:t>Continuous integration </a:t>
            </a:r>
            <a:r>
              <a:rPr lang="en-IN" sz="3600" dirty="0" smtClean="0">
                <a:latin typeface="Times New Roman" panose="02020603050405020304" pitchFamily="18" charset="0"/>
                <a:cs typeface="Times New Roman" panose="02020603050405020304" pitchFamily="18" charset="0"/>
              </a:rPr>
              <a:t>(</a:t>
            </a:r>
            <a:r>
              <a:rPr lang="en-IN" sz="3600" b="1" dirty="0" smtClean="0">
                <a:latin typeface="Times New Roman" panose="02020603050405020304" pitchFamily="18" charset="0"/>
                <a:cs typeface="Times New Roman" panose="02020603050405020304" pitchFamily="18" charset="0"/>
              </a:rPr>
              <a:t>CI</a:t>
            </a:r>
            <a:r>
              <a:rPr lang="en-IN" sz="3600" dirty="0" smtClean="0">
                <a:latin typeface="Times New Roman" panose="02020603050405020304" pitchFamily="18" charset="0"/>
                <a:cs typeface="Times New Roman" panose="02020603050405020304" pitchFamily="18" charset="0"/>
              </a:rPr>
              <a:t>)</a:t>
            </a:r>
          </a:p>
          <a:p>
            <a:pPr marL="0" indent="0" algn="just">
              <a:lnSpc>
                <a:spcPct val="150000"/>
              </a:lnSpc>
              <a:buNone/>
            </a:pPr>
            <a:r>
              <a:rPr lang="en-IN" sz="3600" dirty="0" smtClean="0">
                <a:latin typeface="Times New Roman" panose="02020603050405020304" pitchFamily="18" charset="0"/>
                <a:cs typeface="Times New Roman" panose="02020603050405020304" pitchFamily="18" charset="0"/>
              </a:rPr>
              <a:t>• </a:t>
            </a:r>
            <a:r>
              <a:rPr lang="en-IN" sz="3600" b="1" dirty="0" smtClean="0">
                <a:latin typeface="Times New Roman" panose="02020603050405020304" pitchFamily="18" charset="0"/>
                <a:cs typeface="Times New Roman" panose="02020603050405020304" pitchFamily="18" charset="0"/>
              </a:rPr>
              <a:t>Continuous delivery </a:t>
            </a:r>
            <a:r>
              <a:rPr lang="en-IN" sz="3600" dirty="0" smtClean="0">
                <a:latin typeface="Times New Roman" panose="02020603050405020304" pitchFamily="18" charset="0"/>
                <a:cs typeface="Times New Roman" panose="02020603050405020304" pitchFamily="18" charset="0"/>
              </a:rPr>
              <a:t>(</a:t>
            </a:r>
            <a:r>
              <a:rPr lang="en-IN" sz="3600" b="1" dirty="0" smtClean="0">
                <a:latin typeface="Times New Roman" panose="02020603050405020304" pitchFamily="18" charset="0"/>
                <a:cs typeface="Times New Roman" panose="02020603050405020304" pitchFamily="18" charset="0"/>
              </a:rPr>
              <a:t>CD</a:t>
            </a:r>
            <a:r>
              <a:rPr lang="en-IN" sz="3600" dirty="0" smtClean="0">
                <a:latin typeface="Times New Roman" panose="02020603050405020304" pitchFamily="18" charset="0"/>
                <a:cs typeface="Times New Roman" panose="02020603050405020304" pitchFamily="18" charset="0"/>
              </a:rPr>
              <a:t>)</a:t>
            </a:r>
          </a:p>
          <a:p>
            <a:pPr marL="0" indent="0" algn="just">
              <a:lnSpc>
                <a:spcPct val="150000"/>
              </a:lnSpc>
              <a:buNone/>
            </a:pPr>
            <a:r>
              <a:rPr lang="en-IN" sz="3600" dirty="0" smtClean="0">
                <a:latin typeface="Times New Roman" panose="02020603050405020304" pitchFamily="18" charset="0"/>
                <a:cs typeface="Times New Roman" panose="02020603050405020304" pitchFamily="18" charset="0"/>
              </a:rPr>
              <a:t>• </a:t>
            </a:r>
            <a:r>
              <a:rPr lang="en-IN" sz="3600" b="1" dirty="0" smtClean="0">
                <a:latin typeface="Times New Roman" panose="02020603050405020304" pitchFamily="18" charset="0"/>
                <a:cs typeface="Times New Roman" panose="02020603050405020304" pitchFamily="18" charset="0"/>
              </a:rPr>
              <a:t>Continuous deployment</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65103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9B6FD-3084-2ABA-F401-EC3EAFFD5C88}"/>
              </a:ext>
            </a:extLst>
          </p:cNvPr>
          <p:cNvSpPr>
            <a:spLocks noGrp="1"/>
          </p:cNvSpPr>
          <p:nvPr>
            <p:ph type="title"/>
          </p:nvPr>
        </p:nvSpPr>
        <p:spPr>
          <a:xfrm>
            <a:off x="483846" y="262750"/>
            <a:ext cx="9942409" cy="876193"/>
          </a:xfrm>
        </p:spPr>
        <p:txBody>
          <a:bodyPr>
            <a:noAutofit/>
          </a:bodyPr>
          <a:lstStyle/>
          <a:p>
            <a:r>
              <a:rPr lang="en-US" sz="2800" dirty="0"/>
              <a:t/>
            </a:r>
            <a:br>
              <a:rPr lang="en-US" sz="2800" dirty="0"/>
            </a:br>
            <a:r>
              <a:rPr lang="en-US" sz="4400" dirty="0" smtClean="0">
                <a:latin typeface="Times New Roman" panose="02020603050405020304" pitchFamily="18" charset="0"/>
                <a:cs typeface="Times New Roman" panose="02020603050405020304" pitchFamily="18" charset="0"/>
              </a:rPr>
              <a:t>CONTINUOUS INTEGRATION </a:t>
            </a:r>
            <a:endParaRPr lang="en-IN"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227EDD5-7896-D0C6-A1A8-451C0857576E}"/>
              </a:ext>
            </a:extLst>
          </p:cNvPr>
          <p:cNvSpPr>
            <a:spLocks noGrp="1"/>
          </p:cNvSpPr>
          <p:nvPr>
            <p:ph idx="1"/>
          </p:nvPr>
        </p:nvSpPr>
        <p:spPr>
          <a:xfrm>
            <a:off x="596084" y="1720848"/>
            <a:ext cx="10542086" cy="3880773"/>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CI is an automatic process that allows you to check the completeness of an application's code every time a team member makes a change. This verification must be done as quickly as possible.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21048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Implementing CI</a:t>
            </a: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677333" y="1270000"/>
            <a:ext cx="10834729" cy="3970318"/>
          </a:xfrm>
          <a:prstGeom prst="rect">
            <a:avLst/>
          </a:prstGeom>
        </p:spPr>
        <p:txBody>
          <a:bodyPr wrap="square">
            <a:spAutoFit/>
          </a:bodyPr>
          <a:lstStyle/>
          <a:p>
            <a:pPr>
              <a:lnSpc>
                <a:spcPct val="150000"/>
              </a:lnSpc>
            </a:pPr>
            <a:r>
              <a:rPr lang="en-US" sz="2800" dirty="0">
                <a:latin typeface="Times New Roman" panose="02020603050405020304" pitchFamily="18" charset="0"/>
                <a:cs typeface="Times New Roman" panose="02020603050405020304" pitchFamily="18" charset="0"/>
              </a:rPr>
              <a:t>T</a:t>
            </a:r>
            <a:r>
              <a:rPr lang="en-US" sz="2800" dirty="0" smtClean="0">
                <a:latin typeface="Times New Roman" panose="02020603050405020304" pitchFamily="18" charset="0"/>
                <a:cs typeface="Times New Roman" panose="02020603050405020304" pitchFamily="18" charset="0"/>
              </a:rPr>
              <a:t>o </a:t>
            </a:r>
            <a:r>
              <a:rPr lang="en-US" sz="2800" dirty="0">
                <a:latin typeface="Times New Roman" panose="02020603050405020304" pitchFamily="18" charset="0"/>
                <a:cs typeface="Times New Roman" panose="02020603050405020304" pitchFamily="18" charset="0"/>
              </a:rPr>
              <a:t>set up CI, it is necessary to have a </a:t>
            </a:r>
            <a:r>
              <a:rPr lang="en-US" sz="2800" b="1" dirty="0">
                <a:latin typeface="Times New Roman" panose="02020603050405020304" pitchFamily="18" charset="0"/>
                <a:cs typeface="Times New Roman" panose="02020603050405020304" pitchFamily="18" charset="0"/>
              </a:rPr>
              <a:t>Source Code Manager (SCM</a:t>
            </a:r>
            <a:r>
              <a:rPr lang="en-US" sz="2800" dirty="0">
                <a:latin typeface="Times New Roman" panose="02020603050405020304" pitchFamily="18" charset="0"/>
                <a:cs typeface="Times New Roman" panose="02020603050405020304" pitchFamily="18" charset="0"/>
              </a:rPr>
              <a:t>) that will centralize the code of all members. This code manager can be of any type: </a:t>
            </a:r>
            <a:r>
              <a:rPr lang="en-US" sz="2800" b="1" dirty="0" err="1">
                <a:latin typeface="Times New Roman" panose="02020603050405020304" pitchFamily="18" charset="0"/>
                <a:cs typeface="Times New Roman" panose="02020603050405020304" pitchFamily="18" charset="0"/>
              </a:rPr>
              <a:t>Git</a:t>
            </a:r>
            <a:r>
              <a:rPr lang="en-US" sz="2800" b="1" dirty="0">
                <a:latin typeface="Times New Roman" panose="02020603050405020304" pitchFamily="18" charset="0"/>
                <a:cs typeface="Times New Roman" panose="02020603050405020304" pitchFamily="18" charset="0"/>
              </a:rPr>
              <a:t>, SVN, or Team Foundation Version Control (TFVC</a:t>
            </a:r>
            <a:r>
              <a:rPr lang="en-US" sz="2800" dirty="0">
                <a:latin typeface="Times New Roman" panose="02020603050405020304" pitchFamily="18" charset="0"/>
                <a:cs typeface="Times New Roman" panose="02020603050405020304" pitchFamily="18" charset="0"/>
              </a:rPr>
              <a:t>). It's also important to have an automatic build manager (</a:t>
            </a:r>
            <a:r>
              <a:rPr lang="en-US" sz="2800" b="1" dirty="0">
                <a:latin typeface="Times New Roman" panose="02020603050405020304" pitchFamily="18" charset="0"/>
                <a:cs typeface="Times New Roman" panose="02020603050405020304" pitchFamily="18" charset="0"/>
              </a:rPr>
              <a:t>CI server) </a:t>
            </a:r>
            <a:r>
              <a:rPr lang="en-US" sz="2800" dirty="0">
                <a:latin typeface="Times New Roman" panose="02020603050405020304" pitchFamily="18" charset="0"/>
                <a:cs typeface="Times New Roman" panose="02020603050405020304" pitchFamily="18" charset="0"/>
              </a:rPr>
              <a:t>that supports continuous integration, such </a:t>
            </a:r>
            <a:r>
              <a:rPr lang="en-US" sz="2800" b="1" dirty="0">
                <a:latin typeface="Times New Roman" panose="02020603050405020304" pitchFamily="18" charset="0"/>
                <a:cs typeface="Times New Roman" panose="02020603050405020304" pitchFamily="18" charset="0"/>
              </a:rPr>
              <a:t>as Jenkins, </a:t>
            </a:r>
            <a:r>
              <a:rPr lang="en-US" sz="2800" b="1" dirty="0" err="1">
                <a:latin typeface="Times New Roman" panose="02020603050405020304" pitchFamily="18" charset="0"/>
                <a:cs typeface="Times New Roman" panose="02020603050405020304" pitchFamily="18" charset="0"/>
              </a:rPr>
              <a:t>GitLab</a:t>
            </a:r>
            <a:r>
              <a:rPr lang="en-US" sz="2800" b="1" dirty="0">
                <a:latin typeface="Times New Roman" panose="02020603050405020304" pitchFamily="18" charset="0"/>
                <a:cs typeface="Times New Roman" panose="02020603050405020304" pitchFamily="18" charset="0"/>
              </a:rPr>
              <a:t> CI, TeamCity, Azure Pipelines, GitHub Actions, Travis CI, and Circle CI.</a:t>
            </a:r>
          </a:p>
        </p:txBody>
      </p:sp>
    </p:spTree>
    <p:extLst>
      <p:ext uri="{BB962C8B-B14F-4D97-AF65-F5344CB8AC3E}">
        <p14:creationId xmlns:p14="http://schemas.microsoft.com/office/powerpoint/2010/main" val="17360256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30440" y="737774"/>
            <a:ext cx="11561560" cy="7755969"/>
          </a:xfrm>
          <a:prstGeom prst="rect">
            <a:avLst/>
          </a:prstGeom>
        </p:spPr>
        <p:txBody>
          <a:bodyPr wrap="square">
            <a:spAutoFit/>
          </a:bodyPr>
          <a:lstStyle/>
          <a:p>
            <a:pPr>
              <a:lnSpc>
                <a:spcPct val="150000"/>
              </a:lnSpc>
            </a:pPr>
            <a:r>
              <a:rPr lang="en-US" sz="3200" dirty="0" smtClean="0">
                <a:latin typeface="Times New Roman" panose="02020603050405020304" pitchFamily="18" charset="0"/>
                <a:cs typeface="Times New Roman" panose="02020603050405020304" pitchFamily="18" charset="0"/>
              </a:rPr>
              <a:t>1. Integrating </a:t>
            </a:r>
            <a:r>
              <a:rPr lang="en-US" sz="3200" dirty="0">
                <a:latin typeface="Times New Roman" panose="02020603050405020304" pitchFamily="18" charset="0"/>
                <a:cs typeface="Times New Roman" panose="02020603050405020304" pitchFamily="18" charset="0"/>
              </a:rPr>
              <a:t>all the commits is the starting point of the CI </a:t>
            </a:r>
            <a:r>
              <a:rPr lang="en-US" sz="3200" dirty="0" smtClean="0">
                <a:latin typeface="Times New Roman" panose="02020603050405020304" pitchFamily="18" charset="0"/>
                <a:cs typeface="Times New Roman" panose="02020603050405020304" pitchFamily="18" charset="0"/>
              </a:rPr>
              <a:t>process</a:t>
            </a:r>
          </a:p>
          <a:p>
            <a:pPr>
              <a:lnSpc>
                <a:spcPct val="150000"/>
              </a:lnSpc>
            </a:pPr>
            <a:r>
              <a:rPr lang="en-US" sz="3200" b="1" dirty="0" smtClean="0">
                <a:latin typeface="Times New Roman" panose="02020603050405020304" pitchFamily="18" charset="0"/>
                <a:cs typeface="Times New Roman" panose="02020603050405020304" pitchFamily="18" charset="0"/>
              </a:rPr>
              <a:t>This </a:t>
            </a:r>
            <a:r>
              <a:rPr lang="en-US" sz="3200" b="1" dirty="0">
                <a:latin typeface="Times New Roman" panose="02020603050405020304" pitchFamily="18" charset="0"/>
                <a:cs typeface="Times New Roman" panose="02020603050405020304" pitchFamily="18" charset="0"/>
              </a:rPr>
              <a:t>process, which is executed by the CI server, needs to be automated and triggered  at each commit. The server will retrieve the code and then do the following: </a:t>
            </a:r>
            <a:endParaRPr lang="en-US" sz="3200" b="1" dirty="0" smtClean="0">
              <a:latin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a:pP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Build the application package – compilation, file transformation, and so on </a:t>
            </a:r>
            <a:endParaRPr lang="en-US" sz="3200" dirty="0" smtClean="0">
              <a:latin typeface="Times New Roman" panose="02020603050405020304" pitchFamily="18" charset="0"/>
              <a:cs typeface="Times New Roman" panose="02020603050405020304" pitchFamily="18" charset="0"/>
            </a:endParaRPr>
          </a:p>
          <a:p>
            <a:pPr marL="514350" indent="-514350">
              <a:lnSpc>
                <a:spcPct val="150000"/>
              </a:lnSpc>
              <a:buFont typeface="+mj-lt"/>
              <a:buAutoNum type="arabicPeriod"/>
            </a:pP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Perform unit tests (with code coverage)</a:t>
            </a:r>
            <a:endParaRPr lang="en-US" sz="3200" dirty="0" smtClean="0">
              <a:latin typeface="Times New Roman" panose="02020603050405020304" pitchFamily="18" charset="0"/>
              <a:cs typeface="Times New Roman" panose="02020603050405020304" pitchFamily="18" charset="0"/>
            </a:endParaRPr>
          </a:p>
          <a:p>
            <a:pPr>
              <a:lnSpc>
                <a:spcPct val="150000"/>
              </a:lnSpc>
            </a:pPr>
            <a:endParaRPr lang="en-US" sz="3200" dirty="0">
              <a:latin typeface="Times New Roman" panose="02020603050405020304" pitchFamily="18" charset="0"/>
              <a:cs typeface="Times New Roman" panose="02020603050405020304" pitchFamily="18" charset="0"/>
            </a:endParaRPr>
          </a:p>
          <a:p>
            <a:pPr>
              <a:lnSpc>
                <a:spcPct val="150000"/>
              </a:lnSpc>
            </a:pPr>
            <a:endParaRPr lang="en-US" sz="2800" dirty="0" smtClean="0">
              <a:latin typeface="Times New Roman" panose="02020603050405020304" pitchFamily="18" charset="0"/>
              <a:cs typeface="Times New Roman" panose="02020603050405020304" pitchFamily="18" charset="0"/>
            </a:endParaRPr>
          </a:p>
          <a:p>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9664240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246405"/>
            <a:ext cx="8596668" cy="1320800"/>
          </a:xfrm>
        </p:spPr>
        <p:txBody>
          <a:bodyPr/>
          <a:lstStyle/>
          <a:p>
            <a:r>
              <a:rPr lang="en-US" dirty="0" smtClean="0">
                <a:latin typeface="Times New Roman" panose="02020603050405020304" pitchFamily="18" charset="0"/>
                <a:cs typeface="Times New Roman" panose="02020603050405020304" pitchFamily="18" charset="0"/>
              </a:rPr>
              <a:t>Implementing CI</a:t>
            </a:r>
            <a:endParaRPr lang="en-US"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FA5A1FAA-2C4D-5529-17CB-FD82AFF26FA3}"/>
              </a:ext>
            </a:extLst>
          </p:cNvPr>
          <p:cNvPicPr>
            <a:picLocks noGrp="1" noChangeAspect="1"/>
          </p:cNvPicPr>
          <p:nvPr>
            <p:ph idx="1"/>
          </p:nvPr>
        </p:nvPicPr>
        <p:blipFill>
          <a:blip r:embed="rId2"/>
          <a:stretch>
            <a:fillRect/>
          </a:stretch>
        </p:blipFill>
        <p:spPr>
          <a:xfrm>
            <a:off x="677333" y="1105877"/>
            <a:ext cx="9873435" cy="3747477"/>
          </a:xfrm>
          <a:prstGeom prst="rect">
            <a:avLst/>
          </a:prstGeom>
        </p:spPr>
      </p:pic>
      <p:sp>
        <p:nvSpPr>
          <p:cNvPr id="3" name="Rectangle 2"/>
          <p:cNvSpPr/>
          <p:nvPr/>
        </p:nvSpPr>
        <p:spPr>
          <a:xfrm>
            <a:off x="677333" y="5103674"/>
            <a:ext cx="10905068" cy="1754326"/>
          </a:xfrm>
          <a:prstGeom prst="rect">
            <a:avLst/>
          </a:prstGeom>
        </p:spPr>
        <p:txBody>
          <a:bodyPr wrap="square">
            <a:spAutoFit/>
          </a:bodyPr>
          <a:lstStyle/>
          <a:p>
            <a:pPr>
              <a:lnSpc>
                <a:spcPct val="150000"/>
              </a:lnSpc>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code being pushed into the SCM by the team members and the build and test being executed by the CI server. The purpose of this process is to provide rapid feedback to member</a:t>
            </a:r>
          </a:p>
        </p:txBody>
      </p:sp>
    </p:spTree>
    <p:extLst>
      <p:ext uri="{BB962C8B-B14F-4D97-AF65-F5344CB8AC3E}">
        <p14:creationId xmlns:p14="http://schemas.microsoft.com/office/powerpoint/2010/main" val="7320057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5541B-2D02-500D-8F33-AEB90CAAD1C0}"/>
              </a:ext>
            </a:extLst>
          </p:cNvPr>
          <p:cNvSpPr>
            <a:spLocks noGrp="1"/>
          </p:cNvSpPr>
          <p:nvPr>
            <p:ph type="title"/>
          </p:nvPr>
        </p:nvSpPr>
        <p:spPr/>
        <p:txBody>
          <a:bodyPr>
            <a:normAutofit fontScale="90000"/>
          </a:bodyPr>
          <a:lstStyle/>
          <a:p>
            <a:r>
              <a:rPr lang="en-US" dirty="0"/>
              <a:t/>
            </a:r>
            <a:br>
              <a:rPr lang="en-US" dirty="0"/>
            </a:br>
            <a:r>
              <a:rPr lang="en-US" dirty="0" smtClean="0">
                <a:latin typeface="Times New Roman" panose="02020603050405020304" pitchFamily="18" charset="0"/>
                <a:cs typeface="Times New Roman" panose="02020603050405020304" pitchFamily="18" charset="0"/>
              </a:rPr>
              <a:t>Continuous Delivery CD</a:t>
            </a:r>
            <a:r>
              <a:rPr lang="en-IN" dirty="0"/>
              <a:t/>
            </a:r>
            <a:br>
              <a:rPr lang="en-IN" dirty="0"/>
            </a:br>
            <a:endParaRPr lang="en-IN" dirty="0"/>
          </a:p>
        </p:txBody>
      </p:sp>
      <p:sp>
        <p:nvSpPr>
          <p:cNvPr id="3" name="Content Placeholder 2">
            <a:extLst>
              <a:ext uri="{FF2B5EF4-FFF2-40B4-BE49-F238E27FC236}">
                <a16:creationId xmlns:a16="http://schemas.microsoft.com/office/drawing/2014/main" id="{2679E6A4-D00E-4CBD-861B-6BABBFB9B913}"/>
              </a:ext>
            </a:extLst>
          </p:cNvPr>
          <p:cNvSpPr>
            <a:spLocks noGrp="1"/>
          </p:cNvSpPr>
          <p:nvPr>
            <p:ph idx="1"/>
          </p:nvPr>
        </p:nvSpPr>
        <p:spPr>
          <a:xfrm>
            <a:off x="492369" y="2160589"/>
            <a:ext cx="11512061" cy="3880773"/>
          </a:xfrm>
        </p:spPr>
        <p:txBody>
          <a:bodyPr>
            <a:normAutofit fontScale="92500"/>
          </a:bodyPr>
          <a:lstStyle/>
          <a:p>
            <a:pPr algn="just">
              <a:lnSpc>
                <a:spcPct val="150000"/>
              </a:lnSpc>
            </a:pPr>
            <a:r>
              <a:rPr lang="en-US" sz="3200" dirty="0" smtClean="0">
                <a:latin typeface="Times New Roman" panose="02020603050405020304" pitchFamily="18" charset="0"/>
                <a:cs typeface="Times New Roman" panose="02020603050405020304" pitchFamily="18" charset="0"/>
              </a:rPr>
              <a:t>Once </a:t>
            </a:r>
            <a:r>
              <a:rPr lang="en-US" sz="3200" dirty="0">
                <a:latin typeface="Times New Roman" panose="02020603050405020304" pitchFamily="18" charset="0"/>
                <a:cs typeface="Times New Roman" panose="02020603050405020304" pitchFamily="18" charset="0"/>
              </a:rPr>
              <a:t>continuous integration has been completed, the next step is to deploy the application automatically in one or more non-production </a:t>
            </a:r>
            <a:r>
              <a:rPr lang="en-US" sz="3200" dirty="0" smtClean="0">
                <a:latin typeface="Times New Roman" panose="02020603050405020304" pitchFamily="18" charset="0"/>
                <a:cs typeface="Times New Roman" panose="02020603050405020304" pitchFamily="18" charset="0"/>
              </a:rPr>
              <a:t>environments(</a:t>
            </a:r>
            <a:r>
              <a:rPr lang="en-US" sz="3200" b="1" dirty="0">
                <a:latin typeface="Times New Roman" panose="02020603050405020304" pitchFamily="18" charset="0"/>
                <a:cs typeface="Times New Roman" panose="02020603050405020304" pitchFamily="18" charset="0"/>
              </a:rPr>
              <a:t>a software setup used for building, testing, and staging applications before they are released to real users</a:t>
            </a: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which is called </a:t>
            </a:r>
            <a:r>
              <a:rPr lang="en-US" sz="3200" b="1" dirty="0">
                <a:latin typeface="Times New Roman" panose="02020603050405020304" pitchFamily="18" charset="0"/>
                <a:cs typeface="Times New Roman" panose="02020603050405020304" pitchFamily="18" charset="0"/>
              </a:rPr>
              <a:t>staging</a:t>
            </a:r>
            <a:r>
              <a:rPr lang="en-US" sz="3200" dirty="0">
                <a:latin typeface="Times New Roman" panose="02020603050405020304" pitchFamily="18" charset="0"/>
                <a:cs typeface="Times New Roman" panose="02020603050405020304" pitchFamily="18" charset="0"/>
              </a:rPr>
              <a:t>. This process is called </a:t>
            </a:r>
            <a:r>
              <a:rPr lang="en-US" sz="3200" b="1" dirty="0">
                <a:latin typeface="Times New Roman" panose="02020603050405020304" pitchFamily="18" charset="0"/>
                <a:cs typeface="Times New Roman" panose="02020603050405020304" pitchFamily="18" charset="0"/>
              </a:rPr>
              <a:t>continuous delivery </a:t>
            </a:r>
            <a:r>
              <a:rPr lang="en-US" sz="3200" dirty="0">
                <a:latin typeface="Times New Roman" panose="02020603050405020304" pitchFamily="18" charset="0"/>
                <a:cs typeface="Times New Roman" panose="02020603050405020304" pitchFamily="18" charset="0"/>
              </a:rPr>
              <a:t>(</a:t>
            </a:r>
            <a:r>
              <a:rPr lang="en-US" sz="3200" b="1" dirty="0">
                <a:latin typeface="Times New Roman" panose="02020603050405020304" pitchFamily="18" charset="0"/>
                <a:cs typeface="Times New Roman" panose="02020603050405020304" pitchFamily="18" charset="0"/>
              </a:rPr>
              <a:t>CD</a:t>
            </a:r>
            <a:r>
              <a:rPr lang="en-US" sz="3200"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337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887" y="519358"/>
            <a:ext cx="10764389" cy="4920150"/>
          </a:xfrm>
        </p:spPr>
        <p:txBody>
          <a:bodyPr>
            <a:noAutofit/>
          </a:bodyPr>
          <a:lstStyle/>
          <a:p>
            <a:pPr algn="just">
              <a:lnSpc>
                <a:spcPct val="150000"/>
              </a:lnSpc>
            </a:pPr>
            <a:r>
              <a:rPr lang="en-US" sz="2800" dirty="0">
                <a:latin typeface="Times New Roman" panose="02020603050405020304" pitchFamily="18" charset="0"/>
                <a:cs typeface="Times New Roman" panose="02020603050405020304" pitchFamily="18" charset="0"/>
              </a:rPr>
              <a:t>Unlike CI, CD aims to test the entire application with all of its dependencies. This is very visible in </a:t>
            </a:r>
            <a:r>
              <a:rPr lang="en-US" sz="2800" b="1" dirty="0" err="1">
                <a:latin typeface="Times New Roman" panose="02020603050405020304" pitchFamily="18" charset="0"/>
                <a:cs typeface="Times New Roman" panose="02020603050405020304" pitchFamily="18" charset="0"/>
              </a:rPr>
              <a:t>microservice</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applications composed of </a:t>
            </a:r>
            <a:r>
              <a:rPr lang="en-US" sz="2800" b="1" dirty="0">
                <a:latin typeface="Times New Roman" panose="02020603050405020304" pitchFamily="18" charset="0"/>
                <a:cs typeface="Times New Roman" panose="02020603050405020304" pitchFamily="18" charset="0"/>
              </a:rPr>
              <a:t>several services and APIs; </a:t>
            </a:r>
            <a:endParaRPr lang="en-US" sz="2800" b="1" dirty="0" smtClean="0">
              <a:latin typeface="Times New Roman" panose="02020603050405020304" pitchFamily="18" charset="0"/>
              <a:cs typeface="Times New Roman" panose="02020603050405020304" pitchFamily="18" charset="0"/>
            </a:endParaRPr>
          </a:p>
          <a:p>
            <a:pPr algn="just">
              <a:lnSpc>
                <a:spcPct val="150000"/>
              </a:lnSpc>
            </a:pPr>
            <a:r>
              <a:rPr lang="en-US" sz="2800" dirty="0" smtClean="0">
                <a:latin typeface="Times New Roman" panose="02020603050405020304" pitchFamily="18" charset="0"/>
                <a:cs typeface="Times New Roman" panose="02020603050405020304" pitchFamily="18" charset="0"/>
              </a:rPr>
              <a:t>CI </a:t>
            </a:r>
            <a:r>
              <a:rPr lang="en-US" sz="2800" dirty="0">
                <a:latin typeface="Times New Roman" panose="02020603050405020304" pitchFamily="18" charset="0"/>
                <a:cs typeface="Times New Roman" panose="02020603050405020304" pitchFamily="18" charset="0"/>
              </a:rPr>
              <a:t>will only test the </a:t>
            </a:r>
            <a:r>
              <a:rPr lang="en-US" sz="2800" b="1" dirty="0" err="1">
                <a:latin typeface="Times New Roman" panose="02020603050405020304" pitchFamily="18" charset="0"/>
                <a:cs typeface="Times New Roman" panose="02020603050405020304" pitchFamily="18" charset="0"/>
              </a:rPr>
              <a:t>microservice</a:t>
            </a:r>
            <a:r>
              <a:rPr lang="en-US" sz="2800" b="1" dirty="0">
                <a:latin typeface="Times New Roman" panose="02020603050405020304" pitchFamily="18" charset="0"/>
                <a:cs typeface="Times New Roman" panose="02020603050405020304" pitchFamily="18" charset="0"/>
              </a:rPr>
              <a:t> under development, </a:t>
            </a:r>
            <a:r>
              <a:rPr lang="en-US" sz="2800" dirty="0">
                <a:latin typeface="Times New Roman" panose="02020603050405020304" pitchFamily="18" charset="0"/>
                <a:cs typeface="Times New Roman" panose="02020603050405020304" pitchFamily="18" charset="0"/>
              </a:rPr>
              <a:t>while once deployed in a staging environment, </a:t>
            </a:r>
            <a:r>
              <a:rPr lang="en-US" sz="2800" b="1" dirty="0">
                <a:latin typeface="Times New Roman" panose="02020603050405020304" pitchFamily="18" charset="0"/>
                <a:cs typeface="Times New Roman" panose="02020603050405020304" pitchFamily="18" charset="0"/>
              </a:rPr>
              <a:t>it will be possible to test and validate the entire application, as well as the APIs and </a:t>
            </a:r>
            <a:r>
              <a:rPr lang="en-US" sz="2800" b="1" dirty="0" err="1">
                <a:latin typeface="Times New Roman" panose="02020603050405020304" pitchFamily="18" charset="0"/>
                <a:cs typeface="Times New Roman" panose="02020603050405020304" pitchFamily="18" charset="0"/>
              </a:rPr>
              <a:t>microservices</a:t>
            </a:r>
            <a:r>
              <a:rPr lang="en-US" sz="2800" b="1" dirty="0">
                <a:latin typeface="Times New Roman" panose="02020603050405020304" pitchFamily="18" charset="0"/>
                <a:cs typeface="Times New Roman" panose="02020603050405020304" pitchFamily="18" charset="0"/>
              </a:rPr>
              <a:t> that it is composed of.</a:t>
            </a:r>
          </a:p>
        </p:txBody>
      </p:sp>
    </p:spTree>
    <p:extLst>
      <p:ext uri="{BB962C8B-B14F-4D97-AF65-F5344CB8AC3E}">
        <p14:creationId xmlns:p14="http://schemas.microsoft.com/office/powerpoint/2010/main" val="1196312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tools that are set up for CI/CD are often used with other solutions, as follows: •</a:t>
            </a:r>
          </a:p>
        </p:txBody>
      </p:sp>
      <p:sp>
        <p:nvSpPr>
          <p:cNvPr id="3" name="Content Placeholder 2"/>
          <p:cNvSpPr>
            <a:spLocks noGrp="1"/>
          </p:cNvSpPr>
          <p:nvPr>
            <p:ph idx="1"/>
          </p:nvPr>
        </p:nvSpPr>
        <p:spPr>
          <a:xfrm>
            <a:off x="677333" y="2160589"/>
            <a:ext cx="10389251" cy="3880773"/>
          </a:xfrm>
        </p:spPr>
        <p:txBody>
          <a:bodyPr>
            <a:noAutofit/>
          </a:bodyPr>
          <a:lstStyle/>
          <a:p>
            <a:pPr algn="just">
              <a:lnSpc>
                <a:spcPct val="150000"/>
              </a:lnSpc>
            </a:pPr>
            <a:r>
              <a:rPr lang="en-US" sz="2400" b="1" dirty="0" smtClean="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package manager: </a:t>
            </a:r>
            <a:r>
              <a:rPr lang="en-US" sz="2400" dirty="0">
                <a:latin typeface="Times New Roman" panose="02020603050405020304" pitchFamily="18" charset="0"/>
                <a:cs typeface="Times New Roman" panose="02020603050405020304" pitchFamily="18" charset="0"/>
              </a:rPr>
              <a:t>This constitutes the storage space of the packages generated by CI and recovered by CD. These managers must support feeds, versioning, and different types of packages. There are several on the market, such as Nexus, </a:t>
            </a:r>
            <a:r>
              <a:rPr lang="en-US" sz="2400" dirty="0" err="1">
                <a:latin typeface="Times New Roman" panose="02020603050405020304" pitchFamily="18" charset="0"/>
                <a:cs typeface="Times New Roman" panose="02020603050405020304" pitchFamily="18" charset="0"/>
              </a:rPr>
              <a:t>ProGet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Artifactory</a:t>
            </a:r>
            <a:r>
              <a:rPr lang="en-US" sz="2400" dirty="0">
                <a:latin typeface="Times New Roman" panose="02020603050405020304" pitchFamily="18" charset="0"/>
                <a:cs typeface="Times New Roman" panose="02020603050405020304" pitchFamily="18" charset="0"/>
              </a:rPr>
              <a:t>, and Azure Artifacts</a:t>
            </a:r>
            <a:r>
              <a:rPr lang="en-US" sz="2400" dirty="0" smtClean="0">
                <a:latin typeface="Times New Roman" panose="02020603050405020304" pitchFamily="18" charset="0"/>
                <a:cs typeface="Times New Roman" panose="02020603050405020304" pitchFamily="18" charset="0"/>
              </a:rPr>
              <a:t>.</a:t>
            </a:r>
          </a:p>
          <a:p>
            <a:pPr algn="just">
              <a:lnSpc>
                <a:spcPct val="150000"/>
              </a:lnSpc>
            </a:pPr>
            <a:r>
              <a:rPr lang="en-US" sz="2400" b="1" dirty="0">
                <a:latin typeface="Times New Roman" panose="02020603050405020304" pitchFamily="18" charset="0"/>
                <a:cs typeface="Times New Roman" panose="02020603050405020304" pitchFamily="18" charset="0"/>
              </a:rPr>
              <a:t>• A configuration manager</a:t>
            </a:r>
            <a:r>
              <a:rPr lang="en-US" sz="2400" dirty="0">
                <a:latin typeface="Times New Roman" panose="02020603050405020304" pitchFamily="18" charset="0"/>
                <a:cs typeface="Times New Roman" panose="02020603050405020304" pitchFamily="18" charset="0"/>
              </a:rPr>
              <a:t>: This allows you to manage configuration changes during CD; most CD tools include a configuration mechanism with a system of variable</a:t>
            </a:r>
          </a:p>
        </p:txBody>
      </p:sp>
    </p:spTree>
    <p:extLst>
      <p:ext uri="{BB962C8B-B14F-4D97-AF65-F5344CB8AC3E}">
        <p14:creationId xmlns:p14="http://schemas.microsoft.com/office/powerpoint/2010/main" val="13356102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363419"/>
            <a:ext cx="11162974" cy="4896704"/>
          </a:xfrm>
        </p:spPr>
        <p:txBody>
          <a:bodyPr>
            <a:noAutofit/>
          </a:bodyPr>
          <a:lstStyle/>
          <a:p>
            <a:pPr algn="just">
              <a:lnSpc>
                <a:spcPct val="150000"/>
              </a:lnSpc>
            </a:pP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can be triggered automatically, following a successful execution in a previous environment. For example, we can imagine a case where the deployment in the pre-production environment is automatically triggered when the integration tests have been successfully performed in a dedicated environment</a:t>
            </a:r>
            <a:r>
              <a:rPr lang="en-US" sz="2400" dirty="0" smtClean="0">
                <a:latin typeface="Times New Roman" panose="02020603050405020304" pitchFamily="18" charset="0"/>
                <a:cs typeface="Times New Roman" panose="02020603050405020304" pitchFamily="18" charset="0"/>
              </a:rPr>
              <a:t>.</a:t>
            </a:r>
          </a:p>
          <a:p>
            <a:pPr algn="just">
              <a:lnSpc>
                <a:spcPct val="150000"/>
              </a:lnSpc>
            </a:pPr>
            <a:r>
              <a:rPr lang="en-US" sz="2400" dirty="0" smtClean="0">
                <a:latin typeface="Times New Roman" panose="02020603050405020304" pitchFamily="18" charset="0"/>
                <a:cs typeface="Times New Roman" panose="02020603050405020304" pitchFamily="18" charset="0"/>
              </a:rPr>
              <a:t> It </a:t>
            </a:r>
            <a:r>
              <a:rPr lang="en-US" sz="2400" dirty="0">
                <a:latin typeface="Times New Roman" panose="02020603050405020304" pitchFamily="18" charset="0"/>
                <a:cs typeface="Times New Roman" panose="02020603050405020304" pitchFamily="18" charset="0"/>
              </a:rPr>
              <a:t>can be triggered manually, for sensitive environments such as the production environment, following manual approval by the person responsible for validating the proper functionality of the application in an environment.</a:t>
            </a:r>
          </a:p>
        </p:txBody>
      </p:sp>
      <p:sp>
        <p:nvSpPr>
          <p:cNvPr id="2" name="Title 1"/>
          <p:cNvSpPr>
            <a:spLocks noGrp="1"/>
          </p:cNvSpPr>
          <p:nvPr>
            <p:ph type="title"/>
          </p:nvPr>
        </p:nvSpPr>
        <p:spPr>
          <a:xfrm>
            <a:off x="677334" y="211016"/>
            <a:ext cx="8596668" cy="1320800"/>
          </a:xfrm>
        </p:spPr>
        <p:txBody>
          <a:bodyPr>
            <a:normAutofit/>
          </a:bodyPr>
          <a:lstStyle/>
          <a:p>
            <a:r>
              <a:rPr lang="en-US" dirty="0">
                <a:latin typeface="Times New Roman" panose="02020603050405020304" pitchFamily="18" charset="0"/>
                <a:cs typeface="Times New Roman" panose="02020603050405020304" pitchFamily="18" charset="0"/>
              </a:rPr>
              <a:t>In CD, deploying the application in each staging environment is triggered as follows: </a:t>
            </a:r>
          </a:p>
        </p:txBody>
      </p:sp>
    </p:spTree>
    <p:extLst>
      <p:ext uri="{BB962C8B-B14F-4D97-AF65-F5344CB8AC3E}">
        <p14:creationId xmlns:p14="http://schemas.microsoft.com/office/powerpoint/2010/main" val="4600246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BAF236-83CA-E050-26E8-5C37ADDFF900}"/>
              </a:ext>
            </a:extLst>
          </p:cNvPr>
          <p:cNvPicPr>
            <a:picLocks noChangeAspect="1"/>
          </p:cNvPicPr>
          <p:nvPr/>
        </p:nvPicPr>
        <p:blipFill>
          <a:blip r:embed="rId2"/>
          <a:stretch>
            <a:fillRect/>
          </a:stretch>
        </p:blipFill>
        <p:spPr>
          <a:xfrm>
            <a:off x="750276" y="465574"/>
            <a:ext cx="10808677" cy="4220423"/>
          </a:xfrm>
          <a:prstGeom prst="rect">
            <a:avLst/>
          </a:prstGeom>
        </p:spPr>
      </p:pic>
      <p:sp>
        <p:nvSpPr>
          <p:cNvPr id="7" name="Rectangle 6"/>
          <p:cNvSpPr/>
          <p:nvPr/>
        </p:nvSpPr>
        <p:spPr>
          <a:xfrm>
            <a:off x="1078523" y="4685998"/>
            <a:ext cx="10480430" cy="1883657"/>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preceding diagram clearly shows that the CD process is a continuation of the CI process. It represents the chain of CD steps, which are automatic for staging environments but manual for production deployments. It also shows that the package is generated by CI and stored in a package manager, and that it is the same package that is deployed in different environments.</a:t>
            </a:r>
          </a:p>
        </p:txBody>
      </p:sp>
    </p:spTree>
    <p:extLst>
      <p:ext uri="{BB962C8B-B14F-4D97-AF65-F5344CB8AC3E}">
        <p14:creationId xmlns:p14="http://schemas.microsoft.com/office/powerpoint/2010/main" val="149840833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F6F9-DEFA-471B-FD02-45CC54D1F7C7}"/>
              </a:ext>
            </a:extLst>
          </p:cNvPr>
          <p:cNvSpPr>
            <a:spLocks noGrp="1"/>
          </p:cNvSpPr>
          <p:nvPr>
            <p:ph type="title"/>
          </p:nvPr>
        </p:nvSpPr>
        <p:spPr>
          <a:xfrm>
            <a:off x="645130" y="202346"/>
            <a:ext cx="9404723" cy="1400530"/>
          </a:xfrm>
        </p:spPr>
        <p:txBody>
          <a:bodyPr>
            <a:normAutofit/>
          </a:bodyPr>
          <a:lstStyle/>
          <a:p>
            <a:r>
              <a:rPr lang="en-IN" dirty="0"/>
              <a:t>Continuous deployment</a:t>
            </a:r>
            <a:br>
              <a:rPr lang="en-IN" dirty="0"/>
            </a:br>
            <a:endParaRPr lang="en-IN" dirty="0"/>
          </a:p>
        </p:txBody>
      </p:sp>
      <p:sp>
        <p:nvSpPr>
          <p:cNvPr id="3" name="Content Placeholder 2">
            <a:extLst>
              <a:ext uri="{FF2B5EF4-FFF2-40B4-BE49-F238E27FC236}">
                <a16:creationId xmlns:a16="http://schemas.microsoft.com/office/drawing/2014/main" id="{448A5EAF-C924-37DF-B25B-71A76E53BC50}"/>
              </a:ext>
            </a:extLst>
          </p:cNvPr>
          <p:cNvSpPr>
            <a:spLocks noGrp="1"/>
          </p:cNvSpPr>
          <p:nvPr>
            <p:ph idx="1"/>
          </p:nvPr>
        </p:nvSpPr>
        <p:spPr>
          <a:xfrm>
            <a:off x="1103312" y="1110885"/>
            <a:ext cx="10525980" cy="5289915"/>
          </a:xfrm>
        </p:spPr>
        <p:txBody>
          <a:bodyPr>
            <a:noAutofit/>
          </a:bodyPr>
          <a:lstStyle/>
          <a:p>
            <a:pPr algn="just">
              <a:lnSpc>
                <a:spcPct val="150000"/>
              </a:lnSpc>
            </a:pPr>
            <a:r>
              <a:rPr lang="en-US" sz="2800" dirty="0">
                <a:latin typeface="Times New Roman" panose="02020603050405020304" pitchFamily="18" charset="0"/>
                <a:cs typeface="Times New Roman" panose="02020603050405020304" pitchFamily="18" charset="0"/>
              </a:rPr>
              <a:t>Continuous deployment is an extension of CD, but this time, with a process that automates the entire CI/CD pipeline from the moment the developer commits their code to deployment in production through all of the verification steps</a:t>
            </a:r>
            <a:r>
              <a:rPr lang="en-US" sz="2800" dirty="0" smtClean="0">
                <a:latin typeface="Times New Roman" panose="02020603050405020304" pitchFamily="18" charset="0"/>
                <a:cs typeface="Times New Roman" panose="02020603050405020304" pitchFamily="18" charset="0"/>
              </a:rPr>
              <a:t>.</a:t>
            </a:r>
          </a:p>
          <a:p>
            <a:pPr algn="just">
              <a:lnSpc>
                <a:spcPct val="150000"/>
              </a:lnSpc>
            </a:pPr>
            <a:r>
              <a:rPr lang="en-US" sz="2800" dirty="0">
                <a:latin typeface="Times New Roman" panose="02020603050405020304" pitchFamily="18" charset="0"/>
                <a:cs typeface="Times New Roman" panose="02020603050405020304" pitchFamily="18" charset="0"/>
              </a:rPr>
              <a:t>This practice is rarely implemented in enterprises because it requires a variety of tests (unit, functional, integration, performance, and so on) to be covered for the application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583304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2ADFF3-161E-CF4C-C52E-0A9C5E8F4E87}"/>
              </a:ext>
            </a:extLst>
          </p:cNvPr>
          <p:cNvPicPr>
            <a:picLocks noChangeAspect="1"/>
          </p:cNvPicPr>
          <p:nvPr/>
        </p:nvPicPr>
        <p:blipFill>
          <a:blip r:embed="rId2"/>
          <a:stretch>
            <a:fillRect/>
          </a:stretch>
        </p:blipFill>
        <p:spPr>
          <a:xfrm>
            <a:off x="687980" y="0"/>
            <a:ext cx="10424660" cy="3886200"/>
          </a:xfrm>
          <a:prstGeom prst="rect">
            <a:avLst/>
          </a:prstGeom>
        </p:spPr>
      </p:pic>
      <p:sp>
        <p:nvSpPr>
          <p:cNvPr id="7" name="Rectangle 6"/>
          <p:cNvSpPr/>
          <p:nvPr/>
        </p:nvSpPr>
        <p:spPr>
          <a:xfrm>
            <a:off x="0" y="3183717"/>
            <a:ext cx="12192000" cy="3323987"/>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preceding diagram is almost the same as that of CD, but with the difference that it depicts automated end-to-end deployment. </a:t>
            </a:r>
            <a:endParaRPr lang="en-US" sz="2000" dirty="0" smtClean="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CI/CD </a:t>
            </a:r>
            <a:r>
              <a:rPr lang="en-US" sz="2000" dirty="0">
                <a:latin typeface="Times New Roman" panose="02020603050405020304" pitchFamily="18" charset="0"/>
                <a:cs typeface="Times New Roman" panose="02020603050405020304" pitchFamily="18" charset="0"/>
              </a:rPr>
              <a:t>processes are therefore an essential part of DevOps culture, with CI allowing teams to integrate and test the coherence of its code and to obtain quick feedback regularly. CD automatically deploys on one or more staging environments and hence offers the possibility to test the entire application until it is deployed in production</a:t>
            </a:r>
            <a:r>
              <a:rPr lang="en-US" sz="2000" dirty="0" smtClean="0">
                <a:latin typeface="Times New Roman" panose="02020603050405020304" pitchFamily="18" charset="0"/>
                <a:cs typeface="Times New Roman" panose="02020603050405020304" pitchFamily="18" charset="0"/>
              </a:rPr>
              <a:t>.</a:t>
            </a:r>
          </a:p>
          <a:p>
            <a:pPr algn="just">
              <a:lnSpc>
                <a:spcPct val="15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Finally, continuous deployment automates the ability to deploy the application from commit to the production </a:t>
            </a:r>
            <a:r>
              <a:rPr lang="en-US" sz="2000" dirty="0" smtClean="0">
                <a:latin typeface="Times New Roman" panose="02020603050405020304" pitchFamily="18" charset="0"/>
                <a:cs typeface="Times New Roman" panose="02020603050405020304" pitchFamily="18" charset="0"/>
              </a:rPr>
              <a:t>environment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81112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D60BB-9988-3B70-857F-FFEC136926A1}"/>
              </a:ext>
            </a:extLst>
          </p:cNvPr>
          <p:cNvSpPr>
            <a:spLocks noGrp="1"/>
          </p:cNvSpPr>
          <p:nvPr>
            <p:ph type="title"/>
          </p:nvPr>
        </p:nvSpPr>
        <p:spPr/>
        <p:txBody>
          <a:bodyPr>
            <a:normAutofit fontScale="90000"/>
          </a:bodyPr>
          <a:lstStyle/>
          <a:p>
            <a:r>
              <a:rPr lang="en-IN" dirty="0">
                <a:latin typeface="Times New Roman" panose="02020603050405020304" pitchFamily="18" charset="0"/>
                <a:ea typeface="Times New Roman" panose="02020603050405020304" pitchFamily="18" charset="0"/>
              </a:rPr>
              <a:t>Understanding </a:t>
            </a:r>
            <a:r>
              <a:rPr lang="en-IN" dirty="0" err="1">
                <a:latin typeface="Times New Roman" panose="02020603050405020304" pitchFamily="18" charset="0"/>
                <a:ea typeface="Times New Roman" panose="02020603050405020304" pitchFamily="18" charset="0"/>
              </a:rPr>
              <a:t>IaC</a:t>
            </a:r>
            <a:r>
              <a:rPr lang="en-IN" dirty="0">
                <a:latin typeface="Times New Roman" panose="02020603050405020304" pitchFamily="18" charset="0"/>
                <a:ea typeface="Times New Roman" panose="02020603050405020304" pitchFamily="18" charset="0"/>
              </a:rPr>
              <a:t> practices,</a:t>
            </a:r>
            <a:r>
              <a:rPr lang="en-IN" sz="5400" dirty="0">
                <a:effectLst/>
                <a:latin typeface="Times New Roman" panose="02020603050405020304" pitchFamily="18" charset="0"/>
                <a:ea typeface="Times New Roman" panose="02020603050405020304" pitchFamily="18" charset="0"/>
              </a:rPr>
              <a:t> </a:t>
            </a:r>
            <a:r>
              <a:rPr lang="en-IN" dirty="0">
                <a:latin typeface="Times New Roman" panose="02020603050405020304" pitchFamily="18" charset="0"/>
                <a:ea typeface="Times New Roman" panose="02020603050405020304" pitchFamily="18" charset="0"/>
              </a:rPr>
              <a:t>The evolution of the DevOps culture</a:t>
            </a:r>
            <a:r>
              <a:rPr lang="en-IN" sz="5400" dirty="0">
                <a:effectLst/>
                <a:latin typeface="Times New Roman" panose="02020603050405020304" pitchFamily="18" charset="0"/>
                <a:ea typeface="Times New Roman" panose="02020603050405020304" pitchFamily="18" charset="0"/>
              </a:rPr>
              <a:t/>
            </a:r>
            <a:br>
              <a:rPr lang="en-IN" sz="54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D2091F8-9D5B-94B2-745A-948000E37002}"/>
              </a:ext>
            </a:extLst>
          </p:cNvPr>
          <p:cNvSpPr>
            <a:spLocks noGrp="1"/>
          </p:cNvSpPr>
          <p:nvPr>
            <p:ph idx="1"/>
          </p:nvPr>
        </p:nvSpPr>
        <p:spPr>
          <a:xfrm>
            <a:off x="677333" y="2160589"/>
            <a:ext cx="11045743" cy="3880773"/>
          </a:xfrm>
        </p:spPr>
        <p:txBody>
          <a:bodyPr>
            <a:normAutofit/>
          </a:bodyPr>
          <a:lstStyle/>
          <a:p>
            <a:pPr algn="just">
              <a:lnSpc>
                <a:spcPct val="150000"/>
              </a:lnSpc>
            </a:pPr>
            <a:r>
              <a:rPr lang="en-US" sz="2400" dirty="0" err="1">
                <a:latin typeface="Times New Roman" panose="02020603050405020304" pitchFamily="18" charset="0"/>
                <a:cs typeface="Times New Roman" panose="02020603050405020304" pitchFamily="18" charset="0"/>
              </a:rPr>
              <a:t>IaC</a:t>
            </a:r>
            <a:r>
              <a:rPr lang="en-US" sz="2400" dirty="0">
                <a:latin typeface="Times New Roman" panose="02020603050405020304" pitchFamily="18" charset="0"/>
                <a:cs typeface="Times New Roman" panose="02020603050405020304" pitchFamily="18" charset="0"/>
              </a:rPr>
              <a:t> is the process of writing the code of the provisioning and configuration steps of infrastructure components, which helps automate its deployment in a repeatable and </a:t>
            </a:r>
            <a:r>
              <a:rPr lang="en-IN" sz="2400" dirty="0">
                <a:latin typeface="Times New Roman" panose="02020603050405020304" pitchFamily="18" charset="0"/>
                <a:cs typeface="Times New Roman" panose="02020603050405020304" pitchFamily="18" charset="0"/>
              </a:rPr>
              <a:t>consistent manner.</a:t>
            </a:r>
          </a:p>
        </p:txBody>
      </p:sp>
    </p:spTree>
    <p:extLst>
      <p:ext uri="{BB962C8B-B14F-4D97-AF65-F5344CB8AC3E}">
        <p14:creationId xmlns:p14="http://schemas.microsoft.com/office/powerpoint/2010/main" val="345369884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3B126-383F-1480-28C9-87B78F234B0A}"/>
              </a:ext>
            </a:extLst>
          </p:cNvPr>
          <p:cNvSpPr>
            <a:spLocks noGrp="1"/>
          </p:cNvSpPr>
          <p:nvPr>
            <p:ph type="title"/>
          </p:nvPr>
        </p:nvSpPr>
        <p:spPr/>
        <p:txBody>
          <a:bodyPr/>
          <a:lstStyle/>
          <a:p>
            <a:r>
              <a:rPr lang="en-IN" dirty="0">
                <a:latin typeface="Times New Roman" panose="02020603050405020304" pitchFamily="18" charset="0"/>
                <a:ea typeface="Times New Roman" panose="02020603050405020304" pitchFamily="18" charset="0"/>
              </a:rPr>
              <a:t>The benefits of </a:t>
            </a:r>
            <a:r>
              <a:rPr lang="en-IN" dirty="0" err="1">
                <a:latin typeface="Times New Roman" panose="02020603050405020304" pitchFamily="18" charset="0"/>
                <a:ea typeface="Times New Roman" panose="02020603050405020304" pitchFamily="18" charset="0"/>
              </a:rPr>
              <a:t>IaC</a:t>
            </a:r>
            <a:endParaRPr lang="en-IN" dirty="0"/>
          </a:p>
        </p:txBody>
      </p:sp>
      <p:sp>
        <p:nvSpPr>
          <p:cNvPr id="3" name="Content Placeholder 2">
            <a:extLst>
              <a:ext uri="{FF2B5EF4-FFF2-40B4-BE49-F238E27FC236}">
                <a16:creationId xmlns:a16="http://schemas.microsoft.com/office/drawing/2014/main" id="{8B019B8E-0211-598B-030A-F1498633C682}"/>
              </a:ext>
            </a:extLst>
          </p:cNvPr>
          <p:cNvSpPr>
            <a:spLocks noGrp="1"/>
          </p:cNvSpPr>
          <p:nvPr>
            <p:ph idx="1"/>
          </p:nvPr>
        </p:nvSpPr>
        <p:spPr>
          <a:xfrm>
            <a:off x="281355" y="1457204"/>
            <a:ext cx="11723076" cy="4873258"/>
          </a:xfrm>
        </p:spPr>
        <p:txBody>
          <a:bodyPr>
            <a:no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 The standardization of infrastructure configuration reduces the risk of errors.</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The code that describes the infrastructure is versioned and controlled in a source</a:t>
            </a:r>
          </a:p>
          <a:p>
            <a:pPr marL="0" indent="0" algn="just">
              <a:lnSpc>
                <a:spcPct val="150000"/>
              </a:lnSpc>
              <a:buNone/>
            </a:pPr>
            <a:r>
              <a:rPr lang="en-IN" sz="2400" dirty="0">
                <a:latin typeface="Times New Roman" panose="02020603050405020304" pitchFamily="18" charset="0"/>
                <a:cs typeface="Times New Roman" panose="02020603050405020304" pitchFamily="18" charset="0"/>
              </a:rPr>
              <a:t>code manager.</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The code is integrated into CI/CD pipelines.</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Deployments that make infrastructure changes are faster and more efficient.</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 There's better management, control, and a reduction in infrastructure costs.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67564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079F9-FBDC-8D3A-7F54-BC1EA6ABDB3B}"/>
              </a:ext>
            </a:extLst>
          </p:cNvPr>
          <p:cNvSpPr>
            <a:spLocks noGrp="1"/>
          </p:cNvSpPr>
          <p:nvPr>
            <p:ph type="title"/>
          </p:nvPr>
        </p:nvSpPr>
        <p:spPr/>
        <p:txBody>
          <a:bodyPr>
            <a:normAutofit/>
          </a:bodyPr>
          <a:lstStyle/>
          <a:p>
            <a:r>
              <a:rPr lang="en-IN" dirty="0" err="1">
                <a:latin typeface="Times New Roman" panose="02020603050405020304" pitchFamily="18" charset="0"/>
                <a:ea typeface="Times New Roman" panose="02020603050405020304" pitchFamily="18" charset="0"/>
              </a:rPr>
              <a:t>IaC</a:t>
            </a:r>
            <a:r>
              <a:rPr lang="en-IN" dirty="0">
                <a:latin typeface="Times New Roman" panose="02020603050405020304" pitchFamily="18" charset="0"/>
                <a:ea typeface="Times New Roman" panose="02020603050405020304" pitchFamily="18" charset="0"/>
              </a:rPr>
              <a:t> languages and tools </a:t>
            </a:r>
            <a:r>
              <a:rPr lang="en-IN" sz="5400" dirty="0">
                <a:effectLst/>
                <a:latin typeface="Times New Roman" panose="02020603050405020304" pitchFamily="18" charset="0"/>
                <a:ea typeface="Times New Roman" panose="02020603050405020304" pitchFamily="18" charset="0"/>
              </a:rPr>
              <a:t/>
            </a:r>
            <a:br>
              <a:rPr lang="en-IN" sz="54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85B8EA0-1553-10BD-F971-24F960994988}"/>
              </a:ext>
            </a:extLst>
          </p:cNvPr>
          <p:cNvSpPr>
            <a:spLocks noGrp="1"/>
          </p:cNvSpPr>
          <p:nvPr>
            <p:ph idx="1"/>
          </p:nvPr>
        </p:nvSpPr>
        <p:spPr>
          <a:xfrm>
            <a:off x="677334" y="1550989"/>
            <a:ext cx="10811281" cy="3880773"/>
          </a:xfrm>
        </p:spPr>
        <p:txBody>
          <a:bodyPr>
            <a:no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Scripting types:</a:t>
            </a:r>
            <a:r>
              <a:rPr lang="en-US" sz="2400" dirty="0">
                <a:latin typeface="Times New Roman" panose="02020603050405020304" pitchFamily="18" charset="0"/>
                <a:cs typeface="Times New Roman" panose="02020603050405020304" pitchFamily="18" charset="0"/>
              </a:rPr>
              <a:t>These are scripts such as Bash, PowerShell, or others that use the different clients (SDKs) provided by the cloud provider.</a:t>
            </a:r>
          </a:p>
          <a:p>
            <a:pPr algn="just">
              <a:lnSpc>
                <a:spcPct val="150000"/>
              </a:lnSpc>
            </a:pPr>
            <a:r>
              <a:rPr lang="en-IN" sz="2400" b="1" dirty="0">
                <a:latin typeface="Times New Roman" panose="02020603050405020304" pitchFamily="18" charset="0"/>
                <a:cs typeface="Times New Roman" panose="02020603050405020304" pitchFamily="18" charset="0"/>
              </a:rPr>
              <a:t>Declarative types</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These are languages in which it is sufficient to write the state of the desired system or infrastructure in the form of configuration and properties.</a:t>
            </a:r>
          </a:p>
          <a:p>
            <a:pPr algn="just">
              <a:lnSpc>
                <a:spcPct val="150000"/>
              </a:lnSpc>
            </a:pPr>
            <a:r>
              <a:rPr lang="en-IN" sz="2400" b="1" dirty="0">
                <a:latin typeface="Times New Roman" panose="02020603050405020304" pitchFamily="18" charset="0"/>
                <a:cs typeface="Times New Roman" panose="02020603050405020304" pitchFamily="18" charset="0"/>
              </a:rPr>
              <a:t>Programmatic types:</a:t>
            </a:r>
            <a:r>
              <a:rPr lang="en-US" sz="2400" dirty="0">
                <a:latin typeface="Times New Roman" panose="02020603050405020304" pitchFamily="18" charset="0"/>
                <a:cs typeface="Times New Roman" panose="02020603050405020304" pitchFamily="18" charset="0"/>
              </a:rPr>
              <a:t>For a few years now, an observation has been made that the two types of </a:t>
            </a:r>
            <a:r>
              <a:rPr lang="en-US" sz="2400" dirty="0" err="1">
                <a:latin typeface="Times New Roman" panose="02020603050405020304" pitchFamily="18" charset="0"/>
                <a:cs typeface="Times New Roman" panose="02020603050405020304" pitchFamily="18" charset="0"/>
              </a:rPr>
              <a:t>IaC</a:t>
            </a:r>
            <a:r>
              <a:rPr lang="en-US" sz="2400" dirty="0">
                <a:latin typeface="Times New Roman" panose="02020603050405020304" pitchFamily="18" charset="0"/>
                <a:cs typeface="Times New Roman" panose="02020603050405020304" pitchFamily="18" charset="0"/>
              </a:rPr>
              <a:t> code, which are of the scripting or declarative languages, are destined to be in the </a:t>
            </a:r>
            <a:r>
              <a:rPr lang="en-US" sz="2400" b="1" dirty="0">
                <a:latin typeface="Times New Roman" panose="02020603050405020304" pitchFamily="18" charset="0"/>
                <a:cs typeface="Times New Roman" panose="02020603050405020304" pitchFamily="18" charset="0"/>
              </a:rPr>
              <a:t>operational </a:t>
            </a:r>
            <a:r>
              <a:rPr lang="en-US" sz="2400" dirty="0">
                <a:latin typeface="Times New Roman" panose="02020603050405020304" pitchFamily="18" charset="0"/>
                <a:cs typeface="Times New Roman" panose="02020603050405020304" pitchFamily="18" charset="0"/>
              </a:rPr>
              <a:t>team.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23190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34F52-2074-FAEB-D63E-740F1723B27B}"/>
              </a:ext>
            </a:extLst>
          </p:cNvPr>
          <p:cNvSpPr>
            <a:spLocks noGrp="1"/>
          </p:cNvSpPr>
          <p:nvPr>
            <p:ph type="title"/>
          </p:nvPr>
        </p:nvSpPr>
        <p:spPr/>
        <p:txBody>
          <a:bodyPr/>
          <a:lstStyle/>
          <a:p>
            <a:r>
              <a:rPr lang="en-IN" dirty="0"/>
              <a:t>The </a:t>
            </a:r>
            <a:r>
              <a:rPr lang="en-IN" dirty="0" err="1"/>
              <a:t>IaC</a:t>
            </a:r>
            <a:r>
              <a:rPr lang="en-IN" dirty="0"/>
              <a:t> Topology </a:t>
            </a:r>
          </a:p>
        </p:txBody>
      </p:sp>
      <p:sp>
        <p:nvSpPr>
          <p:cNvPr id="3" name="Content Placeholder 2">
            <a:extLst>
              <a:ext uri="{FF2B5EF4-FFF2-40B4-BE49-F238E27FC236}">
                <a16:creationId xmlns:a16="http://schemas.microsoft.com/office/drawing/2014/main" id="{485CCB8F-B30E-1262-DD18-EC1D5EE17DBA}"/>
              </a:ext>
            </a:extLst>
          </p:cNvPr>
          <p:cNvSpPr>
            <a:spLocks noGrp="1"/>
          </p:cNvSpPr>
          <p:nvPr>
            <p:ph idx="1"/>
          </p:nvPr>
        </p:nvSpPr>
        <p:spPr>
          <a:xfrm>
            <a:off x="677334" y="1597882"/>
            <a:ext cx="10811282" cy="3880773"/>
          </a:xfrm>
        </p:spPr>
        <p:txBody>
          <a:bodyPr>
            <a:noAutofit/>
          </a:bodyPr>
          <a:lstStyle/>
          <a:p>
            <a:pPr marL="0" indent="0" algn="just">
              <a:lnSpc>
                <a:spcPct val="150000"/>
              </a:lnSpc>
              <a:buNone/>
            </a:pPr>
            <a:r>
              <a:rPr lang="en-US" sz="2800" dirty="0">
                <a:latin typeface="Times New Roman" panose="02020603050405020304" pitchFamily="18" charset="0"/>
                <a:cs typeface="Times New Roman" panose="02020603050405020304" pitchFamily="18" charset="0"/>
              </a:rPr>
              <a:t>In a cloud infrastructure, </a:t>
            </a:r>
            <a:r>
              <a:rPr lang="en-US" sz="2800" dirty="0" err="1">
                <a:latin typeface="Times New Roman" panose="02020603050405020304" pitchFamily="18" charset="0"/>
                <a:cs typeface="Times New Roman" panose="02020603050405020304" pitchFamily="18" charset="0"/>
              </a:rPr>
              <a:t>IaC</a:t>
            </a:r>
            <a:r>
              <a:rPr lang="en-US" sz="2800" dirty="0">
                <a:latin typeface="Times New Roman" panose="02020603050405020304" pitchFamily="18" charset="0"/>
                <a:cs typeface="Times New Roman" panose="02020603050405020304" pitchFamily="18" charset="0"/>
              </a:rPr>
              <a:t> is divided into several typologies:</a:t>
            </a:r>
          </a:p>
          <a:p>
            <a:pPr marL="514350" indent="-514350" algn="just">
              <a:lnSpc>
                <a:spcPct val="150000"/>
              </a:lnSpc>
              <a:buFont typeface="+mj-lt"/>
              <a:buAutoNum type="arabicPeriod"/>
            </a:pPr>
            <a:r>
              <a:rPr lang="en-US" sz="2800" dirty="0" smtClean="0">
                <a:latin typeface="Times New Roman" panose="02020603050405020304" pitchFamily="18" charset="0"/>
                <a:cs typeface="Times New Roman" panose="02020603050405020304" pitchFamily="18" charset="0"/>
              </a:rPr>
              <a:t>Deploying </a:t>
            </a:r>
            <a:r>
              <a:rPr lang="en-US" sz="2800" dirty="0">
                <a:latin typeface="Times New Roman" panose="02020603050405020304" pitchFamily="18" charset="0"/>
                <a:cs typeface="Times New Roman" panose="02020603050405020304" pitchFamily="18" charset="0"/>
              </a:rPr>
              <a:t>and provisioning the infrastructure</a:t>
            </a:r>
          </a:p>
          <a:p>
            <a:pPr marL="514350" indent="-514350" algn="just">
              <a:lnSpc>
                <a:spcPct val="150000"/>
              </a:lnSpc>
              <a:buFont typeface="+mj-lt"/>
              <a:buAutoNum type="arabicPeriod"/>
            </a:pPr>
            <a:r>
              <a:rPr lang="en-IN" sz="2800" dirty="0" smtClean="0">
                <a:latin typeface="Times New Roman" panose="02020603050405020304" pitchFamily="18" charset="0"/>
                <a:cs typeface="Times New Roman" panose="02020603050405020304" pitchFamily="18" charset="0"/>
              </a:rPr>
              <a:t>Server </a:t>
            </a:r>
            <a:r>
              <a:rPr lang="en-IN" sz="2800" dirty="0">
                <a:latin typeface="Times New Roman" panose="02020603050405020304" pitchFamily="18" charset="0"/>
                <a:cs typeface="Times New Roman" panose="02020603050405020304" pitchFamily="18" charset="0"/>
              </a:rPr>
              <a:t>configuration and templating</a:t>
            </a:r>
          </a:p>
          <a:p>
            <a:pPr marL="514350" indent="-514350" algn="just">
              <a:lnSpc>
                <a:spcPct val="150000"/>
              </a:lnSpc>
              <a:buFont typeface="+mj-lt"/>
              <a:buAutoNum type="arabicPeriod"/>
            </a:pPr>
            <a:r>
              <a:rPr lang="en-IN" sz="2800" dirty="0" smtClean="0">
                <a:latin typeface="Times New Roman" panose="02020603050405020304" pitchFamily="18" charset="0"/>
                <a:cs typeface="Times New Roman" panose="02020603050405020304" pitchFamily="18" charset="0"/>
              </a:rPr>
              <a:t>Containerization</a:t>
            </a:r>
            <a:endParaRPr lang="en-IN" sz="2800" dirty="0">
              <a:latin typeface="Times New Roman" panose="02020603050405020304" pitchFamily="18" charset="0"/>
              <a:cs typeface="Times New Roman" panose="02020603050405020304" pitchFamily="18" charset="0"/>
            </a:endParaRPr>
          </a:p>
          <a:p>
            <a:pPr marL="514350" indent="-514350" algn="just">
              <a:lnSpc>
                <a:spcPct val="150000"/>
              </a:lnSpc>
              <a:buFont typeface="+mj-lt"/>
              <a:buAutoNum type="arabicPeriod"/>
            </a:pPr>
            <a:r>
              <a:rPr lang="en-US" sz="2800" dirty="0" smtClean="0">
                <a:latin typeface="Times New Roman" panose="02020603050405020304" pitchFamily="18" charset="0"/>
                <a:cs typeface="Times New Roman" panose="02020603050405020304" pitchFamily="18" charset="0"/>
              </a:rPr>
              <a:t>Configuration </a:t>
            </a:r>
            <a:r>
              <a:rPr lang="en-US" sz="2800" dirty="0">
                <a:latin typeface="Times New Roman" panose="02020603050405020304" pitchFamily="18" charset="0"/>
                <a:cs typeface="Times New Roman" panose="02020603050405020304" pitchFamily="18" charset="0"/>
              </a:rPr>
              <a:t>and deployment in Kubernetes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94072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6FF57-A651-C240-0B92-92B39EFA3F72}"/>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Continuous Integration and Continuous Delivery: CI/CD principles</a:t>
            </a:r>
          </a:p>
        </p:txBody>
      </p:sp>
      <p:sp>
        <p:nvSpPr>
          <p:cNvPr id="3" name="Content Placeholder 2">
            <a:extLst>
              <a:ext uri="{FF2B5EF4-FFF2-40B4-BE49-F238E27FC236}">
                <a16:creationId xmlns:a16="http://schemas.microsoft.com/office/drawing/2014/main" id="{75CD1B07-308A-735E-A14E-1ACE09B8AA36}"/>
              </a:ext>
            </a:extLst>
          </p:cNvPr>
          <p:cNvSpPr>
            <a:spLocks noGrp="1"/>
          </p:cNvSpPr>
          <p:nvPr>
            <p:ph idx="1"/>
          </p:nvPr>
        </p:nvSpPr>
        <p:spPr>
          <a:xfrm>
            <a:off x="677334" y="2160589"/>
            <a:ext cx="10976402" cy="3880773"/>
          </a:xfrm>
        </p:spPr>
        <p:txBody>
          <a:bodyPr/>
          <a:lstStyle/>
          <a:p>
            <a:pPr>
              <a:lnSpc>
                <a:spcPct val="150000"/>
              </a:lnSpc>
            </a:pPr>
            <a:r>
              <a:rPr lang="en-IN" sz="2800" b="1" dirty="0">
                <a:latin typeface="Times New Roman" panose="02020603050405020304" pitchFamily="18" charset="0"/>
                <a:cs typeface="Times New Roman" panose="02020603050405020304" pitchFamily="18" charset="0"/>
              </a:rPr>
              <a:t>CI</a:t>
            </a:r>
            <a:r>
              <a:rPr lang="en-IN" sz="2800" dirty="0">
                <a:latin typeface="Times New Roman" panose="02020603050405020304" pitchFamily="18" charset="0"/>
                <a:cs typeface="Times New Roman" panose="02020603050405020304" pitchFamily="18" charset="0"/>
              </a:rPr>
              <a:t> covers the early stages: commit, build, and automated testing.</a:t>
            </a:r>
          </a:p>
          <a:p>
            <a:pPr>
              <a:lnSpc>
                <a:spcPct val="150000"/>
              </a:lnSpc>
            </a:pPr>
            <a:r>
              <a:rPr lang="en-IN" sz="2800" b="1" dirty="0">
                <a:latin typeface="Times New Roman" panose="02020603050405020304" pitchFamily="18" charset="0"/>
                <a:cs typeface="Times New Roman" panose="02020603050405020304" pitchFamily="18" charset="0"/>
              </a:rPr>
              <a:t>CD</a:t>
            </a:r>
            <a:r>
              <a:rPr lang="en-IN" sz="2800" dirty="0">
                <a:latin typeface="Times New Roman" panose="02020603050405020304" pitchFamily="18" charset="0"/>
                <a:cs typeface="Times New Roman" panose="02020603050405020304" pitchFamily="18" charset="0"/>
              </a:rPr>
              <a:t> covers packaging, staging, approval, and production deployment.</a:t>
            </a:r>
          </a:p>
          <a:p>
            <a:pPr>
              <a:lnSpc>
                <a:spcPct val="150000"/>
              </a:lnSpc>
            </a:pPr>
            <a:r>
              <a:rPr lang="en-IN" sz="2800" dirty="0">
                <a:latin typeface="Times New Roman" panose="02020603050405020304" pitchFamily="18" charset="0"/>
                <a:cs typeface="Times New Roman" panose="02020603050405020304" pitchFamily="18" charset="0"/>
              </a:rPr>
              <a:t>Monitoring closes the loop by feeding issues and performance data back into the next development cycle.</a:t>
            </a:r>
          </a:p>
          <a:p>
            <a:endParaRPr lang="en-IN" dirty="0"/>
          </a:p>
        </p:txBody>
      </p:sp>
    </p:spTree>
    <p:extLst>
      <p:ext uri="{BB962C8B-B14F-4D97-AF65-F5344CB8AC3E}">
        <p14:creationId xmlns:p14="http://schemas.microsoft.com/office/powerpoint/2010/main" val="14759218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nushka_Sharma_Saying_Ashte_Kannada_Video_Template">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402495" y="876912"/>
            <a:ext cx="8225081" cy="4882050"/>
          </a:xfrm>
        </p:spPr>
      </p:pic>
    </p:spTree>
    <p:extLst>
      <p:ext uri="{BB962C8B-B14F-4D97-AF65-F5344CB8AC3E}">
        <p14:creationId xmlns:p14="http://schemas.microsoft.com/office/powerpoint/2010/main" val="300349993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6774A-3255-C26B-D615-1156FDAF1B32}"/>
              </a:ext>
            </a:extLst>
          </p:cNvPr>
          <p:cNvSpPr>
            <a:spLocks noGrp="1"/>
          </p:cNvSpPr>
          <p:nvPr>
            <p:ph type="title"/>
          </p:nvPr>
        </p:nvSpPr>
        <p:spPr/>
        <p:txBody>
          <a:bodyPr/>
          <a:lstStyle/>
          <a:p>
            <a:endParaRPr lang="en-IN"/>
          </a:p>
        </p:txBody>
      </p:sp>
      <p:pic>
        <p:nvPicPr>
          <p:cNvPr id="4" name="Content Placeholder 3" descr="Introduction to CI/CD - GeeksforGeeks">
            <a:extLst>
              <a:ext uri="{FF2B5EF4-FFF2-40B4-BE49-F238E27FC236}">
                <a16:creationId xmlns:a16="http://schemas.microsoft.com/office/drawing/2014/main" id="{C947C915-8B5B-5E48-5A26-6C1A3A4DF891}"/>
              </a:ext>
            </a:extLst>
          </p:cNvPr>
          <p:cNvPicPr>
            <a:picLocks noGrp="1" noChangeAspect="1"/>
          </p:cNvPicPr>
          <p:nvPr>
            <p:ph idx="1"/>
          </p:nvPr>
        </p:nvPicPr>
        <p:blipFill>
          <a:blip r:embed="rId2"/>
          <a:stretch>
            <a:fillRect/>
          </a:stretch>
        </p:blipFill>
        <p:spPr>
          <a:xfrm>
            <a:off x="1461294" y="2343944"/>
            <a:ext cx="7029450" cy="3514725"/>
          </a:xfrm>
          <a:prstGeom prst="rect">
            <a:avLst/>
          </a:prstGeom>
        </p:spPr>
      </p:pic>
    </p:spTree>
    <p:extLst>
      <p:ext uri="{BB962C8B-B14F-4D97-AF65-F5344CB8AC3E}">
        <p14:creationId xmlns:p14="http://schemas.microsoft.com/office/powerpoint/2010/main" val="33795695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156F-E06F-8820-236F-7C46A658F35E}"/>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7BF8D051-90EE-022E-27A3-A3DB3FB9BEA6}"/>
              </a:ext>
            </a:extLst>
          </p:cNvPr>
          <p:cNvGraphicFramePr>
            <a:graphicFrameLocks noGrp="1"/>
          </p:cNvGraphicFramePr>
          <p:nvPr>
            <p:ph idx="1"/>
          </p:nvPr>
        </p:nvGraphicFramePr>
        <p:xfrm>
          <a:off x="1103313" y="2504599"/>
          <a:ext cx="8947150" cy="3291840"/>
        </p:xfrm>
        <a:graphic>
          <a:graphicData uri="http://schemas.openxmlformats.org/drawingml/2006/table">
            <a:tbl>
              <a:tblPr/>
              <a:tblGrid>
                <a:gridCol w="4473575">
                  <a:extLst>
                    <a:ext uri="{9D8B030D-6E8A-4147-A177-3AD203B41FA5}">
                      <a16:colId xmlns:a16="http://schemas.microsoft.com/office/drawing/2014/main" val="3022022322"/>
                    </a:ext>
                  </a:extLst>
                </a:gridCol>
                <a:gridCol w="4473575">
                  <a:extLst>
                    <a:ext uri="{9D8B030D-6E8A-4147-A177-3AD203B41FA5}">
                      <a16:colId xmlns:a16="http://schemas.microsoft.com/office/drawing/2014/main" val="2421037754"/>
                    </a:ext>
                  </a:extLst>
                </a:gridCol>
              </a:tblGrid>
              <a:tr h="0">
                <a:tc>
                  <a:txBody>
                    <a:bodyPr/>
                    <a:lstStyle/>
                    <a:p>
                      <a:pPr>
                        <a:buNone/>
                      </a:pPr>
                      <a:r>
                        <a:rPr lang="en-IN"/>
                        <a:t>DevOps Activity</a:t>
                      </a:r>
                    </a:p>
                  </a:txBody>
                  <a:tcPr anchor="ctr">
                    <a:lnL>
                      <a:noFill/>
                    </a:lnL>
                    <a:lnR>
                      <a:noFill/>
                    </a:lnR>
                    <a:lnT>
                      <a:noFill/>
                    </a:lnT>
                    <a:lnB>
                      <a:noFill/>
                    </a:lnB>
                    <a:noFill/>
                  </a:tcPr>
                </a:tc>
                <a:tc>
                  <a:txBody>
                    <a:bodyPr/>
                    <a:lstStyle/>
                    <a:p>
                      <a:pPr>
                        <a:buNone/>
                      </a:pPr>
                      <a:r>
                        <a:rPr lang="en-IN"/>
                        <a:t>Example Tools</a:t>
                      </a:r>
                    </a:p>
                  </a:txBody>
                  <a:tcPr anchor="ctr">
                    <a:lnL>
                      <a:noFill/>
                    </a:lnL>
                    <a:lnR>
                      <a:noFill/>
                    </a:lnR>
                    <a:lnT>
                      <a:noFill/>
                    </a:lnT>
                    <a:lnB>
                      <a:noFill/>
                    </a:lnB>
                    <a:noFill/>
                  </a:tcPr>
                </a:tc>
                <a:extLst>
                  <a:ext uri="{0D108BD9-81ED-4DB2-BD59-A6C34878D82A}">
                    <a16:rowId xmlns:a16="http://schemas.microsoft.com/office/drawing/2014/main" val="2502501316"/>
                  </a:ext>
                </a:extLst>
              </a:tr>
              <a:tr h="0">
                <a:tc>
                  <a:txBody>
                    <a:bodyPr/>
                    <a:lstStyle/>
                    <a:p>
                      <a:pPr>
                        <a:buNone/>
                      </a:pPr>
                      <a:r>
                        <a:rPr lang="en-IN"/>
                        <a:t>Version Control</a:t>
                      </a:r>
                    </a:p>
                  </a:txBody>
                  <a:tcPr anchor="ctr">
                    <a:lnL>
                      <a:noFill/>
                    </a:lnL>
                    <a:lnR>
                      <a:noFill/>
                    </a:lnR>
                    <a:lnT>
                      <a:noFill/>
                    </a:lnT>
                    <a:lnB>
                      <a:noFill/>
                    </a:lnB>
                    <a:noFill/>
                  </a:tcPr>
                </a:tc>
                <a:tc>
                  <a:txBody>
                    <a:bodyPr/>
                    <a:lstStyle/>
                    <a:p>
                      <a:pPr>
                        <a:buNone/>
                      </a:pPr>
                      <a:r>
                        <a:rPr lang="en-IN"/>
                        <a:t>Git, GitHub</a:t>
                      </a:r>
                    </a:p>
                  </a:txBody>
                  <a:tcPr anchor="ctr">
                    <a:lnL>
                      <a:noFill/>
                    </a:lnL>
                    <a:lnR>
                      <a:noFill/>
                    </a:lnR>
                    <a:lnT>
                      <a:noFill/>
                    </a:lnT>
                    <a:lnB>
                      <a:noFill/>
                    </a:lnB>
                    <a:noFill/>
                  </a:tcPr>
                </a:tc>
                <a:extLst>
                  <a:ext uri="{0D108BD9-81ED-4DB2-BD59-A6C34878D82A}">
                    <a16:rowId xmlns:a16="http://schemas.microsoft.com/office/drawing/2014/main" val="265031319"/>
                  </a:ext>
                </a:extLst>
              </a:tr>
              <a:tr h="0">
                <a:tc>
                  <a:txBody>
                    <a:bodyPr/>
                    <a:lstStyle/>
                    <a:p>
                      <a:pPr>
                        <a:buNone/>
                      </a:pPr>
                      <a:r>
                        <a:rPr lang="en-IN"/>
                        <a:t>Build</a:t>
                      </a:r>
                    </a:p>
                  </a:txBody>
                  <a:tcPr anchor="ctr">
                    <a:lnL>
                      <a:noFill/>
                    </a:lnL>
                    <a:lnR>
                      <a:noFill/>
                    </a:lnR>
                    <a:lnT>
                      <a:noFill/>
                    </a:lnT>
                    <a:lnB>
                      <a:noFill/>
                    </a:lnB>
                    <a:noFill/>
                  </a:tcPr>
                </a:tc>
                <a:tc>
                  <a:txBody>
                    <a:bodyPr/>
                    <a:lstStyle/>
                    <a:p>
                      <a:pPr>
                        <a:buNone/>
                      </a:pPr>
                      <a:r>
                        <a:rPr lang="en-IN"/>
                        <a:t>Maven, Gradle</a:t>
                      </a:r>
                    </a:p>
                  </a:txBody>
                  <a:tcPr anchor="ctr">
                    <a:lnL>
                      <a:noFill/>
                    </a:lnL>
                    <a:lnR>
                      <a:noFill/>
                    </a:lnR>
                    <a:lnT>
                      <a:noFill/>
                    </a:lnT>
                    <a:lnB>
                      <a:noFill/>
                    </a:lnB>
                    <a:noFill/>
                  </a:tcPr>
                </a:tc>
                <a:extLst>
                  <a:ext uri="{0D108BD9-81ED-4DB2-BD59-A6C34878D82A}">
                    <a16:rowId xmlns:a16="http://schemas.microsoft.com/office/drawing/2014/main" val="440547585"/>
                  </a:ext>
                </a:extLst>
              </a:tr>
              <a:tr h="0">
                <a:tc>
                  <a:txBody>
                    <a:bodyPr/>
                    <a:lstStyle/>
                    <a:p>
                      <a:pPr>
                        <a:buNone/>
                      </a:pPr>
                      <a:r>
                        <a:rPr lang="en-IN"/>
                        <a:t>CI/CD</a:t>
                      </a:r>
                    </a:p>
                  </a:txBody>
                  <a:tcPr anchor="ctr">
                    <a:lnL>
                      <a:noFill/>
                    </a:lnL>
                    <a:lnR>
                      <a:noFill/>
                    </a:lnR>
                    <a:lnT>
                      <a:noFill/>
                    </a:lnT>
                    <a:lnB>
                      <a:noFill/>
                    </a:lnB>
                    <a:noFill/>
                  </a:tcPr>
                </a:tc>
                <a:tc>
                  <a:txBody>
                    <a:bodyPr/>
                    <a:lstStyle/>
                    <a:p>
                      <a:pPr>
                        <a:buNone/>
                      </a:pPr>
                      <a:r>
                        <a:rPr lang="en-IN"/>
                        <a:t>Jenkins, GitHub Actions</a:t>
                      </a:r>
                    </a:p>
                  </a:txBody>
                  <a:tcPr anchor="ctr">
                    <a:lnL>
                      <a:noFill/>
                    </a:lnL>
                    <a:lnR>
                      <a:noFill/>
                    </a:lnR>
                    <a:lnT>
                      <a:noFill/>
                    </a:lnT>
                    <a:lnB>
                      <a:noFill/>
                    </a:lnB>
                    <a:noFill/>
                  </a:tcPr>
                </a:tc>
                <a:extLst>
                  <a:ext uri="{0D108BD9-81ED-4DB2-BD59-A6C34878D82A}">
                    <a16:rowId xmlns:a16="http://schemas.microsoft.com/office/drawing/2014/main" val="4059130528"/>
                  </a:ext>
                </a:extLst>
              </a:tr>
              <a:tr h="0">
                <a:tc>
                  <a:txBody>
                    <a:bodyPr/>
                    <a:lstStyle/>
                    <a:p>
                      <a:pPr>
                        <a:buNone/>
                      </a:pPr>
                      <a:r>
                        <a:rPr lang="en-IN"/>
                        <a:t>Testing</a:t>
                      </a:r>
                    </a:p>
                  </a:txBody>
                  <a:tcPr anchor="ctr">
                    <a:lnL>
                      <a:noFill/>
                    </a:lnL>
                    <a:lnR>
                      <a:noFill/>
                    </a:lnR>
                    <a:lnT>
                      <a:noFill/>
                    </a:lnT>
                    <a:lnB>
                      <a:noFill/>
                    </a:lnB>
                    <a:noFill/>
                  </a:tcPr>
                </a:tc>
                <a:tc>
                  <a:txBody>
                    <a:bodyPr/>
                    <a:lstStyle/>
                    <a:p>
                      <a:pPr>
                        <a:buNone/>
                      </a:pPr>
                      <a:r>
                        <a:rPr lang="en-IN"/>
                        <a:t>Selenium, JUnit</a:t>
                      </a:r>
                    </a:p>
                  </a:txBody>
                  <a:tcPr anchor="ctr">
                    <a:lnL>
                      <a:noFill/>
                    </a:lnL>
                    <a:lnR>
                      <a:noFill/>
                    </a:lnR>
                    <a:lnT>
                      <a:noFill/>
                    </a:lnT>
                    <a:lnB>
                      <a:noFill/>
                    </a:lnB>
                    <a:noFill/>
                  </a:tcPr>
                </a:tc>
                <a:extLst>
                  <a:ext uri="{0D108BD9-81ED-4DB2-BD59-A6C34878D82A}">
                    <a16:rowId xmlns:a16="http://schemas.microsoft.com/office/drawing/2014/main" val="1661690116"/>
                  </a:ext>
                </a:extLst>
              </a:tr>
              <a:tr h="0">
                <a:tc>
                  <a:txBody>
                    <a:bodyPr/>
                    <a:lstStyle/>
                    <a:p>
                      <a:pPr>
                        <a:buNone/>
                      </a:pPr>
                      <a:r>
                        <a:rPr lang="en-IN"/>
                        <a:t>Containerization</a:t>
                      </a:r>
                    </a:p>
                  </a:txBody>
                  <a:tcPr anchor="ctr">
                    <a:lnL>
                      <a:noFill/>
                    </a:lnL>
                    <a:lnR>
                      <a:noFill/>
                    </a:lnR>
                    <a:lnT>
                      <a:noFill/>
                    </a:lnT>
                    <a:lnB>
                      <a:noFill/>
                    </a:lnB>
                    <a:noFill/>
                  </a:tcPr>
                </a:tc>
                <a:tc>
                  <a:txBody>
                    <a:bodyPr/>
                    <a:lstStyle/>
                    <a:p>
                      <a:pPr>
                        <a:buNone/>
                      </a:pPr>
                      <a:r>
                        <a:rPr lang="en-IN"/>
                        <a:t>Docker</a:t>
                      </a:r>
                    </a:p>
                  </a:txBody>
                  <a:tcPr anchor="ctr">
                    <a:lnL>
                      <a:noFill/>
                    </a:lnL>
                    <a:lnR>
                      <a:noFill/>
                    </a:lnR>
                    <a:lnT>
                      <a:noFill/>
                    </a:lnT>
                    <a:lnB>
                      <a:noFill/>
                    </a:lnB>
                    <a:noFill/>
                  </a:tcPr>
                </a:tc>
                <a:extLst>
                  <a:ext uri="{0D108BD9-81ED-4DB2-BD59-A6C34878D82A}">
                    <a16:rowId xmlns:a16="http://schemas.microsoft.com/office/drawing/2014/main" val="3447428749"/>
                  </a:ext>
                </a:extLst>
              </a:tr>
              <a:tr h="0">
                <a:tc>
                  <a:txBody>
                    <a:bodyPr/>
                    <a:lstStyle/>
                    <a:p>
                      <a:pPr>
                        <a:buNone/>
                      </a:pPr>
                      <a:r>
                        <a:rPr lang="en-IN"/>
                        <a:t>Orchestration</a:t>
                      </a:r>
                    </a:p>
                  </a:txBody>
                  <a:tcPr anchor="ctr">
                    <a:lnL>
                      <a:noFill/>
                    </a:lnL>
                    <a:lnR>
                      <a:noFill/>
                    </a:lnR>
                    <a:lnT>
                      <a:noFill/>
                    </a:lnT>
                    <a:lnB>
                      <a:noFill/>
                    </a:lnB>
                    <a:noFill/>
                  </a:tcPr>
                </a:tc>
                <a:tc>
                  <a:txBody>
                    <a:bodyPr/>
                    <a:lstStyle/>
                    <a:p>
                      <a:pPr>
                        <a:buNone/>
                      </a:pPr>
                      <a:r>
                        <a:rPr lang="en-IN"/>
                        <a:t>Kubernetes</a:t>
                      </a:r>
                    </a:p>
                  </a:txBody>
                  <a:tcPr anchor="ctr">
                    <a:lnL>
                      <a:noFill/>
                    </a:lnL>
                    <a:lnR>
                      <a:noFill/>
                    </a:lnR>
                    <a:lnT>
                      <a:noFill/>
                    </a:lnT>
                    <a:lnB>
                      <a:noFill/>
                    </a:lnB>
                    <a:noFill/>
                  </a:tcPr>
                </a:tc>
                <a:extLst>
                  <a:ext uri="{0D108BD9-81ED-4DB2-BD59-A6C34878D82A}">
                    <a16:rowId xmlns:a16="http://schemas.microsoft.com/office/drawing/2014/main" val="3312106460"/>
                  </a:ext>
                </a:extLst>
              </a:tr>
              <a:tr h="0">
                <a:tc>
                  <a:txBody>
                    <a:bodyPr/>
                    <a:lstStyle/>
                    <a:p>
                      <a:pPr>
                        <a:buNone/>
                      </a:pPr>
                      <a:r>
                        <a:rPr lang="en-IN"/>
                        <a:t>Cloud</a:t>
                      </a:r>
                    </a:p>
                  </a:txBody>
                  <a:tcPr anchor="ctr">
                    <a:lnL>
                      <a:noFill/>
                    </a:lnL>
                    <a:lnR>
                      <a:noFill/>
                    </a:lnR>
                    <a:lnT>
                      <a:noFill/>
                    </a:lnT>
                    <a:lnB>
                      <a:noFill/>
                    </a:lnB>
                    <a:noFill/>
                  </a:tcPr>
                </a:tc>
                <a:tc>
                  <a:txBody>
                    <a:bodyPr/>
                    <a:lstStyle/>
                    <a:p>
                      <a:pPr>
                        <a:buNone/>
                      </a:pPr>
                      <a:r>
                        <a:rPr lang="en-IN"/>
                        <a:t>AWS, Azure, Google Cloud</a:t>
                      </a:r>
                    </a:p>
                  </a:txBody>
                  <a:tcPr anchor="ctr">
                    <a:lnL>
                      <a:noFill/>
                    </a:lnL>
                    <a:lnR>
                      <a:noFill/>
                    </a:lnR>
                    <a:lnT>
                      <a:noFill/>
                    </a:lnT>
                    <a:lnB>
                      <a:noFill/>
                    </a:lnB>
                    <a:noFill/>
                  </a:tcPr>
                </a:tc>
                <a:extLst>
                  <a:ext uri="{0D108BD9-81ED-4DB2-BD59-A6C34878D82A}">
                    <a16:rowId xmlns:a16="http://schemas.microsoft.com/office/drawing/2014/main" val="651147372"/>
                  </a:ext>
                </a:extLst>
              </a:tr>
              <a:tr h="0">
                <a:tc>
                  <a:txBody>
                    <a:bodyPr/>
                    <a:lstStyle/>
                    <a:p>
                      <a:pPr>
                        <a:buNone/>
                      </a:pPr>
                      <a:r>
                        <a:rPr lang="en-IN"/>
                        <a:t>Monitoring</a:t>
                      </a:r>
                    </a:p>
                  </a:txBody>
                  <a:tcPr anchor="ctr">
                    <a:lnL>
                      <a:noFill/>
                    </a:lnL>
                    <a:lnR>
                      <a:noFill/>
                    </a:lnR>
                    <a:lnT>
                      <a:noFill/>
                    </a:lnT>
                    <a:lnB>
                      <a:noFill/>
                    </a:lnB>
                    <a:noFill/>
                  </a:tcPr>
                </a:tc>
                <a:tc>
                  <a:txBody>
                    <a:bodyPr/>
                    <a:lstStyle/>
                    <a:p>
                      <a:pPr>
                        <a:buNone/>
                      </a:pPr>
                      <a:r>
                        <a:rPr lang="en-IN" dirty="0"/>
                        <a:t>Prometheus, Grafana</a:t>
                      </a:r>
                    </a:p>
                  </a:txBody>
                  <a:tcPr anchor="ctr">
                    <a:lnL>
                      <a:noFill/>
                    </a:lnL>
                    <a:lnR>
                      <a:noFill/>
                    </a:lnR>
                    <a:lnT>
                      <a:noFill/>
                    </a:lnT>
                    <a:lnB>
                      <a:noFill/>
                    </a:lnB>
                    <a:noFill/>
                  </a:tcPr>
                </a:tc>
                <a:extLst>
                  <a:ext uri="{0D108BD9-81ED-4DB2-BD59-A6C34878D82A}">
                    <a16:rowId xmlns:a16="http://schemas.microsoft.com/office/drawing/2014/main" val="3295379339"/>
                  </a:ext>
                </a:extLst>
              </a:tr>
            </a:tbl>
          </a:graphicData>
        </a:graphic>
      </p:graphicFrame>
    </p:spTree>
    <p:extLst>
      <p:ext uri="{BB962C8B-B14F-4D97-AF65-F5344CB8AC3E}">
        <p14:creationId xmlns:p14="http://schemas.microsoft.com/office/powerpoint/2010/main" val="9904520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2494</TotalTime>
  <Words>2461</Words>
  <Application>Microsoft Office PowerPoint</Application>
  <PresentationFormat>Widescreen</PresentationFormat>
  <Paragraphs>186</Paragraphs>
  <Slides>42</Slides>
  <Notes>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Times New Roman</vt:lpstr>
      <vt:lpstr>Trebuchet MS</vt:lpstr>
      <vt:lpstr>Wingdings 3</vt:lpstr>
      <vt:lpstr>Facet</vt:lpstr>
      <vt:lpstr>DevOps and Infrastructure as Code</vt:lpstr>
      <vt:lpstr>Introduction </vt:lpstr>
      <vt:lpstr>PowerPoint Presentation</vt:lpstr>
      <vt:lpstr>What DevOps is </vt:lpstr>
      <vt:lpstr>Why DevOps exists </vt:lpstr>
      <vt:lpstr>PowerPoint Presentation</vt:lpstr>
      <vt:lpstr>What DevOps is · Dev vs Ops gap · DevOps culture and mindset · Benefits to an organization · DevOps team model</vt:lpstr>
      <vt:lpstr>PowerPoint Presentation</vt:lpstr>
      <vt:lpstr>DevOps Lifecycle </vt:lpstr>
      <vt:lpstr>PowerPoint Presentation</vt:lpstr>
      <vt:lpstr>Simple Example </vt:lpstr>
      <vt:lpstr>Without DevOps: </vt:lpstr>
      <vt:lpstr>With DevOps: </vt:lpstr>
      <vt:lpstr>PowerPoint Presentation</vt:lpstr>
      <vt:lpstr>Getting started with DevOps</vt:lpstr>
      <vt:lpstr>The DevOps movement is based on three axes: </vt:lpstr>
      <vt:lpstr>PowerPoint Presentation</vt:lpstr>
      <vt:lpstr>PowerPoint Presentation</vt:lpstr>
      <vt:lpstr>PowerPoint Presentation</vt:lpstr>
      <vt:lpstr>A typical DevOps toolchain includes: </vt:lpstr>
      <vt:lpstr>PowerPoint Presentation</vt:lpstr>
      <vt:lpstr>PowerPoint Presentation</vt:lpstr>
      <vt:lpstr>Implementing CI/CD and continuous deployment </vt:lpstr>
      <vt:lpstr> CONTINUOUS INTEGRATION </vt:lpstr>
      <vt:lpstr>Implementing CI</vt:lpstr>
      <vt:lpstr>PowerPoint Presentation</vt:lpstr>
      <vt:lpstr>Implementing CI</vt:lpstr>
      <vt:lpstr> Continuous Delivery CD </vt:lpstr>
      <vt:lpstr>PowerPoint Presentation</vt:lpstr>
      <vt:lpstr>The tools that are set up for CI/CD are often used with other solutions, as follows: •</vt:lpstr>
      <vt:lpstr>In CD, deploying the application in each staging environment is triggered as follows: </vt:lpstr>
      <vt:lpstr>PowerPoint Presentation</vt:lpstr>
      <vt:lpstr>Continuous deployment </vt:lpstr>
      <vt:lpstr>PowerPoint Presentation</vt:lpstr>
      <vt:lpstr>Understanding IaC practices, The evolution of the DevOps culture </vt:lpstr>
      <vt:lpstr>The benefits of IaC</vt:lpstr>
      <vt:lpstr>IaC languages and tools  </vt:lpstr>
      <vt:lpstr>The IaC Topology </vt:lpstr>
      <vt:lpstr>Continuous Integration and Continuous Delivery: CI/CD principles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and Infrastructure as Code</dc:title>
  <dc:creator>Mubeen Akhtar.D</dc:creator>
  <cp:lastModifiedBy>DELL</cp:lastModifiedBy>
  <cp:revision>76</cp:revision>
  <dcterms:created xsi:type="dcterms:W3CDTF">2026-07-27T06:56:35Z</dcterms:created>
  <dcterms:modified xsi:type="dcterms:W3CDTF">2026-08-28T05:36:35Z</dcterms:modified>
</cp:coreProperties>
</file>